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6"/>
    <p:sldId id="271" r:id="rId5"/>
    <p:sldId id="272" r:id="rId4"/>
    <p:sldId id="273" r:id="rId3"/>
    <p:sldId id="274" r:id="rId2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000" autoAdjust="0"/>
  </p:normalViewPr>
  <p:slideViewPr>
    <p:cSldViewPr>
      <p:cViewPr varScale="1">
        <p:scale>
          <a:sx n="64" d="100"/>
          <a:sy n="64" d="100"/>
        </p:scale>
        <p:origin x="13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9.xml"/><Relationship Id="rId3" Type="http://schemas.openxmlformats.org/officeDocument/2006/relationships/slide" Target="slides/slide18.xml"/><Relationship Id="rId4" Type="http://schemas.openxmlformats.org/officeDocument/2006/relationships/slide" Target="slides/slide17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529C2-2740-49AF-AD85-11B5D392103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3765A4-D309-444E-9276-0B2CD25A6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88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400"/>
              <a:t>Khóa đào tạo
Lập trình Web: PHP · Vue · MySQL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Buổi 7 — Vue nâng cao: component, validate &amp; quản lý trạng thái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Nội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600" b="0"/>
              <a:t>1. Mục tiêu</a:t>
            </a:r>
          </a:p>
          <a:p>
            <a:pPr>
              <a:spcAft>
                <a:spcPts val="600"/>
              </a:spcAft>
            </a:pPr>
            <a:r>
              <a:rPr sz="1600" b="0"/>
              <a:t>2. Chuẩn bị</a:t>
            </a:r>
          </a:p>
          <a:p>
            <a:pPr>
              <a:spcAft>
                <a:spcPts val="600"/>
              </a:spcAft>
            </a:pPr>
            <a:r>
              <a:rPr sz="1600" b="0"/>
              <a:t>Tiết 1 — Component: chia nhỏ giao diện</a:t>
            </a:r>
          </a:p>
          <a:p>
            <a:pPr>
              <a:spcAft>
                <a:spcPts val="600"/>
              </a:spcAft>
            </a:pPr>
            <a:r>
              <a:rPr sz="1600" b="0"/>
              <a:t>Tiết 2 — Validate, watch &amp; kho trạng thái</a:t>
            </a:r>
          </a:p>
          <a:p>
            <a:pPr>
              <a:spcAft>
                <a:spcPts val="600"/>
              </a:spcAft>
            </a:pPr>
            <a:r>
              <a:rPr sz="1600" b="0"/>
              <a:t>3. Thực hành tại lớp</a:t>
            </a:r>
          </a:p>
          <a:p>
            <a:pPr>
              <a:spcAft>
                <a:spcPts val="600"/>
              </a:spcAft>
            </a:pPr>
            <a:r>
              <a:rPr sz="1600" b="0"/>
              <a:t>4. Bài tập về nhà</a:t>
            </a:r>
          </a:p>
          <a:p>
            <a:pPr>
              <a:spcAft>
                <a:spcPts val="600"/>
              </a:spcAft>
            </a:pPr>
            <a:r>
              <a:rPr sz="1600" b="0"/>
              <a:t>5. Checklist cuối buổi</a:t>
            </a:r>
          </a:p>
          <a:p>
            <a:pPr>
              <a:spcAft>
                <a:spcPts val="600"/>
              </a:spcAft>
            </a:pPr>
            <a:r>
              <a:rPr sz="1600" b="0"/>
              <a:t>6. Tham khảo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 Mục tiêu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800" b="0"/>
              <a:t>Kết thúc buổi học, học viên có thể:</a:t>
            </a:r>
          </a:p>
          <a:p>
            <a:pPr>
              <a:spcAft>
                <a:spcPts val="600"/>
              </a:spcAft>
            </a:pPr>
            <a:r>
              <a:rPr sz="1800" b="0"/>
              <a:t>Tách giao diện thành </a:t>
            </a:r>
            <a:r>
              <a:rPr sz="1800" b="1"/>
              <a:t>component</a:t>
            </a:r>
            <a:r>
              <a:rPr sz="1800" b="0"/>
              <a:t>, truyền dữ liệu xuống bằng </a:t>
            </a:r>
            <a:r>
              <a:rPr sz="1800" b="0">
                <a:latin typeface="Consolas"/>
                <a:ea typeface="Consolas"/>
                <a:cs typeface="Consolas"/>
              </a:rPr>
              <a:t>props</a:t>
            </a:r>
            <a:r>
              <a:rPr sz="1800" b="0"/>
              <a:t>.</a:t>
            </a:r>
          </a:p>
          <a:p>
            <a:pPr>
              <a:spcAft>
                <a:spcPts val="600"/>
              </a:spcAft>
            </a:pPr>
            <a:r>
              <a:rPr sz="1800" b="0"/>
              <a:t>Cho component con báo ngược lên cha bằng </a:t>
            </a:r>
            <a:r>
              <a:rPr sz="1800" b="0">
                <a:latin typeface="Consolas"/>
                <a:ea typeface="Consolas"/>
                <a:cs typeface="Consolas"/>
              </a:rPr>
              <a:t>$emit</a:t>
            </a:r>
            <a:r>
              <a:rPr sz="1800" b="0"/>
              <a:t>.</a:t>
            </a:r>
          </a:p>
          <a:p>
            <a:pPr>
              <a:spcAft>
                <a:spcPts val="600"/>
              </a:spcAft>
            </a:pPr>
            <a:r>
              <a:rPr sz="1800" b="1"/>
              <a:t>Kiểm tra dữ liệu nhập (validate)</a:t>
            </a:r>
            <a:r>
              <a:rPr sz="1800" b="0"/>
              <a:t> phía client và hiển thị lỗi ngay dưới từng ô.</a:t>
            </a:r>
          </a:p>
          <a:p>
            <a:pPr>
              <a:spcAft>
                <a:spcPts val="600"/>
              </a:spcAft>
            </a:pPr>
            <a:r>
              <a:rPr sz="1800" b="0"/>
              <a:t>Dùng </a:t>
            </a:r>
            <a:r>
              <a:rPr sz="1800" b="0">
                <a:latin typeface="Consolas"/>
                <a:ea typeface="Consolas"/>
                <a:cs typeface="Consolas"/>
              </a:rPr>
              <a:t>watch</a:t>
            </a:r>
            <a:r>
              <a:rPr sz="1800" b="0"/>
              <a:t> và các móc vòng đời (</a:t>
            </a:r>
            <a:r>
              <a:rPr sz="1800" b="0">
                <a:latin typeface="Consolas"/>
                <a:ea typeface="Consolas"/>
                <a:cs typeface="Consolas"/>
              </a:rPr>
              <a:t>mounted</a:t>
            </a:r>
            <a:r>
              <a:rPr sz="1800" b="0"/>
              <a:t>) đúng lúc.</a:t>
            </a:r>
          </a:p>
          <a:p>
            <a:pPr>
              <a:spcAft>
                <a:spcPts val="600"/>
              </a:spcAft>
            </a:pPr>
            <a:r>
              <a:rPr sz="1800" b="0"/>
              <a:t>Gom trạng thái dùng chung vào </a:t>
            </a:r>
            <a:r>
              <a:rPr sz="1800" b="1"/>
              <a:t>một kho tập trung</a:t>
            </a:r>
            <a:r>
              <a:rPr sz="1800" b="0"/>
              <a:t> thay vì rải khắp component.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 Chuẩn bị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/>
              <a:t>File Vue quản lý sản phẩm hoàn chỉnh từ buổi 6 (</a:t>
            </a:r>
            <a:r>
              <a:rPr sz="2000" b="0">
                <a:latin typeface="Consolas"/>
                <a:ea typeface="Consolas"/>
                <a:cs typeface="Consolas"/>
              </a:rPr>
              <a:t>buoi6_practice3.html</a:t>
            </a:r>
            <a:r>
              <a:rPr sz="2000" b="0"/>
              <a:t> hoặc bản demo).</a:t>
            </a:r>
          </a:p>
          <a:p>
            <a:pPr>
              <a:spcAft>
                <a:spcPts val="600"/>
              </a:spcAft>
            </a:pPr>
            <a:r>
              <a:rPr sz="2000" b="0"/>
              <a:t>Trình duyệt có </a:t>
            </a:r>
            <a:r>
              <a:rPr sz="2000" b="1"/>
              <a:t>Vue DevTools</a:t>
            </a:r>
            <a:r>
              <a:rPr sz="2000" b="0"/>
              <a:t> — buổi này bắt đầu dùng thật để soi component tree.</a:t>
            </a:r>
          </a:p>
          <a:p>
            <a:pPr>
              <a:spcAft>
                <a:spcPts val="600"/>
              </a:spcAft>
            </a:pPr>
            <a:r>
              <a:rPr sz="2000" b="0"/>
              <a:t>Vẫn dùng Vue qua CDN, chưa cần Node.js.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Tiết 1 — Component: chia nhỏ giao diện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7.1. Vì sao phải tách component?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600" b="0"/>
              <a:t>Hãy nhìn màn hình </a:t>
            </a:r>
            <a:r>
              <a:rPr sz="1600" b="1"/>
              <a:t>Giỏ hàng</a:t>
            </a:r>
            <a:r>
              <a:rPr sz="1600" b="0"/>
              <a:t>: mỗi dòng là một sản phẩm trong giỏ (tên, giá, số lượng, nút Xóa), phía trên là ô thêm sản phẩm, phía dưới là tổng tiền. Nếu viết tất cả trong </a:t>
            </a:r>
            <a:r>
              <a:rPr sz="1600" b="1"/>
              <a:t>một</a:t>
            </a:r>
            <a:r>
              <a:rPr sz="1600" b="0"/>
              <a:t> </a:t>
            </a:r>
            <a:r>
              <a:rPr sz="1600" b="0">
                <a:latin typeface="Consolas"/>
                <a:ea typeface="Consolas"/>
                <a:cs typeface="Consolas"/>
              </a:rPr>
              <a:t>createApp</a:t>
            </a:r>
            <a:r>
              <a:rPr sz="1600" b="0"/>
              <a:t> như cuối buổi 6 — bảng, form, tổng tiền chung một </a:t>
            </a:r>
            <a:r>
              <a:rPr sz="1600" b="0">
                <a:latin typeface="Consolas"/>
                <a:ea typeface="Consolas"/>
                <a:cs typeface="Consolas"/>
              </a:rPr>
              <a:t>data()</a:t>
            </a:r>
            <a:r>
              <a:rPr sz="1600" b="0"/>
              <a:t> và một </a:t>
            </a:r>
            <a:r>
              <a:rPr sz="1600" b="0">
                <a:latin typeface="Consolas"/>
                <a:ea typeface="Consolas"/>
                <a:cs typeface="Consolas"/>
              </a:rPr>
              <a:t>template</a:t>
            </a:r>
            <a:r>
              <a:rPr sz="1600" b="0"/>
              <a:t> — thì:</a:t>
            </a:r>
          </a:p>
          <a:p>
            <a:pPr>
              <a:spcAft>
                <a:spcPts val="600"/>
              </a:spcAft>
            </a:pPr>
            <a:r>
              <a:rPr sz="1600" b="0"/>
              <a:t>File HTML dài hàng trăm dòng, sửa dòng sản phẩm lại sợ hỏng form.</a:t>
            </a:r>
          </a:p>
          <a:p>
            <a:pPr>
              <a:spcAft>
                <a:spcPts val="600"/>
              </a:spcAft>
            </a:pPr>
            <a:r>
              <a:rPr sz="1600" b="0"/>
              <a:t>"Một dòng sản phẩm trong giỏ" muốn dùng lại ở trang thanh toán thì phải </a:t>
            </a:r>
            <a:r>
              <a:rPr sz="1600" b="1"/>
              <a:t>copy</a:t>
            </a:r>
            <a:r>
              <a:rPr sz="1600" b="0"/>
              <a:t> — sửa một chỗ, quên chỗ kia.</a:t>
            </a:r>
          </a:p>
          <a:p>
            <a:pPr>
              <a:spcAft>
                <a:spcPts val="600"/>
              </a:spcAft>
            </a:pPr>
            <a:r>
              <a:rPr sz="1600" b="0"/>
              <a:t>Tên biến đụng nhau vì mọi thứ chung một </a:t>
            </a:r>
            <a:r>
              <a:rPr sz="1600" b="0">
                <a:latin typeface="Consolas"/>
                <a:ea typeface="Consolas"/>
                <a:cs typeface="Consolas"/>
              </a:rPr>
              <a:t>data()</a:t>
            </a:r>
            <a:r>
              <a:rPr sz="1600" b="0"/>
              <a:t>.</a:t>
            </a:r>
          </a:p>
          <a:p>
            <a:pPr>
              <a:spcAft>
                <a:spcPts val="800"/>
              </a:spcAft>
            </a:pPr>
            <a:r>
              <a:rPr sz="1600" b="1"/>
              <a:t>Component</a:t>
            </a:r>
            <a:r>
              <a:rPr sz="1600" b="0"/>
              <a:t> là một mảnh giao diện có template + dữ liệu + hành vi </a:t>
            </a:r>
            <a:r>
              <a:rPr sz="1600" b="1"/>
              <a:t>riêng của nó</a:t>
            </a:r>
            <a:r>
              <a:rPr sz="1600" b="0"/>
              <a:t>, đặt tên rồi dùng như một thẻ HTML mới. Xuyên suốt buổi này ta dựng đúng một thứ: </a:t>
            </a:r>
            <a:r>
              <a:rPr sz="1600" b="1"/>
              <a:t>cha = Giỏ hàng</a:t>
            </a:r>
            <a:r>
              <a:rPr sz="1600" b="0"/>
              <a:t>, </a:t>
            </a:r>
            <a:r>
              <a:rPr sz="1600" b="1"/>
              <a:t>con = một sản phẩm trong giỏ</a:t>
            </a:r>
            <a:r>
              <a:rPr sz="1600" b="0"/>
              <a:t> (</a:t>
            </a:r>
            <a:r>
              <a:rPr sz="1600" b="0">
                <a:latin typeface="Consolas"/>
                <a:ea typeface="Consolas"/>
                <a:cs typeface="Consolas"/>
              </a:rPr>
              <a:t>&lt;muc-gio-hang&gt;</a:t>
            </a:r>
            <a:r>
              <a:rPr sz="1600" b="0"/>
              <a:t>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7.2. Component đầu tiên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Đặt đoạn dưới vào khung HTML đã nạp </a:t>
            </a:r>
            <a:r>
              <a:rPr sz="1500" b="0">
                <a:latin typeface="Consolas"/>
                <a:ea typeface="Consolas"/>
                <a:cs typeface="Consolas"/>
              </a:rPr>
              <a:t>vue.global.js</a:t>
            </a:r>
            <a:r>
              <a:rPr sz="1500" b="0"/>
              <a:t> như buổi 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350774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&lt;div id="app"&gt;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&lt;!-- Dung component nhu mot the HTML binh thuong --&gt;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&lt;muc-gio-hang&gt;&lt;/muc-gio-hang&gt;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&lt;muc-gio-hang&gt;&lt;/muc-gio-hang&gt;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const app = Vue.createApp({});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Dang ky component: ten dat kieu chuoi-gach-noi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app.component("muc-gio-hang",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Moi component co data() RIENG nen hai the khong dung chung so luong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data() { return { soLuong: 1 };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template: `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&lt;div style="border:1px solid #ccc; padding:10px; margin:6px"&gt;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&lt;h3&gt;Bút bi Thiên Long — 5.000 đ&lt;/h3&gt;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&lt;button @click="soLuong++"&gt;Số lượng: {{ soLuong }} (bấm để tăng)&lt;/button&gt;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&lt;/div&gt;`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app.mount("#app");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&lt;/script&gt;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7.2. Component đầu tiên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700" i="1" b="1">
                <a:solidFill>
                  <a:srgbClr val="666666"/>
                </a:solidFill>
              </a:rPr>
              <a:t>Vì sao data() của component là một hàm, không phải object?</a:t>
            </a:r>
            <a:r>
              <a:rPr sz="1700" i="1" b="0">
                <a:solidFill>
                  <a:srgbClr val="666666"/>
                </a:solidFill>
              </a:rPr>
              <a:t> Vì mỗi lần đặt thẻ </a:t>
            </a:r>
            <a:r>
              <a:rPr sz="17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&lt;muc-gio-hang&gt;</a:t>
            </a:r>
            <a:r>
              <a:rPr sz="1700" i="1" b="0">
                <a:solidFill>
                  <a:srgbClr val="666666"/>
                </a:solidFill>
              </a:rPr>
              <a:t> là tạo ra </a:t>
            </a:r>
            <a:r>
              <a:rPr sz="1700" i="1" b="1">
                <a:solidFill>
                  <a:srgbClr val="666666"/>
                </a:solidFill>
              </a:rPr>
              <a:t>một bản sao độc lập</a:t>
            </a:r>
            <a:r>
              <a:rPr sz="1700" i="1" b="0">
                <a:solidFill>
                  <a:srgbClr val="666666"/>
                </a:solidFill>
              </a:rPr>
              <a:t>. Hàm được gọi lại cho từng bản sao nên mỗi cái có dữ liệu riêng. Nếu dùng chung một object, bấm tăng số lượng ở dòng này thì dòng kia cũng tăng theo.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7.3. props — truyền dữ liệu từ cha xuống con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latin typeface="Consolas"/>
                <a:ea typeface="Consolas"/>
                <a:cs typeface="Consolas"/>
              </a:rPr>
              <a:t>props</a:t>
            </a:r>
            <a:r>
              <a:rPr sz="1500" b="0"/>
              <a:t> là "tham số đầu vào" của component, như tham số hàm PHP. Cha (giỏ hàng) giữ </a:t>
            </a:r>
            <a:r>
              <a:rPr sz="1500" b="0">
                <a:latin typeface="Consolas"/>
                <a:ea typeface="Consolas"/>
                <a:cs typeface="Consolas"/>
              </a:rPr>
              <a:t>dsMuc</a:t>
            </a:r>
            <a:r>
              <a:rPr sz="1500" b="0"/>
              <a:t>, mỗi phần tử truyền xuống một con: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92808"/>
            <a:ext cx="8412480" cy="435864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&lt;div id="app"&gt;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&lt;!-- Dau : (v-bind) truyen GIA TRI, khong phai chuoi --&gt;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&lt;muc-gio-hang v-for="m in dsMuc" :key="m.id"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:ten="m.ten" :gia="m.gia" :so-luong="m.soLuong"&gt;&lt;/muc-gio-hang&gt;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const app = Vue.createApp({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data()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return { dsMuc: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{ id: 1, ten: "Bút bi",  gia: 5000, soLuong: 2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{ id: 2, ten: "Vở ô ly", gia: 8000, soLuong: 1 } ] 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app.component("muc-gio-hang",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Khai bao ro kieu va rang buoc cua tung prop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props: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ten:     { type: String, required: true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gia:     { type: Number, default: 0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soLuong: { type: Number, default: 1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template: `&lt;p&gt;{{ ten }}: {{ gia.toLocaleString("vi-VN") }} đ × {{ soLuong }}&lt;/p&gt;`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app.mount("#app");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&lt;/script&gt;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7.3. props — truyền dữ liệu từ cha xuống con (2/3)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Cách viết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Nghĩa là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ten="m.ten"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Truyền </a:t>
                      </a:r>
                      <a:r>
                        <a:rPr sz="1000" b="1"/>
                        <a:t>chuỗi</a:t>
                      </a:r>
                      <a:r>
                        <a:rPr sz="1000" b="0"/>
                        <a:t>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"m.ten"</a:t>
                      </a:r>
                      <a:r>
                        <a:rPr sz="1000" b="0"/>
                        <a:t> — sai, đây là lỗi hay gặp nhất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:ten="m.ten"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Truyền </a:t>
                      </a:r>
                      <a:r>
                        <a:rPr sz="1000" b="1"/>
                        <a:t>giá trị</a:t>
                      </a:r>
                      <a:r>
                        <a:rPr sz="1000" b="0"/>
                        <a:t> của biến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m.ten</a:t>
                      </a:r>
                      <a:r>
                        <a:rPr sz="1000" b="0"/>
                        <a:t> — đúng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:gia="5000"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Truyền </a:t>
                      </a:r>
                      <a:r>
                        <a:rPr sz="1000" b="1"/>
                        <a:t>số</a:t>
                      </a:r>
                      <a:r>
                        <a:rPr sz="1000" b="0"/>
                        <a:t> 5000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gia="5000"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Truyền </a:t>
                      </a:r>
                      <a:r>
                        <a:rPr sz="1000" b="1"/>
                        <a:t>chuỗi</a:t>
                      </a:r>
                      <a:r>
                        <a:rPr sz="1000" b="0"/>
                        <a:t>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"5000"</a:t>
                      </a:r>
                      <a:r>
                        <a:rPr sz="1000" b="0"/>
                        <a:t> → Vue cảnh báo sai kiểu (prop khai báo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Number</a:t>
                      </a:r>
                      <a:r>
                        <a:rPr sz="1000" b="0"/>
                        <a:t>), phép tính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gia * soLuong</a:t>
                      </a:r>
                      <a:r>
                        <a:rPr sz="1000" b="0"/>
                        <a:t> dễ sai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7.3. props — truyền dữ liệu từ cha xuống con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900" i="1" b="1">
                <a:solidFill>
                  <a:srgbClr val="666666"/>
                </a:solidFill>
              </a:rPr>
              <a:t>Quy tắc một chiều:</a:t>
            </a:r>
            <a:r>
              <a:rPr sz="1900" i="1" b="0">
                <a:solidFill>
                  <a:srgbClr val="666666"/>
                </a:solidFill>
              </a:rPr>
              <a:t> dữ liệu chỉ chảy </a:t>
            </a:r>
            <a:r>
              <a:rPr sz="1900" i="1" b="1">
                <a:solidFill>
                  <a:srgbClr val="666666"/>
                </a:solidFill>
              </a:rPr>
              <a:t>từ cha xuống con</a:t>
            </a:r>
            <a:r>
              <a:rPr sz="1900" i="1" b="0">
                <a:solidFill>
                  <a:srgbClr val="666666"/>
                </a:solidFill>
              </a:rPr>
              <a:t>. Component con </a:t>
            </a:r>
            <a:r>
              <a:rPr sz="1900" i="1" b="1">
                <a:solidFill>
                  <a:srgbClr val="666666"/>
                </a:solidFill>
              </a:rPr>
              <a:t>không được</a:t>
            </a:r>
            <a:r>
              <a:rPr sz="1900" i="1" b="0">
                <a:solidFill>
                  <a:srgbClr val="666666"/>
                </a:solidFill>
              </a:rPr>
              <a:t> gán lại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props</a:t>
            </a:r>
            <a:r>
              <a:rPr sz="1900" i="1" b="0">
                <a:solidFill>
                  <a:srgbClr val="666666"/>
                </a:solidFill>
              </a:rPr>
              <a:t> của mình (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this.soLuong = 5</a:t>
            </a:r>
            <a:r>
              <a:rPr sz="1900" i="1" b="0">
                <a:solidFill>
                  <a:srgbClr val="666666"/>
                </a:solidFill>
              </a:rPr>
              <a:t> là sai). Muốn thay đổi, con phải "xin phép" cha — đó là việc của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$emit</a:t>
            </a:r>
            <a:r>
              <a:rPr sz="1900" i="1" b="0">
                <a:solidFill>
                  <a:srgbClr val="666666"/>
                </a:solidFill>
              </a:rPr>
              <a:t> ở mục sau.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7.4. $emit — con báo ngược lên cha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Nút "+1", "Xóa" nằm ở con, còn mảng </a:t>
            </a:r>
            <a:r>
              <a:rPr sz="1500" b="0">
                <a:latin typeface="Consolas"/>
                <a:ea typeface="Consolas"/>
                <a:cs typeface="Consolas"/>
              </a:rPr>
              <a:t>dsMuc</a:t>
            </a:r>
            <a:r>
              <a:rPr sz="1500" b="0"/>
              <a:t> nằm ở </a:t>
            </a:r>
            <a:r>
              <a:rPr sz="1500" b="1"/>
              <a:t>cha</a:t>
            </a:r>
            <a:r>
              <a:rPr sz="1500" b="0"/>
              <a:t>. Con chỉ phát tín hiệu, cha tự quyết định: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92808"/>
            <a:ext cx="8412480" cy="435864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&lt;div id="app"&gt;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&lt;muc-gio-hang v-for="m in dsMuc" :key="m.id" :ten="m.ten" :so-luong="m.soLuong"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@doi-so-luong="datSoLuong(m.id, $event)" @yeu-cau-xoa="xoaMuc(m.id)"&gt;&lt;/muc-gio-hang&gt;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const app = Vue.createApp({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data()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return { dsMuc: [ { id: 1, ten: "Bút bi", soLuong: 1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             { id: 2, ten: "Vở ô ly", soLuong: 3 } ] 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methods: {   // Chi CHA moi duoc sua mang cua chinh no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datSoLuong(id, n) { this.dsMuc.find(m =&gt; m.id === id).soLuong = n;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xoaMuc(id) { this.dsMuc = this.dsMuc.filter(m =&gt; m.id !== id);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app.component("muc-gio-hang",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props: { ten: String, soLuong: Number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emits: ["doi-so-luong", "yeu-cau-xoa"],   // khai bao cac su kien se phat ra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template: `&lt;div&gt;{{ ten }} — SL: {{ soLuong }}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&lt;button @click="$emit('doi-so-luong', soLuong + 1)"&gt;+1&lt;/button&gt;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&lt;button @click="$emit('yeu-cau-xoa')"&gt;Xóa&lt;/button&gt;&lt;/div&gt;`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app.mount("#app");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&lt;/script&gt;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7.4. $emit — con báo ngược lên cha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Ví dụ cụ thể: người dùng bấm </a:t>
            </a:r>
            <a:r>
              <a:rPr sz="1500" b="1"/>
              <a:t>+1</a:t>
            </a:r>
            <a:r>
              <a:rPr sz="1500" b="0"/>
              <a:t> ở "Bút bi" (đang có 1 cái). Dữ liệu đi lại như sau: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64208"/>
            <a:ext cx="8001000" cy="1097280"/>
          </a:xfrm>
          <a:prstGeom prst="roundRect">
            <a:avLst/>
          </a:prstGeom>
          <a:solidFill>
            <a:srgbClr val="E3ECF8"/>
          </a:solidFill>
          <a:ln w="19050">
            <a:solidFill>
              <a:srgbClr val="3355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335588"/>
                </a:solidFill>
              </a:rPr>
              <a:t>CHA — Giỏ hàng (giữ dữ liệu, là nơi DUY NHẤT được sửa)</a:t>
            </a:r>
          </a:p>
          <a:p>
            <a:pPr algn="ctr"/>
            <a:r>
              <a:rPr sz="130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dsMuc[0] = { id: 1, ten: "Bút bi", soLuong: 1 }</a:t>
            </a:r>
          </a:p>
          <a:p>
            <a:pPr algn="ctr"/>
            <a:r>
              <a:rPr sz="130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Trước khi bấm: Bút bi có 1 cái</a:t>
            </a:r>
          </a:p>
        </p:txBody>
      </p:sp>
      <p:sp>
        <p:nvSpPr>
          <p:cNvPr id="5" name="Down Arrow 4"/>
          <p:cNvSpPr/>
          <p:nvPr/>
        </p:nvSpPr>
        <p:spPr>
          <a:xfrm>
            <a:off x="1051560" y="2852928"/>
            <a:ext cx="502920" cy="1234440"/>
          </a:xfrm>
          <a:prstGeom prst="downArrow">
            <a:avLst/>
          </a:prstGeom>
          <a:solidFill>
            <a:srgbClr val="335588"/>
          </a:solidFill>
          <a:ln w="19050">
            <a:solidFill>
              <a:srgbClr val="3355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4526280" y="2852928"/>
            <a:ext cx="502920" cy="1234440"/>
          </a:xfrm>
          <a:prstGeom prst="upArrow">
            <a:avLst/>
          </a:prstGeom>
          <a:solidFill>
            <a:srgbClr val="B45400"/>
          </a:solidFill>
          <a:ln w="19050">
            <a:solidFill>
              <a:srgbClr val="B45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45920" y="2944368"/>
            <a:ext cx="27432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55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335588"/>
                </a:solidFill>
              </a:rPr>
              <a:t>props ↓ cha truyền xuống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:ten="Bút bi"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:so-luong="1"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2944368"/>
            <a:ext cx="32461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5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B45400"/>
                </a:solidFill>
              </a:rPr>
              <a:t>$emit ↑ con báo lên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$emit('doi-so-luong', 2)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cha nhận $event =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178808"/>
            <a:ext cx="8001000" cy="960120"/>
          </a:xfrm>
          <a:prstGeom prst="roundRect">
            <a:avLst/>
          </a:prstGeom>
          <a:solidFill>
            <a:srgbClr val="E6F4E6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2E7D32"/>
                </a:solidFill>
              </a:rPr>
              <a:t>CON — Một sản phẩm trong giỏ (chỉ hiển thị + phát tín hiệu)</a:t>
            </a:r>
          </a:p>
          <a:p>
            <a:pPr algn="ctr"/>
            <a:r>
              <a:rPr sz="130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Bút bi — SL: 1   [ +1 ]  [ Xóa ]</a:t>
            </a:r>
          </a:p>
          <a:p>
            <a:pPr algn="ctr"/>
            <a:r>
              <a:rPr sz="130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Người dùng bấm [ +1 ]: con KHÔNG tự sửa soLuong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248656"/>
            <a:ext cx="8001000" cy="1289304"/>
          </a:xfrm>
          <a:prstGeom prst="rect">
            <a:avLst/>
          </a:prstGeom>
          <a:solidFill>
            <a:srgbClr val="FFF6DD"/>
          </a:solidFill>
          <a:ln w="19050">
            <a:solidFill>
              <a:srgbClr val="C8A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>
                <a:solidFill>
                  <a:srgbClr val="222222"/>
                </a:solidFill>
              </a:rPr>
              <a:t>① Con phát tín hiệu doi-so-luong kèm số mới = soLuong + 1 = 2</a:t>
            </a:r>
          </a:p>
          <a:p>
            <a:pPr algn="l"/>
            <a:r>
              <a:rPr sz="1400">
                <a:solidFill>
                  <a:srgbClr val="222222"/>
                </a:solidFill>
              </a:rPr>
              <a:t>② Cha nhận $event = 2, chạy datSoLuong(1, 2) → dsMuc[0].soLuong = 2</a:t>
            </a:r>
          </a:p>
          <a:p>
            <a:pPr algn="l"/>
            <a:r>
              <a:rPr sz="1400">
                <a:solidFill>
                  <a:srgbClr val="222222"/>
                </a:solidFill>
              </a:rPr>
              <a:t>③ Dữ liệu cha đổi → props mới :so-luong="2" chảy xuống → con hiện SL: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7.4. $emit — con báo ngược lên cha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900" i="1" b="0">
                <a:solidFill>
                  <a:srgbClr val="666666"/>
                </a:solidFill>
              </a:rPr>
              <a:t>Nguyên tắc này giữ nguyên đến buổi 9 và 10: </a:t>
            </a:r>
            <a:r>
              <a:rPr sz="1900" i="1" b="1">
                <a:solidFill>
                  <a:srgbClr val="666666"/>
                </a:solidFill>
              </a:rPr>
              <a:t>component con không tự sửa dữ liệu chung</a:t>
            </a:r>
            <a:r>
              <a:rPr sz="1900" i="1" b="0">
                <a:solidFill>
                  <a:srgbClr val="666666"/>
                </a:solidFill>
              </a:rPr>
              <a:t>. Nhờ vậy khi có lỗi dữ liệu, chỉ cần tìm trong đúng một chỗ — nơi giữ dữ liệu.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7.4b. Tách component ra file riêng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Logic giữ </a:t>
            </a:r>
            <a:r>
              <a:rPr sz="1500" b="1"/>
              <a:t>nguyên</a:t>
            </a:r>
            <a:r>
              <a:rPr sz="1500" b="0"/>
              <a:t> như 7.4, chỉ chuyển component sang file </a:t>
            </a:r>
            <a:r>
              <a:rPr sz="1500" b="0">
                <a:latin typeface="Consolas"/>
                <a:ea typeface="Consolas"/>
                <a:cs typeface="Consolas"/>
              </a:rPr>
              <a:t>.js</a:t>
            </a:r>
            <a:r>
              <a:rPr sz="1500" b="0"/>
              <a:t> rồi nạp vào trang chính. </a:t>
            </a:r>
            <a:r>
              <a:rPr sz="1500" b="1"/>
              <a:t>Phần 1 — file component: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92808"/>
            <a:ext cx="8412480" cy="1959102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// File: components/MucGioHang.js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// Chi KHAI BAO component (mot object). Viec dang ky lam o file chinh.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const MucGioHang =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props: { ten: String, soLuong: Number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emits: ["doi-so-luong", "yeu-cau-xoa"],   // khai bao cac su kien se phat ra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template: `&lt;div&gt;{{ ten }} — SL: {{ soLuong }}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&lt;button @click="$emit('doi-so-luong', soLuong + 1)"&gt;+1&lt;/button&gt;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&lt;button @click="$emit('yeu-cau-xoa')"&gt;Xóa&lt;/button&gt;&lt;/div&gt;`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7.4b. Tách component ra file riêng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Phần 2 — file chính, nạp file rồi đăng ký: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418846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&lt;!-- File: index.html --&gt;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&lt;div id="app"&gt;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&lt;muc-gio-hang v-for="m in dsMuc" :key="m.id" :ten="m.ten" :so-luong="m.soLuong"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@doi-so-luong="datSoLuong(m.id, $event)" @yeu-cau-xoa="xoaMuc(m.id)"&gt;&lt;/muc-gio-hang&gt;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&lt;script src="https://unpkg.com/vue@3/dist/vue.global.js"&gt;&lt;/script&gt;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&lt;!-- 1. Nap file component TRUOC doan script chinh --&gt;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&lt;script src="components/MucGioHang.js"&gt;&lt;/script&gt;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const app = Vue.createApp({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data()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return { dsMuc: [ { id: 1, ten: "Bút bi", soLuong: 1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             { id: 2, ten: "Vở ô ly", soLuong: 3 } ] 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methods: {   // Chi CHA moi duoc sua mang cua chinh no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datSoLuong(id, n) { this.dsMuc.find(m =&gt; m.id === id).soLuong = n;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xoaMuc(id) { this.dsMuc = this.dsMuc.filter(m =&gt; m.id !== id);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2. Dang ky component da nap tu file rieng (ten the: muc-gio-hang)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app.component("muc-gio-hang", MucGioHang);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app.mount("#app");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&lt;/script&gt;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7.4b. Tách component ra file riêng (3/4)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Bước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Làm ở đâu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Tạo file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components/MucGioHang.js</a:t>
                      </a:r>
                      <a:r>
                        <a:rPr sz="1000" b="0"/>
                        <a:t>, khai báo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const MucGioHang = {...}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Thư mục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components/</a:t>
                      </a:r>
                      <a:r>
                        <a:rPr sz="1000" b="0"/>
                        <a:t> cạnh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index.html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Nạp file bằng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&lt;script src="components/MucGioHang.js"&gt;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index.html</a:t>
                      </a:r>
                      <a:r>
                        <a:rPr sz="1000" b="0"/>
                        <a:t>, </a:t>
                      </a:r>
                      <a:r>
                        <a:rPr sz="1000" b="1"/>
                        <a:t>trước</a:t>
                      </a:r>
                      <a:r>
                        <a:rPr sz="1000" b="0"/>
                        <a:t> script chính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Đăng ký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app.component("muc-gio-hang", MucGioHang)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Script chính, trước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app.mount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7.4b. Tách component ra file riêng (4/4)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900" i="1" b="1">
                <a:solidFill>
                  <a:srgbClr val="666666"/>
                </a:solidFill>
              </a:rPr>
              <a:t>Lưu ý:</a:t>
            </a:r>
            <a:r>
              <a:rPr sz="1900" i="1" b="0">
                <a:solidFill>
                  <a:srgbClr val="666666"/>
                </a:solidFill>
              </a:rPr>
              <a:t> nạp sai thứ tự (script chính trước file component) sẽ báo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MucGioHang is not defined</a:t>
            </a:r>
            <a:r>
              <a:rPr sz="1900" i="1" b="0">
                <a:solidFill>
                  <a:srgbClr val="666666"/>
                </a:solidFill>
              </a:rPr>
              <a:t>. Sang buổi 9, project Vite thay cách này bằng file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MucGioHang.vue</a:t>
            </a:r>
            <a:r>
              <a:rPr sz="1900" i="1" b="0">
                <a:solidFill>
                  <a:srgbClr val="666666"/>
                </a:solidFill>
              </a:rPr>
              <a:t> và câu lệnh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900" i="1" b="0">
                <a:solidFill>
                  <a:srgbClr val="666666"/>
                </a:solidFill>
              </a:rPr>
              <a:t> — ý tưởng giữ nguyên.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Tiết 2 — Validate, watch &amp; kho trạng thái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7.5. Kiểm tra dữ liệu nhập phía client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Chặn dữ liệu sai </a:t>
            </a:r>
            <a:r>
              <a:rPr sz="1500" b="1"/>
              <a:t>trước khi gửi</a:t>
            </a:r>
            <a:r>
              <a:rPr sz="1500" b="0"/>
              <a:t>. Ghép 4 phần thành một file. </a:t>
            </a:r>
            <a:r>
              <a:rPr sz="1500" b="1"/>
              <a:t>Phần 1 — giao diện: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3848099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&lt;div id="app"&gt;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&lt;h2&gt;Thêm sản phẩm vào giỏ&lt;/h2&gt;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&lt;label&gt;Tên sản phẩm&lt;/label&gt;&lt;br&gt;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&lt;input v-model.trim="form.ten" @blur="chamTruong('ten')"&gt;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&lt;span v-if="loi.ten" style="color:red"&gt;{{ loi.ten }}&lt;/span&gt;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&lt;/div&gt;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&lt;label&gt;Giá (đ)&lt;/label&gt;&lt;br&gt;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&lt;input type="number" v-model.number="form.gia" @blur="chamTruong('gia')"&gt;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&lt;span v-if="loi.gia" style="color:red"&gt;{{ loi.gia }}&lt;/span&gt;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&lt;/div&gt;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&lt;label&gt;Số lượng&lt;/label&gt;&lt;br&gt;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&lt;input type="number" v-model.number="form.soLuong" @blur="chamTruong('soLuong')"&gt;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&lt;span v-if="loi.soLuong" style="color:red"&gt;{{ loi.soLuong }}&lt;/span&gt;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&lt;/div&gt;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&lt;button @click="luu" :disabled="!hopLe"&gt;Thêm vào giỏ&lt;/button&gt;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 v-if="!hopLe" style="color:#888"&gt;Còn {{ soLoi }} lỗi cần sửa.&lt;/p&gt;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&lt;ul&gt;&lt;li v-for="m in dsMuc" :key="m.id"&gt;{{ m.ten }} × {{ m.soLuong }}&lt;/li&gt;&lt;/ul&gt;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&lt;/div&gt;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7.5. Kiểm tra dữ liệu nhập phía client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Phần 2 — dữ liệu form, lỗi và computed: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3848099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Vue.createApp({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data()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return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form: { ten: "", gia: null, soLuong: 1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loi:  { ten: "", gia: "",   soLuong: ""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dsMuc: []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computed: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Kiem tra lai moi khi form thay doi - khong can goi tay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hopLe()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return this.form.ten.length &gt;= 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&amp;&amp; this.form.gia &gt;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&amp;&amp; Number.isInteger(this.form.soLuong)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&amp;&amp; this.form.soLuong &gt;= 1 &amp;&amp; this.form.soLuong &lt;= 99;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soLoi()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return Object.values(this.loi).filter(x =&gt; x !== "").length;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7.5. Kiểm tra dữ liệu nhập phía client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Phần 3 — methods: kiểm tra từng trường khi rời ô (@blur):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401828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methods: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Kiem tra 1 truong, dung khi nguoi dung roi khoi o do (@blur)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chamTruong(ten)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if (ten === "ten")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this.loi.ten = this.form.ten.length &lt; 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   ? "Tên phải có ít nhất 3 ký tự" : "";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if (ten === "gia")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if (this.form.gia === null || this.form.gia === "")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   this.loi.gia = "Chưa nhập giá";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} else if (this.form.gia &lt;= 0)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   this.loi.gia = "Giá phải lớn hơn 0";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} else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   this.loi.gia = "";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if (ten === "soLuong")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const sl = this.form.soLuong;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this.loi.soLuong = (Number.isInteger(sl) &amp;&amp; sl &gt;= 1 &amp;&amp; sl &lt;= 99)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   ? "" : "Số lượng phải là số nguyên từ 1 đến 99";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7.5. Kiểm tra dữ liệu nhập phía client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Phần 4 — methods: kiểm tra toàn bộ rồi mới lưu: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401828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Kiem tra TOAN BO truoc khi luu - khong tin vao nut disabled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chamTatCa()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["ten", "gia", "soLuong"].forEach(t =&gt; this.chamTruong(t));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return this.soLoi === 0;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luu()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if (!this.chamTatCa()) return;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this.dsMuc.push({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id: Date.now(),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ten: this.form.ten,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gia: this.form.gia,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soLuong: this.form.soLuong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});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this.form = { ten: "", gia: null, soLuong: 1 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this.loi  = { ten: "", gia: "",   soLuong: "" 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}).mount("#app");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&lt;/script&gt;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7.5. Kiểm tra dữ liệu nhập phía client (5/6)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Cách viết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Tác dụng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v-model.trim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Tự cắt khoảng trắng thừa hai đầu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v-model.number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Ép về </a:t>
                      </a:r>
                      <a:r>
                        <a:rPr sz="1000" b="1"/>
                        <a:t>số</a:t>
                      </a:r>
                      <a:r>
                        <a:rPr sz="1000" b="0"/>
                        <a:t>; thiếu nó thì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"5" &gt; 0</a:t>
                      </a:r>
                      <a:r>
                        <a:rPr sz="1000" b="0"/>
                        <a:t> so sánh kiểu chuỗi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@blur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Chạy khi con trỏ rời khỏi ô — báo lỗi đúng lúc, không làm phiền lúc đang gõ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:disabled="!hopLe"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Khóa nút khi dữ liệu chưa hợp lệ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7.5. Kiểm tra dữ liệu nhập phía client (6/6)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700" i="1" b="1">
                <a:solidFill>
                  <a:srgbClr val="666666"/>
                </a:solidFill>
              </a:rPr>
              <a:t>⚠️ Validate phía client không phải bảo mật.</a:t>
            </a:r>
            <a:r>
              <a:rPr sz="1700" i="1" b="0">
                <a:solidFill>
                  <a:srgbClr val="666666"/>
                </a:solidFill>
              </a:rPr>
              <a:t> Người dùng chỉ cần mở DevTools là xóa được thuộc tính </a:t>
            </a:r>
            <a:r>
              <a:rPr sz="17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disabled</a:t>
            </a:r>
            <a:r>
              <a:rPr sz="1700" i="1" b="0">
                <a:solidFill>
                  <a:srgbClr val="666666"/>
                </a:solidFill>
              </a:rPr>
              <a:t>, hoặc gửi thẳng request bằng Postman mà không qua giao diện. Validate ở đây chỉ để </a:t>
            </a:r>
            <a:r>
              <a:rPr sz="1700" i="1" b="1">
                <a:solidFill>
                  <a:srgbClr val="666666"/>
                </a:solidFill>
              </a:rPr>
              <a:t>trải nghiệm tốt hơn</a:t>
            </a:r>
            <a:r>
              <a:rPr sz="1700" i="1" b="0">
                <a:solidFill>
                  <a:srgbClr val="666666"/>
                </a:solidFill>
              </a:rPr>
              <a:t>. </a:t>
            </a:r>
            <a:r>
              <a:rPr sz="1700" i="1" b="1">
                <a:solidFill>
                  <a:srgbClr val="666666"/>
                </a:solidFill>
              </a:rPr>
              <a:t>Việc kiểm tra thật nằm ở PHP</a:t>
            </a:r>
            <a:r>
              <a:rPr sz="1700" i="1" b="0">
                <a:solidFill>
                  <a:srgbClr val="666666"/>
                </a:solidFill>
              </a:rPr>
              <a:t> — buổi 8 sẽ kiểm tra lại đúng những điều kiện này ở phía server, và đó mới là lớp không thể vượt qua.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7.6. watch và vòng đời component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latin typeface="Consolas"/>
                <a:ea typeface="Consolas"/>
                <a:cs typeface="Consolas"/>
              </a:rPr>
              <a:t>computed</a:t>
            </a:r>
            <a:r>
              <a:rPr sz="1500" b="0"/>
              <a:t> </a:t>
            </a:r>
            <a:r>
              <a:rPr sz="1500" b="1"/>
              <a:t>tính ra giá trị</a:t>
            </a:r>
            <a:r>
              <a:rPr sz="1500" b="0"/>
              <a:t>; </a:t>
            </a:r>
            <a:r>
              <a:rPr sz="1500" b="0">
                <a:latin typeface="Consolas"/>
                <a:ea typeface="Consolas"/>
                <a:cs typeface="Consolas"/>
              </a:rPr>
              <a:t>watch</a:t>
            </a:r>
            <a:r>
              <a:rPr sz="1500" b="0"/>
              <a:t> </a:t>
            </a:r>
            <a:r>
              <a:rPr sz="1500" b="1"/>
              <a:t>làm một việc</a:t>
            </a:r>
            <a:r>
              <a:rPr sz="1500" b="0"/>
              <a:t> mỗi khi dữ liệu đổi. Ví dụ: theo dõi số lượng một sản phẩm trong giỏ: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92808"/>
            <a:ext cx="8412480" cy="435864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Vue.createApp({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data()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return { soLuong: 1, thongBao: "", dsMuc: [] 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watch: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Chay moi khi soLuong thay doi; nhan gia tri moi va gia tri cu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soLuong(moi, cu)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console.log("Đổi số lượng từ", cu, "thành", moi);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if (moi &gt; 99)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this.soLuong = 99;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this.thongBao = "Tối đa 99 sản phẩm mỗi mục";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    // Buoi 8 se goi API cap nhat gio hang ngay tai day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mounted()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Chay MOT LAN ngay sau khi giao dien duoc gan vao trang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Day la cho dung de nap du lieu ban dau (bai tap ve nha: nap tu localStorage)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console.log("Giỏ hàng đã sẵn sàng");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this.dsMuc = [];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}).mount("#app");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&lt;/script&gt;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7.6. watch và vòng đời component (2/2)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Móc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Chạy khi nào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Thường dùng để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mounted()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Ngay sau khi giao diện gắn vào trang, </a:t>
                      </a:r>
                      <a:r>
                        <a:rPr sz="1100" b="1"/>
                        <a:t>một lần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Nạp dữ liệu ban đầu, </a:t>
                      </a:r>
                      <a:r>
                        <a:rPr sz="1100" b="1"/>
                        <a:t>gọi API lấy giỏ hàng (buổi 8)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watch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Mỗi lần một dữ liệu cụ thể thay đổi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Ghi log, lưu lại, gọi API cập nhật số lượng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computed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Tự tính lại khi dữ liệu nguồn đổi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Lọc, tính thành tiền/tổng tiền, định dạng hiển thị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7.7. Kho trạng thái tập trung (1/6)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800" b="0"/>
              <a:t>Khi có nhiều component, cùng một dữ liệu bị cần ở nhiều nơi: header giỏ hàng cần số món và tổng tiền, từng dòng sản phẩm cần tăng/xóa chính nó. Truyền </a:t>
            </a:r>
            <a:r>
              <a:rPr sz="1800" b="0">
                <a:latin typeface="Consolas"/>
                <a:ea typeface="Consolas"/>
                <a:cs typeface="Consolas"/>
              </a:rPr>
              <a:t>props</a:t>
            </a:r>
            <a:r>
              <a:rPr sz="1800" b="0"/>
              <a:t> qua 3–4 tầng component rất rối — dân trong nghề gọi là "khoan props".</a:t>
            </a:r>
          </a:p>
          <a:p>
            <a:pPr>
              <a:spcAft>
                <a:spcPts val="800"/>
              </a:spcAft>
            </a:pPr>
            <a:r>
              <a:rPr sz="1800" b="0"/>
              <a:t>Cách giải: đưa dữ liệu dùng chung ra </a:t>
            </a:r>
            <a:r>
              <a:rPr sz="1800" b="1"/>
              <a:t>một kho duy nhất</a:t>
            </a:r>
            <a:r>
              <a:rPr sz="1800" b="0"/>
              <a:t> bên ngoài mọi component. </a:t>
            </a:r>
            <a:r>
              <a:rPr sz="1800" b="0">
                <a:latin typeface="Consolas"/>
                <a:ea typeface="Consolas"/>
                <a:cs typeface="Consolas"/>
              </a:rPr>
              <a:t>Vue.reactive()</a:t>
            </a:r>
            <a:r>
              <a:rPr sz="1800" b="0"/>
              <a:t> tạo ra một object mà mọi component dùng nó đều tự cập nhật khi nó đổi.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7.7. Kho trạng thái tập trung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Phần 1 — dựng kho (state / action / getter):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3848099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KHO DUNG CHUNG - dat ngoai moi component (buoi 9 tach thanh src/stores/gioHang.js)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const khoGioHang = Vue.reactive({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--- du lieu (state) 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danhSach: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{ id: 1, ten: "Bút bi",  gia: 5000, soLuong: 1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{ id: 2, ten: "Vở ô ly", gia: 8000, soLuong: 2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--- hanh dong (action): CHI o day moi duoc sua danhSach 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tang(id)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this.danhSach.find(x =&gt; x.id === id).soLuong++;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xoa(id)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this.danhSach = this.danhSach.filter(x =&gt; x.id !== id);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--- gia tri dan xuat (getter) 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get soMon() { return this.danhSach.reduce((t, x) =&gt; t + x.soLuong, 0);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get tongTien() { return this.danhSach.reduce((t, x) =&gt; t + x.gia * x.soLuong, 0);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});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7.7. Kho trạng thái tập trung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Phần 2 — component cha (Giỏ hàng) đọc từ kho: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2895092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const app = Vue.createApp({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data()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return { kho: khoGioHang };      // dua kho vao de template dung duoc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template: `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&lt;header style="background:#eee; padding:8px"&gt;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Giỏ hàng: &lt;b&gt;{{ kho.soMon }}&lt;/b&gt; món —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&lt;b&gt;{{ kho.tongTien.toLocaleString("vi-VN") }} đ&lt;/b&gt;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&lt;/header&gt;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&lt;muc-gio-hang v-for="m in kho.danhSach" :key="m.id" :muc="m"&gt;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&lt;/muc-gio-hang&gt;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`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});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7.7. Kho trạng thái tập trung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Phần 3 — component con (một sản phẩm trong giỏ) gọi thẳng action của kho: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3456686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app.component("muc-gio-hang",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props: { muc: { type: Object, required: true }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data()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    // Con dung THANG kho: khong can cha truyen xuong, khong can $emit len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return { kho: khoGioHang 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template: `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&lt;div style="border:1px solid #ccc; padding:10px; margin:6px"&gt;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{{ muc.ten }} — SL: {{ muc.soLuong }}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&lt;button @click="kho.tang(muc.id)"&gt;+1&lt;/button&gt;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&lt;button @click="kho.xoa(muc.id)"&gt;Xóa&lt;/button&gt;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&lt;/div&gt;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`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app.mount("#app");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&lt;/script&gt;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7.7. Kho trạng thái tập trung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Bấm "+1" ở con → header ở cha </a:t>
            </a:r>
            <a:r>
              <a:rPr sz="1500" b="1"/>
              <a:t>tự cập nhật</a:t>
            </a:r>
            <a:r>
              <a:rPr sz="1500" b="0"/>
              <a:t>, không cần </a:t>
            </a:r>
            <a:r>
              <a:rPr sz="1500" b="0">
                <a:latin typeface="Consolas"/>
                <a:ea typeface="Consolas"/>
                <a:cs typeface="Consolas"/>
              </a:rPr>
              <a:t>$emit</a:t>
            </a:r>
            <a:r>
              <a:rPr sz="1500" b="0"/>
              <a:t>. Ba phần của kho — buổi 9 gặp lại nguyên vẹn: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75688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Phần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Là gì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Trong ví dụ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/>
                        <a:t>state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Dữ liệu được giữ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danhSach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/>
                        <a:t>action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Hàm được phép sửa dữ liệu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tang()</a:t>
                      </a:r>
                      <a:r>
                        <a:rPr sz="1300" b="0"/>
                        <a:t>, </a:t>
                      </a:r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xoa()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/>
                        <a:t>getter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Giá trị tính ra từ state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soMon</a:t>
                      </a:r>
                      <a:r>
                        <a:rPr sz="1300" b="0"/>
                        <a:t>, </a:t>
                      </a:r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tongTien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7.7. Kho trạng thái tập trung (6/6)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700" i="1" b="1">
                <a:solidFill>
                  <a:srgbClr val="666666"/>
                </a:solidFill>
              </a:rPr>
              <a:t>Liên hệ tới Pinia.</a:t>
            </a:r>
            <a:r>
              <a:rPr sz="1700" i="1" b="0">
                <a:solidFill>
                  <a:srgbClr val="666666"/>
                </a:solidFill>
              </a:rPr>
              <a:t> Đây chính là mô hình của </a:t>
            </a:r>
            <a:r>
              <a:rPr sz="1700" i="1" b="1">
                <a:solidFill>
                  <a:srgbClr val="666666"/>
                </a:solidFill>
              </a:rPr>
              <a:t>Pinia</a:t>
            </a:r>
            <a:r>
              <a:rPr sz="1700" i="1" b="0">
                <a:solidFill>
                  <a:srgbClr val="666666"/>
                </a:solidFill>
              </a:rPr>
              <a:t> — thư viện quản lý trạng thái chuẩn của Vue 3. Ở buổi này ta tự dựng bằng </a:t>
            </a:r>
            <a:r>
              <a:rPr sz="17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Vue.reactive()</a:t>
            </a:r>
            <a:r>
              <a:rPr sz="1700" i="1" b="0">
                <a:solidFill>
                  <a:srgbClr val="666666"/>
                </a:solidFill>
              </a:rPr>
              <a:t> để thấy rõ cơ chế bên trong và không phải cài thêm gì. Sang buổi 9, khi đã có project Vite và </a:t>
            </a:r>
            <a:r>
              <a:rPr sz="17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npm</a:t>
            </a:r>
            <a:r>
              <a:rPr sz="1700" i="1" b="0">
                <a:solidFill>
                  <a:srgbClr val="666666"/>
                </a:solidFill>
              </a:rPr>
              <a:t>, ta thay đúng khối trên bằng </a:t>
            </a:r>
            <a:r>
              <a:rPr sz="17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defineStore()</a:t>
            </a:r>
            <a:r>
              <a:rPr sz="1700" i="1" b="0">
                <a:solidFill>
                  <a:srgbClr val="666666"/>
                </a:solidFill>
              </a:rPr>
              <a:t> của Pinia — tên gọi state / action / getter giữ nguyên, chỉ đổi cách khai báo và thêm được Vue DevTools theo dõi từng thay đổi.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3. Thực hành tại lớp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600" b="1"/>
              <a:t>Practice 1</a:t>
            </a:r>
            <a:r>
              <a:rPr sz="1600" b="0"/>
              <a:t> — File </a:t>
            </a:r>
            <a:r>
              <a:rPr sz="1600" b="0">
                <a:latin typeface="Consolas"/>
                <a:ea typeface="Consolas"/>
                <a:cs typeface="Consolas"/>
              </a:rPr>
              <a:t>buoi7_practice1.html</a:t>
            </a:r>
            <a:r>
              <a:rPr sz="1600" b="0"/>
              <a:t> Coi mỗi sản phẩm ở buổi 6 là một dòng trong </a:t>
            </a:r>
            <a:r>
              <a:rPr sz="1600" b="1"/>
              <a:t>giỏ hàng</a:t>
            </a:r>
            <a:r>
              <a:rPr sz="1600" b="0"/>
              <a:t> (thêm trường </a:t>
            </a:r>
            <a:r>
              <a:rPr sz="1600" b="0">
                <a:latin typeface="Consolas"/>
                <a:ea typeface="Consolas"/>
                <a:cs typeface="Consolas"/>
              </a:rPr>
              <a:t>soLuong</a:t>
            </a:r>
            <a:r>
              <a:rPr sz="1600" b="0"/>
              <a:t>). Tách bảng đó thành component </a:t>
            </a:r>
            <a:r>
              <a:rPr sz="1600" b="0">
                <a:latin typeface="Consolas"/>
                <a:ea typeface="Consolas"/>
                <a:cs typeface="Consolas"/>
              </a:rPr>
              <a:t>&lt;bang-gio-hang&gt;</a:t>
            </a:r>
            <a:r>
              <a:rPr sz="1600" b="0"/>
              <a:t> nhận prop </a:t>
            </a:r>
            <a:r>
              <a:rPr sz="1600" b="0">
                <a:latin typeface="Consolas"/>
                <a:ea typeface="Consolas"/>
                <a:cs typeface="Consolas"/>
              </a:rPr>
              <a:t>danh-sach</a:t>
            </a:r>
            <a:r>
              <a:rPr sz="1600" b="0"/>
              <a:t>, hiện thành tiền từng dòng. Component cha chỉ còn giữ dữ liệu và đặt đúng một thẻ.</a:t>
            </a:r>
          </a:p>
          <a:p>
            <a:pPr>
              <a:spcAft>
                <a:spcPts val="800"/>
              </a:spcAft>
            </a:pPr>
            <a:r>
              <a:rPr sz="1600" b="1"/>
              <a:t>Practice 2</a:t>
            </a:r>
            <a:r>
              <a:rPr sz="1600" b="0"/>
              <a:t> — File </a:t>
            </a:r>
            <a:r>
              <a:rPr sz="1600" b="0">
                <a:latin typeface="Consolas"/>
                <a:ea typeface="Consolas"/>
                <a:cs typeface="Consolas"/>
              </a:rPr>
              <a:t>buoi7_practice2.html</a:t>
            </a:r>
            <a:r>
              <a:rPr sz="1600" b="0"/>
              <a:t> Thêm nút </a:t>
            </a:r>
            <a:r>
              <a:rPr sz="1600" b="1"/>
              <a:t>+1</a:t>
            </a:r>
            <a:r>
              <a:rPr sz="1600" b="0"/>
              <a:t> và </a:t>
            </a:r>
            <a:r>
              <a:rPr sz="1600" b="1"/>
              <a:t>Xóa</a:t>
            </a:r>
            <a:r>
              <a:rPr sz="1600" b="0"/>
              <a:t> trong mỗi hàng của </a:t>
            </a:r>
            <a:r>
              <a:rPr sz="1600" b="0">
                <a:latin typeface="Consolas"/>
                <a:ea typeface="Consolas"/>
                <a:cs typeface="Consolas"/>
              </a:rPr>
              <a:t>&lt;bang-gio-hang&gt;</a:t>
            </a:r>
            <a:r>
              <a:rPr sz="1600" b="0"/>
              <a:t>. Component con </a:t>
            </a:r>
            <a:r>
              <a:rPr sz="1600" b="0">
                <a:latin typeface="Consolas"/>
                <a:ea typeface="Consolas"/>
                <a:cs typeface="Consolas"/>
              </a:rPr>
              <a:t>$emit("doi-so-luong", id, soLuongMoi)</a:t>
            </a:r>
            <a:r>
              <a:rPr sz="1600" b="0"/>
              <a:t> và </a:t>
            </a:r>
            <a:r>
              <a:rPr sz="1600" b="0">
                <a:latin typeface="Consolas"/>
                <a:ea typeface="Consolas"/>
                <a:cs typeface="Consolas"/>
              </a:rPr>
              <a:t>$emit("yeu-cau-xoa", id)</a:t>
            </a:r>
            <a:r>
              <a:rPr sz="1600" b="0"/>
              <a:t>; component cha bắt sự kiện rồi sửa mảng. Con </a:t>
            </a:r>
            <a:r>
              <a:rPr sz="1600" b="1"/>
              <a:t>không</a:t>
            </a:r>
            <a:r>
              <a:rPr sz="1600" b="0"/>
              <a:t> được tự sửa mảng.</a:t>
            </a:r>
          </a:p>
          <a:p>
            <a:pPr>
              <a:spcAft>
                <a:spcPts val="800"/>
              </a:spcAft>
            </a:pPr>
            <a:r>
              <a:rPr sz="1600" b="1"/>
              <a:t>Practice 3</a:t>
            </a:r>
            <a:r>
              <a:rPr sz="1600" b="0"/>
              <a:t> — File </a:t>
            </a:r>
            <a:r>
              <a:rPr sz="1600" b="0">
                <a:latin typeface="Consolas"/>
                <a:ea typeface="Consolas"/>
                <a:cs typeface="Consolas"/>
              </a:rPr>
              <a:t>buoi7_practice3.html</a:t>
            </a:r>
            <a:r>
              <a:rPr sz="1600" b="0"/>
              <a:t> Làm form thêm sản phẩm vào giỏ có validate đủ 3 trường: tên (≥ 3 ký tự), giá (&gt; 0), số lượng (số nguyên 1–99). Báo lỗi ngay dưới từng ô khi </a:t>
            </a:r>
            <a:r>
              <a:rPr sz="1600" b="0">
                <a:latin typeface="Consolas"/>
                <a:ea typeface="Consolas"/>
                <a:cs typeface="Consolas"/>
              </a:rPr>
              <a:t>@blur</a:t>
            </a:r>
            <a:r>
              <a:rPr sz="1600" b="0"/>
              <a:t>, khóa nút "Thêm vào giỏ" khi còn lỗi.</a:t>
            </a:r>
          </a:p>
          <a:p>
            <a:pPr>
              <a:spcAft>
                <a:spcPts val="800"/>
              </a:spcAft>
            </a:pPr>
            <a:r>
              <a:rPr sz="1600" b="1"/>
              <a:t>Practice 4</a:t>
            </a:r>
            <a:r>
              <a:rPr sz="1600" b="0"/>
              <a:t> — File </a:t>
            </a:r>
            <a:r>
              <a:rPr sz="1600" b="0">
                <a:latin typeface="Consolas"/>
                <a:ea typeface="Consolas"/>
                <a:cs typeface="Consolas"/>
              </a:rPr>
              <a:t>buoi7_practice4.html</a:t>
            </a:r>
            <a:r>
              <a:rPr sz="1600" b="0"/>
              <a:t> Gộp cả 3 practice trên vào một trang, dùng kho </a:t>
            </a:r>
            <a:r>
              <a:rPr sz="1600" b="0">
                <a:latin typeface="Consolas"/>
                <a:ea typeface="Consolas"/>
                <a:cs typeface="Consolas"/>
              </a:rPr>
              <a:t>khoGioHang</a:t>
            </a:r>
            <a:r>
              <a:rPr sz="1600" b="0"/>
              <a:t> ở mục 7.7. Header hiển thị số món và tổng tiền, tự cập nhật khi bấm "+1" hoặc "Xóa" ở bất kỳ dòng sản phẩm nào trong giỏ.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4. Bài tập về nhà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600" b="0"/>
              <a:t>Hoàn thiện 4 practice, đặt trong </a:t>
            </a:r>
            <a:r>
              <a:rPr sz="1600" b="0">
                <a:latin typeface="Consolas"/>
                <a:ea typeface="Consolas"/>
                <a:cs typeface="Consolas"/>
              </a:rPr>
              <a:t>htdocs/course8/buoi7/</a:t>
            </a:r>
            <a:r>
              <a:rPr sz="1600" b="0"/>
              <a:t>.</a:t>
            </a:r>
          </a:p>
          <a:p>
            <a:pPr>
              <a:spcAft>
                <a:spcPts val="600"/>
              </a:spcAft>
            </a:pPr>
            <a:r>
              <a:rPr sz="1600" b="0"/>
              <a:t>Viết </a:t>
            </a:r>
            <a:r>
              <a:rPr sz="1600" b="0">
                <a:latin typeface="Consolas"/>
                <a:ea typeface="Consolas"/>
                <a:cs typeface="Consolas"/>
              </a:rPr>
              <a:t>buoi7_homework.html</a:t>
            </a:r>
            <a:r>
              <a:rPr sz="1600" b="0"/>
              <a:t>: thêm component </a:t>
            </a:r>
            <a:r>
              <a:rPr sz="1600" b="0">
                <a:latin typeface="Consolas"/>
                <a:ea typeface="Consolas"/>
                <a:cs typeface="Consolas"/>
              </a:rPr>
              <a:t>&lt;o-tim-kiem&gt;</a:t>
            </a:r>
            <a:r>
              <a:rPr sz="1600" b="0"/>
              <a:t> phát sự kiện </a:t>
            </a:r>
            <a:r>
              <a:rPr sz="1600" b="0">
                <a:latin typeface="Consolas"/>
                <a:ea typeface="Consolas"/>
                <a:cs typeface="Consolas"/>
              </a:rPr>
              <a:t>@doi-tu-khoa</a:t>
            </a:r>
            <a:r>
              <a:rPr sz="1600" b="0"/>
              <a:t> </a:t>
            </a:r>
            <a:r>
              <a:rPr sz="1600" b="0"/>
              <a:t>lên cha; cha dùng </a:t>
            </a:r>
            <a:r>
              <a:rPr sz="1600" b="0">
                <a:latin typeface="Consolas"/>
                <a:ea typeface="Consolas"/>
                <a:cs typeface="Consolas"/>
              </a:rPr>
              <a:t>computed</a:t>
            </a:r>
            <a:r>
              <a:rPr sz="1600" b="0"/>
              <a:t> để lọc các sản phẩm trong giỏ theo tên, như buổi 6.</a:t>
            </a:r>
          </a:p>
          <a:p>
            <a:pPr>
              <a:spcAft>
                <a:spcPts val="600"/>
              </a:spcAft>
            </a:pPr>
            <a:r>
              <a:rPr sz="1600" b="0"/>
              <a:t>Thêm </a:t>
            </a:r>
            <a:r>
              <a:rPr sz="1600" b="0">
                <a:latin typeface="Consolas"/>
                <a:ea typeface="Consolas"/>
                <a:cs typeface="Consolas"/>
              </a:rPr>
              <a:t>watch</a:t>
            </a:r>
            <a:r>
              <a:rPr sz="1600" b="0"/>
              <a:t> theo dõi </a:t>
            </a:r>
            <a:r>
              <a:rPr sz="1600" b="0">
                <a:latin typeface="Consolas"/>
                <a:ea typeface="Consolas"/>
                <a:cs typeface="Consolas"/>
              </a:rPr>
              <a:t>kho.danhSach</a:t>
            </a:r>
            <a:r>
              <a:rPr sz="1600" b="0"/>
              <a:t>, mỗi lần đổi thì lưu vào </a:t>
            </a:r>
            <a:r>
              <a:rPr sz="1600" b="0">
                <a:latin typeface="Consolas"/>
                <a:ea typeface="Consolas"/>
                <a:cs typeface="Consolas"/>
              </a:rPr>
              <a:t>localStorage</a:t>
            </a:r>
            <a:r>
              <a:rPr sz="1600" b="0"/>
              <a:t>;</a:t>
            </a:r>
            <a:r>
              <a:rPr sz="1600" b="0"/>
              <a:t> </a:t>
            </a:r>
            <a:r>
              <a:rPr sz="1600" b="0"/>
              <a:t>dùng </a:t>
            </a:r>
            <a:r>
              <a:rPr sz="1600" b="0">
                <a:latin typeface="Consolas"/>
                <a:ea typeface="Consolas"/>
                <a:cs typeface="Consolas"/>
              </a:rPr>
              <a:t>mounted()</a:t>
            </a:r>
            <a:r>
              <a:rPr sz="1600" b="0"/>
              <a:t> để nạp lại khi mở trang. Tải lại trang mà giỏ hàng vẫn còn là đạt.</a:t>
            </a:r>
          </a:p>
          <a:p>
            <a:pPr>
              <a:spcAft>
                <a:spcPts val="600"/>
              </a:spcAft>
            </a:pPr>
            <a:r>
              <a:rPr sz="1600" b="0"/>
              <a:t>Liệt kê ra giấy: form của bạn đang chặn những lỗi nào? Buổi 8 sẽ kiểm tra lại</a:t>
            </a:r>
            <a:r>
              <a:rPr sz="1600" b="0"/>
              <a:t> </a:t>
            </a:r>
            <a:r>
              <a:rPr sz="1600" b="1"/>
              <a:t>đúng danh sách đó</a:t>
            </a:r>
            <a:r>
              <a:rPr sz="1600" b="0"/>
              <a:t> ở phía PHP.</a:t>
            </a:r>
          </a:p>
          <a:p>
            <a:pPr>
              <a:spcAft>
                <a:spcPts val="600"/>
              </a:spcAft>
            </a:pPr>
            <a:r>
              <a:rPr sz="1600" b="0"/>
              <a:t>Đọc trước về </a:t>
            </a:r>
            <a:r>
              <a:rPr sz="1600" b="0">
                <a:latin typeface="Consolas"/>
                <a:ea typeface="Consolas"/>
                <a:cs typeface="Consolas"/>
              </a:rPr>
              <a:t>fetch()</a:t>
            </a:r>
            <a:r>
              <a:rPr sz="1600" b="0"/>
              <a:t> trong JavaScript và định dạng </a:t>
            </a:r>
            <a:r>
              <a:rPr sz="1600" b="1"/>
              <a:t>JSON</a:t>
            </a:r>
            <a:r>
              <a:rPr sz="1600" b="0"/>
              <a:t>:</a:t>
            </a:r>
            <a:r>
              <a:rPr sz="1600" b="0"/>
              <a:t> </a:t>
            </a:r>
            <a:r>
              <a:rPr sz="1600" b="0"/>
              <a:t>https://developer.mozilla.org/vi/docs/Web/API/Fetch_API/Using_Fetch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5. Checklist cuối buổi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 b="0"/>
              <a:t>[ ] Đăng ký được một component và dùng nó như thẻ HTML.</a:t>
            </a:r>
          </a:p>
          <a:p>
            <a:pPr>
              <a:spcAft>
                <a:spcPts val="600"/>
              </a:spcAft>
            </a:pPr>
            <a:r>
              <a:rPr sz="1400" b="0"/>
              <a:t>[ ] Giải thích được vì sao </a:t>
            </a:r>
            <a:r>
              <a:rPr sz="1400" b="0">
                <a:latin typeface="Consolas"/>
                <a:ea typeface="Consolas"/>
                <a:cs typeface="Consolas"/>
              </a:rPr>
              <a:t>data()</a:t>
            </a:r>
            <a:r>
              <a:rPr sz="1400" b="0"/>
              <a:t> của component phải là hàm.</a:t>
            </a:r>
          </a:p>
          <a:p>
            <a:pPr>
              <a:spcAft>
                <a:spcPts val="600"/>
              </a:spcAft>
            </a:pPr>
            <a:r>
              <a:rPr sz="1400" b="0"/>
              <a:t>[ ] Truyền được dữ liệu xuống bằng </a:t>
            </a:r>
            <a:r>
              <a:rPr sz="1400" b="0">
                <a:latin typeface="Consolas"/>
                <a:ea typeface="Consolas"/>
                <a:cs typeface="Consolas"/>
              </a:rPr>
              <a:t>props</a:t>
            </a:r>
            <a:r>
              <a:rPr sz="1400" b="0"/>
              <a:t>, phân biệt </a:t>
            </a:r>
            <a:r>
              <a:rPr sz="1400" b="0">
                <a:latin typeface="Consolas"/>
                <a:ea typeface="Consolas"/>
                <a:cs typeface="Consolas"/>
              </a:rPr>
              <a:t>ten="x"</a:t>
            </a:r>
            <a:r>
              <a:rPr sz="1400" b="0"/>
              <a:t> với </a:t>
            </a:r>
            <a:r>
              <a:rPr sz="1400" b="0">
                <a:latin typeface="Consolas"/>
                <a:ea typeface="Consolas"/>
                <a:cs typeface="Consolas"/>
              </a:rPr>
              <a:t>:ten="x"</a:t>
            </a:r>
            <a:r>
              <a:rPr sz="1400" b="0"/>
              <a:t>.</a:t>
            </a:r>
          </a:p>
          <a:p>
            <a:pPr>
              <a:spcAft>
                <a:spcPts val="600"/>
              </a:spcAft>
            </a:pPr>
            <a:r>
              <a:rPr sz="1400" b="0"/>
              <a:t>[ ] Cho con báo lên cha bằng </a:t>
            </a:r>
            <a:r>
              <a:rPr sz="1400" b="0">
                <a:latin typeface="Consolas"/>
                <a:ea typeface="Consolas"/>
                <a:cs typeface="Consolas"/>
              </a:rPr>
              <a:t>$emit</a:t>
            </a:r>
            <a:r>
              <a:rPr sz="1400" b="0"/>
              <a:t> và khẳng định được con không tự sửa dữ liệu chung.</a:t>
            </a:r>
          </a:p>
          <a:p>
            <a:pPr>
              <a:spcAft>
                <a:spcPts val="600"/>
              </a:spcAft>
            </a:pPr>
            <a:r>
              <a:rPr sz="1400" b="0"/>
              <a:t>[ ] Tách một component ra file </a:t>
            </a:r>
            <a:r>
              <a:rPr sz="1400" b="0">
                <a:latin typeface="Consolas"/>
                <a:ea typeface="Consolas"/>
                <a:cs typeface="Consolas"/>
              </a:rPr>
              <a:t>.js</a:t>
            </a:r>
            <a:r>
              <a:rPr sz="1400" b="0"/>
              <a:t> riêng, nạp và đăng ký được vào file chính.</a:t>
            </a:r>
          </a:p>
          <a:p>
            <a:pPr>
              <a:spcAft>
                <a:spcPts val="600"/>
              </a:spcAft>
            </a:pPr>
            <a:r>
              <a:rPr sz="1400" b="0"/>
              <a:t>[ ] Validate được 3 trường (tên, giá, số lượng), hiện lỗi dưới từng ô, khóa nút khi còn lỗi.</a:t>
            </a:r>
          </a:p>
          <a:p>
            <a:pPr>
              <a:spcAft>
                <a:spcPts val="600"/>
              </a:spcAft>
            </a:pPr>
            <a:r>
              <a:rPr sz="1400" b="0"/>
              <a:t>[ ] Nói được vì sao validate phía client </a:t>
            </a:r>
            <a:r>
              <a:rPr sz="1400" b="1"/>
              <a:t>không thay thế được</a:t>
            </a:r>
            <a:r>
              <a:rPr sz="1400" b="0"/>
              <a:t> kiểm tra ở server.</a:t>
            </a:r>
          </a:p>
          <a:p>
            <a:pPr>
              <a:spcAft>
                <a:spcPts val="600"/>
              </a:spcAft>
            </a:pPr>
            <a:r>
              <a:rPr sz="1400" b="0"/>
              <a:t>[ ] Phân biệt được </a:t>
            </a:r>
            <a:r>
              <a:rPr sz="1400" b="0">
                <a:latin typeface="Consolas"/>
                <a:ea typeface="Consolas"/>
                <a:cs typeface="Consolas"/>
              </a:rPr>
              <a:t>computed</a:t>
            </a:r>
            <a:r>
              <a:rPr sz="1400" b="0"/>
              <a:t>, </a:t>
            </a:r>
            <a:r>
              <a:rPr sz="1400" b="0">
                <a:latin typeface="Consolas"/>
                <a:ea typeface="Consolas"/>
                <a:cs typeface="Consolas"/>
              </a:rPr>
              <a:t>watch</a:t>
            </a:r>
            <a:r>
              <a:rPr sz="1400" b="0"/>
              <a:t> và </a:t>
            </a:r>
            <a:r>
              <a:rPr sz="1400" b="0">
                <a:latin typeface="Consolas"/>
                <a:ea typeface="Consolas"/>
                <a:cs typeface="Consolas"/>
              </a:rPr>
              <a:t>mounted()</a:t>
            </a:r>
            <a:r>
              <a:rPr sz="1400" b="0"/>
              <a:t> dùng khi nào.</a:t>
            </a:r>
          </a:p>
          <a:p>
            <a:pPr>
              <a:spcAft>
                <a:spcPts val="600"/>
              </a:spcAft>
            </a:pPr>
            <a:r>
              <a:rPr sz="1400" b="0"/>
              <a:t>[ ] Dựng được kho trạng thái với đủ *state / action / getter*.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6. Tham khảo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 b="0"/>
              <a:t>Component cơ bản: https://vuejs.org/guide/essentials/component-basics.html</a:t>
            </a:r>
          </a:p>
          <a:p>
            <a:pPr>
              <a:spcAft>
                <a:spcPts val="600"/>
              </a:spcAft>
            </a:pPr>
            <a:r>
              <a:rPr sz="1800" b="0"/>
              <a:t>Props: https://vuejs.org/guide/components/props.html</a:t>
            </a:r>
          </a:p>
          <a:p>
            <a:pPr>
              <a:spcAft>
                <a:spcPts val="600"/>
              </a:spcAft>
            </a:pPr>
            <a:r>
              <a:rPr sz="1800" b="0"/>
              <a:t>Sự kiện tùy chỉnh: https://vuejs.org/guide/components/events.html</a:t>
            </a:r>
          </a:p>
          <a:p>
            <a:pPr>
              <a:spcAft>
                <a:spcPts val="600"/>
              </a:spcAft>
            </a:pPr>
            <a:r>
              <a:rPr sz="1800" b="0"/>
              <a:t>Watch: https://vuejs.org/guide/essentials/watchers.html</a:t>
            </a:r>
          </a:p>
          <a:p>
            <a:pPr>
              <a:spcAft>
                <a:spcPts val="600"/>
              </a:spcAft>
            </a:pPr>
            <a:r>
              <a:rPr sz="1800" b="0"/>
              <a:t>Quản lý trạng thái: https://vuejs.org/guide/scaling-up/state-management.html</a:t>
            </a:r>
          </a:p>
          <a:p>
            <a:pPr>
              <a:spcAft>
                <a:spcPts val="600"/>
              </a:spcAft>
            </a:pPr>
            <a:r>
              <a:rPr sz="1800" b="0"/>
              <a:t>Pinia (dùng thật từ buổi 9): https://pinia.vuejs.org/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6880</TotalTime>
  <Words>328</Words>
  <Application>Microsoft Office PowerPoint</Application>
  <PresentationFormat>画面に合わせる (4:3)</PresentationFormat>
  <Paragraphs>57</Paragraphs>
  <Slides>19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Adjacency</vt:lpstr>
      <vt:lpstr>Khóa đào tạo Lập trình Web sử dụng PHP</vt:lpstr>
      <vt:lpstr>PowerPoint プレゼンテーション</vt:lpstr>
      <vt:lpstr>1. Form</vt:lpstr>
      <vt:lpstr>Các loại HTML input cơ bản</vt:lpstr>
      <vt:lpstr>Demo</vt:lpstr>
      <vt:lpstr>2. Truyền biến</vt:lpstr>
      <vt:lpstr>demo11.html – Page A - GET</vt:lpstr>
      <vt:lpstr>demo 11d.php - GET</vt:lpstr>
      <vt:lpstr>demo11.html – Page A - POST</vt:lpstr>
      <vt:lpstr>demo11.php – Page B - POST</vt:lpstr>
      <vt:lpstr>Self-handling</vt:lpstr>
      <vt:lpstr>Output</vt:lpstr>
      <vt:lpstr>Output</vt:lpstr>
      <vt:lpstr>Demo 3 – Dung Hidden</vt:lpstr>
      <vt:lpstr>Demo 3 – Page A</vt:lpstr>
      <vt:lpstr>Demo 3 – Page B</vt:lpstr>
      <vt:lpstr>Demo 3 – Page C - POST</vt:lpstr>
      <vt:lpstr>Practice 1</vt:lpstr>
      <vt:lpstr>Practice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Khóa đào tạo lập trình web sử dụng php</dc:title>
  <dc:creator>ngoctb</dc:creator>
  <cp:lastModifiedBy>Chu Van Quy</cp:lastModifiedBy>
  <cp:revision>2090</cp:revision>
  <dcterms:created xsi:type="dcterms:W3CDTF">2014-12-22T07:12:12Z</dcterms:created>
  <dcterms:modified xsi:type="dcterms:W3CDTF">2025-09-30T00:54:03Z</dcterms:modified>
</cp:coreProperties>
</file>