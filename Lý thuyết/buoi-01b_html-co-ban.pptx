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1 (tài liệu kèm) — HTML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0"/>
              <a:t>1. Mục tiêu</a:t>
            </a:r>
          </a:p>
          <a:p>
            <a:pPr>
              <a:spcAft>
                <a:spcPts val="600"/>
              </a:spcAft>
            </a:pPr>
            <a:r>
              <a:rPr sz="1400" b="0"/>
              <a:t>2. Thẻ HTML là gì?</a:t>
            </a:r>
          </a:p>
          <a:p>
            <a:pPr>
              <a:spcAft>
                <a:spcPts val="600"/>
              </a:spcAft>
            </a:pPr>
            <a:r>
              <a:rPr sz="1400" b="0"/>
              <a:t>3. Khung một trang HTML</a:t>
            </a:r>
          </a:p>
          <a:p>
            <a:pPr>
              <a:spcAft>
                <a:spcPts val="600"/>
              </a:spcAft>
            </a:pPr>
            <a:r>
              <a:rPr sz="1400" b="0"/>
              <a:t>4. Nhóm thẻ văn bản</a:t>
            </a:r>
          </a:p>
          <a:p>
            <a:pPr>
              <a:spcAft>
                <a:spcPts val="600"/>
              </a:spcAft>
            </a:pPr>
            <a:r>
              <a:rPr sz="1400" b="0"/>
              <a:t>5. Danh sách</a:t>
            </a:r>
          </a:p>
          <a:p>
            <a:pPr>
              <a:spcAft>
                <a:spcPts val="600"/>
              </a:spcAft>
            </a:pPr>
            <a:r>
              <a:rPr sz="1400" b="0"/>
              <a:t>6. Bảng — nhóm thẻ quan trọng nhất của khóa này</a:t>
            </a:r>
          </a:p>
          <a:p>
            <a:pPr>
              <a:spcAft>
                <a:spcPts val="600"/>
              </a:spcAft>
            </a:pPr>
            <a:r>
              <a:rPr sz="1400" b="0"/>
              <a:t>7. Form — cách người dùng gửi dữ liệu về server</a:t>
            </a:r>
          </a:p>
          <a:p>
            <a:pPr>
              <a:spcAft>
                <a:spcPts val="600"/>
              </a:spcAft>
            </a:pPr>
            <a:r>
              <a:rPr sz="1400" b="0"/>
              <a:t>8. Thẻ bố cục: div và span</a:t>
            </a:r>
          </a:p>
          <a:p>
            <a:pPr>
              <a:spcAft>
                <a:spcPts val="600"/>
              </a:spcAft>
            </a:pPr>
            <a:r>
              <a:rPr sz="1400" b="0"/>
              <a:t>9. Lập trình web là gì? — nhìn lại bức tranh lớn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Buổi 1 (tài liệu kèm) — HTML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Trọng tâm:</a:t>
            </a:r>
            <a:r>
              <a:rPr sz="1900" i="1" b="0">
                <a:solidFill>
                  <a:srgbClr val="666666"/>
                </a:solidFill>
              </a:rPr>
              <a:t> đọc hiểu và sửa được HTML, đồng thời hình dung được bức tranh lớn "lập trình web là làm những việc gì" — chưa cần viết đẹp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/>
              <a:t>Sau 30 phút này, học viên có thể:</a:t>
            </a:r>
          </a:p>
          <a:p>
            <a:pPr>
              <a:spcAft>
                <a:spcPts val="600"/>
              </a:spcAft>
            </a:pPr>
            <a:r>
              <a:rPr sz="1400" b="0"/>
              <a:t>Nói được </a:t>
            </a:r>
            <a:r>
              <a:rPr sz="1400" b="1"/>
              <a:t>thẻ (tag) HTML là gì</a:t>
            </a:r>
            <a:r>
              <a:rPr sz="1400" b="0"/>
              <a:t> và đọc được cú pháp một thẻ.</a:t>
            </a:r>
          </a:p>
          <a:p>
            <a:pPr>
              <a:spcAft>
                <a:spcPts val="600"/>
              </a:spcAft>
            </a:pPr>
            <a:r>
              <a:rPr sz="1400" b="0"/>
              <a:t>Nhận ra khung chuẩn của một trang HTML.</a:t>
            </a:r>
          </a:p>
          <a:p>
            <a:pPr>
              <a:spcAft>
                <a:spcPts val="600"/>
              </a:spcAft>
            </a:pPr>
            <a:r>
              <a:rPr sz="1400" b="0"/>
              <a:t>Dùng được 5 nhóm thẻ dùng nhiều nhất trong cả khóa: văn bản, danh sách,</a:t>
            </a:r>
            <a:r>
              <a:rPr sz="1400" b="0"/>
              <a:t> </a:t>
            </a:r>
            <a:r>
              <a:rPr sz="1400" b="1"/>
              <a:t>bảng</a:t>
            </a:r>
            <a:r>
              <a:rPr sz="1400" b="0"/>
              <a:t>, </a:t>
            </a:r>
            <a:r>
              <a:rPr sz="1400" b="1"/>
              <a:t>form</a:t>
            </a:r>
            <a:r>
              <a:rPr sz="1400" b="0"/>
              <a:t>, và thẻ bố cục.</a:t>
            </a:r>
          </a:p>
          <a:p>
            <a:pPr>
              <a:spcAft>
                <a:spcPts val="600"/>
              </a:spcAft>
            </a:pPr>
            <a:r>
              <a:rPr sz="1400" b="0"/>
              <a:t>Mở một file </a:t>
            </a:r>
            <a:r>
              <a:rPr sz="1400" b="0">
                <a:latin typeface="Consolas"/>
                <a:ea typeface="Consolas"/>
                <a:cs typeface="Consolas"/>
              </a:rPr>
              <a:t>.html</a:t>
            </a:r>
            <a:r>
              <a:rPr sz="1400" b="0"/>
              <a:t> bằng trình duyệt và tự đối chiếu code với kết quả.</a:t>
            </a:r>
          </a:p>
          <a:p>
            <a:pPr>
              <a:spcAft>
                <a:spcPts val="600"/>
              </a:spcAft>
            </a:pPr>
            <a:r>
              <a:rPr sz="1400" b="0"/>
              <a:t>Giải thích được </a:t>
            </a:r>
            <a:r>
              <a:rPr sz="1400" b="1"/>
              <a:t>lập trình web gồm những việc gì</a:t>
            </a:r>
            <a:r>
              <a:rPr sz="1400" b="0"/>
              <a:t>: hiển thị trang (layout,</a:t>
            </a:r>
            <a:r>
              <a:rPr sz="1400" b="0"/>
              <a:t> </a:t>
            </a:r>
            <a:r>
              <a:rPr sz="1400" b="0"/>
              <a:t>form), xử lý sự kiện (nội tại, giữa các phần tử, với server), và phân biệt</a:t>
            </a:r>
            <a:r>
              <a:rPr sz="1400" b="0"/>
              <a:t> </a:t>
            </a:r>
            <a:r>
              <a:rPr sz="1400" b="0"/>
              <a:t>được </a:t>
            </a:r>
            <a:r>
              <a:rPr sz="1400" b="1"/>
              <a:t>gọi API</a:t>
            </a:r>
            <a:r>
              <a:rPr sz="1400" b="0"/>
              <a:t> với </a:t>
            </a:r>
            <a:r>
              <a:rPr sz="1400" b="1"/>
              <a:t>tạo trang web ban đầu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Nói sơ lược được khác nhau giữa </a:t>
            </a:r>
            <a:r>
              <a:rPr sz="1400" b="1"/>
              <a:t>render phía server (SSR)</a:t>
            </a:r>
            <a:r>
              <a:rPr sz="1400" b="0"/>
              <a:t> và</a:t>
            </a:r>
            <a:r>
              <a:rPr sz="1400" b="0"/>
              <a:t> </a:t>
            </a:r>
            <a:r>
              <a:rPr sz="1400" b="1"/>
              <a:t>render phía trình duyệt (CSR)</a:t>
            </a:r>
            <a:r>
              <a:rPr sz="1400" b="0"/>
              <a:t> — vì sao khóa học đi từ SSR (buổi 1–5)</a:t>
            </a:r>
            <a:r>
              <a:rPr sz="1400" b="0"/>
              <a:t> </a:t>
            </a:r>
            <a:r>
              <a:rPr sz="1400" b="0"/>
              <a:t>sang CSR (buổi 6–10).</a:t>
            </a:r>
          </a:p>
          <a:p>
            <a:pPr>
              <a:spcAft>
                <a:spcPts val="600"/>
              </a:spcAft>
            </a:pPr>
            <a:r>
              <a:rPr sz="1400" b="0"/>
              <a:t>Nhắc lại được HTML là một </a:t>
            </a:r>
            <a:r>
              <a:rPr sz="1400" b="1"/>
              <a:t>cây DOM</a:t>
            </a:r>
            <a:r>
              <a:rPr sz="1400" b="0"/>
              <a:t>, kể ra vài điều kiện để có một DOM tốt,</a:t>
            </a:r>
            <a:r>
              <a:rPr sz="1400" b="0"/>
              <a:t> </a:t>
            </a:r>
            <a:r>
              <a:rPr sz="1400" b="0"/>
              <a:t>và biết dùng một công cụ kiểm tra HTML/DOM hợp lệ.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i="1" b="1">
                <a:solidFill>
                  <a:srgbClr val="666666"/>
                </a:solidFill>
              </a:rPr>
              <a:t>Vì sao cần?</a:t>
            </a:r>
            <a:r>
              <a:rPr sz="1300" i="1" b="0">
                <a:solidFill>
                  <a:srgbClr val="666666"/>
                </a:solidFill>
              </a:rPr>
              <a:t> Từ buổi 4 trở đi, PHP không làm gì khác ngoài việc </a:t>
            </a:r>
            <a:r>
              <a:rPr sz="1300" i="1" b="1">
                <a:solidFill>
                  <a:srgbClr val="666666"/>
                </a:solidFill>
              </a:rPr>
              <a:t>sinh ra HTML</a:t>
            </a:r>
            <a:r>
              <a:rPr sz="1300" i="1" b="0">
                <a:solidFill>
                  <a:srgbClr val="666666"/>
                </a:solidFill>
              </a:rPr>
              <a:t>. Không đọc được HTML thì nhìn code PHP sẽ chỉ thấy một mớ chuỗi vô nghĩa. Và từ buổi 6 trở đi, Vue liên tục </a:t>
            </a:r>
            <a:r>
              <a:rPr sz="1300" i="1" b="1">
                <a:solidFill>
                  <a:srgbClr val="666666"/>
                </a:solidFill>
              </a:rPr>
              <a:t>đọc/sửa cây DOM</a:t>
            </a:r>
            <a:r>
              <a:rPr sz="1300" i="1" b="0">
                <a:solidFill>
                  <a:srgbClr val="666666"/>
                </a:solidFill>
              </a:rPr>
              <a:t> để phản ứng lại sự kiện người dùng — không hình dung được DOM là gì thì sẽ học Vue như học vẹt.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Thẻ HTML là gì?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HTML </a:t>
            </a:r>
            <a:r>
              <a:rPr sz="2000" b="1"/>
              <a:t>không phải ngôn ngữ lập trình</a:t>
            </a:r>
            <a:r>
              <a:rPr sz="2000" b="0"/>
              <a:t> — nó là ngôn ngữ </a:t>
            </a:r>
            <a:r>
              <a:rPr sz="2000" b="1"/>
              <a:t>đánh dấu</a:t>
            </a:r>
            <a:r>
              <a:rPr sz="2000" b="0"/>
              <a:t> (markup). Ta bọc nội dung vào các </a:t>
            </a:r>
            <a:r>
              <a:rPr sz="2000" b="1"/>
              <a:t>thẻ</a:t>
            </a:r>
            <a:r>
              <a:rPr sz="2000" b="0"/>
              <a:t> để nói cho trình duyệt biết *nội dung này là loại gì*: tiêu đề, đoạn văn, ô nhập liệu hay một ô trong bảng.</a:t>
            </a:r>
          </a:p>
          <a:p>
            <a:pPr>
              <a:spcAft>
                <a:spcPts val="800"/>
              </a:spcAft>
            </a:pPr>
            <a:r>
              <a:rPr sz="2000" b="0"/>
              <a:t>Cú pháp một thẻ đầy đủ: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Thẻ HTML là gì?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4655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thẻ mở                        thẻ đóng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↓                               ↓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&lt;p class="gia"&gt;   5.000 đ  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↑      ↑            ↑           ↑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tên  thuộc tính   nội dung   dấu / báo hết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Thẻ HTML là gì? (3/5)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Ba điều cần nhớ:</a:t>
            </a:r>
          </a:p>
          <a:p>
            <a:pPr>
              <a:spcAft>
                <a:spcPts val="600"/>
              </a:spcAft>
            </a:pPr>
            <a:r>
              <a:rPr sz="1800" b="1"/>
              <a:t>Đa số thẻ đi theo cặp</a:t>
            </a:r>
            <a:r>
              <a:rPr sz="1800" b="0"/>
              <a:t>: </a:t>
            </a:r>
            <a:r>
              <a:rPr sz="1800" b="0">
                <a:latin typeface="Consolas"/>
                <a:ea typeface="Consolas"/>
                <a:cs typeface="Consolas"/>
              </a:rPr>
              <a:t>&lt;p&gt;</a:t>
            </a:r>
            <a:r>
              <a:rPr sz="1800" b="0"/>
              <a:t> mở ra thì phải có </a:t>
            </a:r>
            <a:r>
              <a:rPr sz="1800" b="0">
                <a:latin typeface="Consolas"/>
                <a:ea typeface="Consolas"/>
                <a:cs typeface="Consolas"/>
              </a:rPr>
              <a:t>&lt;/p&gt;</a:t>
            </a:r>
            <a:r>
              <a:rPr sz="1800" b="0"/>
              <a:t> đóng lại.</a:t>
            </a:r>
          </a:p>
          <a:p>
            <a:pPr>
              <a:spcAft>
                <a:spcPts val="600"/>
              </a:spcAft>
            </a:pPr>
            <a:r>
              <a:rPr sz="1800" b="1"/>
              <a:t>Một số thẻ không có nội dung</a:t>
            </a:r>
            <a:r>
              <a:rPr sz="1800" b="0"/>
              <a:t> nên không cần thẻ đóng — gọi là thẻ rỗng:</a:t>
            </a:r>
            <a:r>
              <a:rPr sz="1800" b="0"/>
              <a:t> </a:t>
            </a:r>
            <a:r>
              <a:rPr sz="1800" b="0">
                <a:latin typeface="Consolas"/>
                <a:ea typeface="Consolas"/>
                <a:cs typeface="Consolas"/>
              </a:rPr>
              <a:t>&lt;br&gt;</a:t>
            </a:r>
            <a:r>
              <a:rPr sz="1800" b="0"/>
              <a:t> (xuống dòng), </a:t>
            </a:r>
            <a:r>
              <a:rPr sz="1800" b="0">
                <a:latin typeface="Consolas"/>
                <a:ea typeface="Consolas"/>
                <a:cs typeface="Consolas"/>
              </a:rPr>
              <a:t>&lt;hr&gt;</a:t>
            </a:r>
            <a:r>
              <a:rPr sz="1800" b="0"/>
              <a:t> (đường kẻ ngang), </a:t>
            </a:r>
            <a:r>
              <a:rPr sz="1800" b="0">
                <a:latin typeface="Consolas"/>
                <a:ea typeface="Consolas"/>
                <a:cs typeface="Consolas"/>
              </a:rPr>
              <a:t>&lt;img&gt;</a:t>
            </a:r>
            <a:r>
              <a:rPr sz="1800" b="0"/>
              <a:t> (ảnh), </a:t>
            </a:r>
            <a:r>
              <a:rPr sz="1800" b="0">
                <a:latin typeface="Consolas"/>
                <a:ea typeface="Consolas"/>
                <a:cs typeface="Consolas"/>
              </a:rPr>
              <a:t>&lt;input&gt;</a:t>
            </a:r>
            <a:r>
              <a:rPr sz="1800" b="0"/>
              <a:t> (ô nhập).</a:t>
            </a:r>
          </a:p>
          <a:p>
            <a:pPr>
              <a:spcAft>
                <a:spcPts val="600"/>
              </a:spcAft>
            </a:pPr>
            <a:r>
              <a:rPr sz="1800" b="1"/>
              <a:t>Thẻ lồng nhau phải đúng thứ tự</a:t>
            </a:r>
            <a:r>
              <a:rPr sz="1800" b="0"/>
              <a:t>: mở sau thì đóng trước.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Thẻ HTML là gì?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750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&lt;p&gt;Giá &lt;strong&gt;5.000 đ&lt;/strong&gt;&lt;/p&gt;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&lt;p&gt;Giá &lt;strong&gt;5.000 đ&lt;/p&gt;&lt;/strong&gt;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Thẻ HTML là gì?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Thuộc tính (attribute)</a:t>
            </a:r>
            <a:r>
              <a:rPr sz="1500" b="0"/>
              <a:t> viết trong thẻ mở, dạng </a:t>
            </a:r>
            <a:r>
              <a:rPr sz="1500" b="0">
                <a:latin typeface="Consolas"/>
                <a:ea typeface="Consolas"/>
                <a:cs typeface="Consolas"/>
              </a:rPr>
              <a:t>tên="giá trị"</a:t>
            </a:r>
            <a:r>
              <a:rPr sz="1500" b="0"/>
              <a:t>, dùng để mô tả thêm: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47088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Thuộc tính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Ý nghĩa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Ví dụ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Tên định danh </a:t>
                      </a:r>
                      <a:r>
                        <a:rPr sz="1300" b="1"/>
                        <a:t>duy nhất</a:t>
                      </a:r>
                      <a:r>
                        <a:rPr sz="1300" b="0"/>
                        <a:t> trong trang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&lt;input id="ten"&gt;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class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Nhãn nhóm, </a:t>
                      </a:r>
                      <a:r>
                        <a:rPr sz="1300" b="1"/>
                        <a:t>nhiều thẻ dùng chung được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&lt;p class="gia"&gt;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Tên trường dữ liệu — </a:t>
                      </a:r>
                      <a:r>
                        <a:rPr sz="1300" b="1"/>
                        <a:t>PHP đọc theo tên này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&lt;input name="gia"&gt;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href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Địa chỉ mà liên kết trỏ tới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&lt;a href="index.php"&gt;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src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Đường dẫn file ảnh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&lt;img src="but.jpg"&gt;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Loại ô nhập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&lt;input type="number"&gt;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Khung một trang HTML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Mọi file </a:t>
            </a:r>
            <a:r>
              <a:rPr sz="1500" b="0">
                <a:latin typeface="Consolas"/>
                <a:ea typeface="Consolas"/>
                <a:cs typeface="Consolas"/>
              </a:rPr>
              <a:t>.html</a:t>
            </a:r>
            <a:r>
              <a:rPr sz="1500" b="0"/>
              <a:t> đều có bộ khung này. Gõ thử vào </a:t>
            </a:r>
            <a:r>
              <a:rPr sz="1500" b="0">
                <a:latin typeface="Consolas"/>
                <a:ea typeface="Consolas"/>
                <a:cs typeface="Consolas"/>
              </a:rPr>
              <a:t>khung.html</a:t>
            </a:r>
            <a:r>
              <a:rPr sz="1500" b="0"/>
              <a:t> rồi mở bằng trình duyệt: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89509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&lt;html lang="vi"&gt;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&lt;meta charset="utf-8"&gt;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&lt;title&gt;Mini Shop&lt;/title&gt;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&lt;h1&gt;Xin chào&lt;/h1&gt;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Khung một trang HTML (2/3)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Phần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Chứa gì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Người dùng có thấy?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&lt;head&gt;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Tiêu đề tab, bảng mã, khai báo CSS/JS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Không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&lt;body&gt;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Toàn bộ nội dung hiển thị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Có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Khung một trang HTML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Lỗi kinh điển:</a:t>
            </a:r>
            <a:r>
              <a:rPr sz="1900" i="1" b="0">
                <a:solidFill>
                  <a:srgbClr val="666666"/>
                </a:solidFill>
              </a:rPr>
              <a:t> thiếu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&lt;meta charset="utf-8"&gt;</a:t>
            </a:r>
            <a:r>
              <a:rPr sz="1900" i="1" b="0">
                <a:solidFill>
                  <a:srgbClr val="666666"/>
                </a:solidFill>
              </a:rPr>
              <a:t> → tiếng Việt hiện thành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Xin chÃ o</a:t>
            </a:r>
            <a:r>
              <a:rPr sz="1900" i="1" b="0">
                <a:solidFill>
                  <a:srgbClr val="666666"/>
                </a:solidFill>
              </a:rPr>
              <a:t>. Gặp lỗi font tiếng Việt, kiểm tra dòng này đầu tiên.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Nhóm thẻ văn bản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9420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&lt;h1&gt;Cửa hàng Mini Shop&lt;/h1&gt;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&lt;h2&gt;Bút bi Thiên Long&lt;/h2&gt;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&lt;p&gt;Đây là một &lt;strong&gt;đoạn văn&lt;/strong&gt;. Chữ trong thẻ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&lt;em&gt;em&lt;/em&gt; sẽ nghiêng.&lt;/p&gt;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&lt;p&gt;Giá: 5.000 đ&lt;br&gt;Bảo hành: không&lt;/p&gt;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&lt;p&gt;Dòng sau đường kẻ ngang.&lt;/p&gt;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Nhóm thẻ văn bản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Kết quả trên trình duyệt:</a:t>
            </a:r>
          </a:p>
        </p:txBody>
      </p:sp>
      <p:pic>
        <p:nvPicPr>
          <p:cNvPr id="4" name="Picture 3" descr="buoi01b-v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8229600" cy="3314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521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66666"/>
                </a:solidFill>
              </a:rPr>
              <a:t>Kết quả các thẻ văn bản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Nhóm thẻ văn bản (3/3)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Thẻ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để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Ghi chú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&lt;h1&gt;</a:t>
                      </a:r>
                      <a:r>
                        <a:rPr sz="1300" b="0"/>
                        <a:t> …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&lt;h6&gt;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Tiêu đề,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h1</a:t>
                      </a:r>
                      <a:r>
                        <a:rPr sz="1300" b="0"/>
                        <a:t> to nhất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Mỗi trang chỉ nên có </a:t>
                      </a:r>
                      <a:r>
                        <a:rPr sz="1300" b="1"/>
                        <a:t>một</a:t>
                      </a:r>
                      <a:r>
                        <a:rPr sz="1300" b="0"/>
                        <a:t>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&lt;h1&gt;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&lt;p&gt;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Một đoạn văn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Tự động cách dòng trên dưới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&lt;strong&gt;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Chữ </a:t>
                      </a:r>
                      <a:r>
                        <a:rPr sz="1300" b="1"/>
                        <a:t>đậm</a:t>
                      </a:r>
                      <a:r>
                        <a:rPr sz="1300" b="0"/>
                        <a:t> — nhấn mạnh nội dung quan trọng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/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&lt;em&gt;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Chữ *nghiêng*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/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&lt;br&gt;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Xuống dòng ngay tại chỗ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Thẻ rỗng, không có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&lt;/br&gt;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&lt;hr&gt;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Kẻ một đường ngang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Thẻ rỗng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Danh sách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9291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&lt;h3&gt;Danh sách không thứ tự (ul)&lt;/h3&gt;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&lt;li&gt;Bút bi&lt;/li&gt;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&lt;li&gt;Vở ô ly&lt;/li&gt;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&lt;li&gt;Thước kẻ&lt;/li&gt;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&lt;/ul&gt;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&lt;h3&gt;Danh sách có thứ tự (ol)&lt;/h3&gt;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&lt;ol&gt;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&lt;li&gt;Chọn sản phẩm&lt;/li&gt;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&lt;li&gt;Thêm vào giỏ&lt;/li&gt;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&lt;li&gt;Thanh toán&lt;/li&gt;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&lt;/ol&gt;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Danh sách (2/3)</a:t>
            </a:r>
          </a:p>
        </p:txBody>
      </p:sp>
      <p:pic>
        <p:nvPicPr>
          <p:cNvPr id="3" name="Picture 2" descr="buoi01b-danhs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53" y="1280160"/>
            <a:ext cx="5125692" cy="4873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0877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66666"/>
                </a:solidFill>
              </a:rPr>
              <a:t>Kết quả thẻ danh sách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Danh sách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&lt;ul&gt;</a:t>
            </a:r>
            <a:r>
              <a:rPr sz="2000" b="0"/>
              <a:t> = *unordered list* → hiện dấu chấm tròn.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&lt;ol&gt;</a:t>
            </a:r>
            <a:r>
              <a:rPr sz="2000" b="0"/>
              <a:t> = *ordered list* → hiện số thứ tự 1, 2, 3.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&lt;li&gt;</a:t>
            </a:r>
            <a:r>
              <a:rPr sz="2000" b="0"/>
              <a:t> = *list item* — </a:t>
            </a:r>
            <a:r>
              <a:rPr sz="2000" b="1"/>
              <a:t>mỗi mục một thẻ</a:t>
            </a:r>
            <a:r>
              <a:rPr sz="2000" b="0"/>
              <a:t>, luôn nằm trong </a:t>
            </a:r>
            <a:r>
              <a:rPr sz="2000" b="0">
                <a:latin typeface="Consolas"/>
                <a:ea typeface="Consolas"/>
                <a:cs typeface="Consolas"/>
              </a:rPr>
              <a:t>&lt;ul&gt;</a:t>
            </a:r>
            <a:r>
              <a:rPr sz="2000" b="0"/>
              <a:t> hoặc </a:t>
            </a:r>
            <a:r>
              <a:rPr sz="2000" b="0">
                <a:latin typeface="Consolas"/>
                <a:ea typeface="Consolas"/>
                <a:cs typeface="Consolas"/>
              </a:rPr>
              <a:t>&lt;ol&gt;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6. Bảng — nhóm thẻ quan trọng nhất của khóa này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Từ buổi 4, mọi danh sách sản phẩm lấy từ MySQL đều được PHP in ra dưới dạng bảng.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70383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&lt;table&gt;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&lt;tr&gt;&lt;th&gt;ID&lt;/th&gt;&lt;th&gt;Tên sản phẩm&lt;/th&gt;&lt;th&gt;Giá&lt;/th&gt;&lt;/tr&gt;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&lt;tr&gt;&lt;td&gt;1&lt;/td&gt;&lt;td&gt;Bút bi&lt;/td&gt;&lt;td&gt;5.000 đ&lt;/td&gt;&lt;/tr&gt;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&lt;tr&gt;&lt;td&gt;2&lt;/td&gt;&lt;td&gt;Vở ô ly&lt;/td&gt;&lt;td&gt;8.000 đ&lt;/td&gt;&lt;/tr&gt;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&lt;tr&gt;&lt;td&gt;3&lt;/td&gt;&lt;td&gt;Thước kẻ&lt;/td&gt;&lt;td&gt;3.000 đ&lt;/td&gt;&lt;/tr&gt;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&lt;/table&gt;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6. Bảng — nhóm thẻ quan trọng nhất của khóa này (2/4)</a:t>
            </a:r>
          </a:p>
        </p:txBody>
      </p:sp>
      <p:pic>
        <p:nvPicPr>
          <p:cNvPr id="3" name="Picture 2" descr="buoi01b-b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6" y="1280160"/>
            <a:ext cx="7990207" cy="4873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0877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66666"/>
                </a:solidFill>
              </a:rPr>
              <a:t>Kết quả thẻ bảng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6. Bảng — nhóm thẻ quan trọng nhất của khóa này (3/4)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Thẻ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Viết tắt của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Là gì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&lt;table&gt;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table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Cả cái bảng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&lt;tr&gt;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t</a:t>
                      </a:r>
                      <a:r>
                        <a:rPr sz="1300" b="0"/>
                        <a:t>able </a:t>
                      </a:r>
                      <a:r>
                        <a:rPr sz="1300" b="1"/>
                        <a:t>r</a:t>
                      </a:r>
                      <a:r>
                        <a:rPr sz="1300" b="0"/>
                        <a:t>ow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Một </a:t>
                      </a:r>
                      <a:r>
                        <a:rPr sz="1300" b="1"/>
                        <a:t>hàng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&lt;th&gt;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t</a:t>
                      </a:r>
                      <a:r>
                        <a:rPr sz="1300" b="0"/>
                        <a:t>able </a:t>
                      </a:r>
                      <a:r>
                        <a:rPr sz="1300" b="1"/>
                        <a:t>h</a:t>
                      </a:r>
                      <a:r>
                        <a:rPr sz="1300" b="0"/>
                        <a:t>eader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Một ô </a:t>
                      </a:r>
                      <a:r>
                        <a:rPr sz="1300" b="1"/>
                        <a:t>tiêu đề</a:t>
                      </a:r>
                      <a:r>
                        <a:rPr sz="1300" b="0"/>
                        <a:t> (tự in đậm, canh giữa)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&lt;td&gt;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t</a:t>
                      </a:r>
                      <a:r>
                        <a:rPr sz="1300" b="0"/>
                        <a:t>able </a:t>
                      </a:r>
                      <a:r>
                        <a:rPr sz="1300" b="1"/>
                        <a:t>d</a:t>
                      </a:r>
                      <a:r>
                        <a:rPr sz="1300" b="0"/>
                        <a:t>ata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Một ô </a:t>
                      </a:r>
                      <a:r>
                        <a:rPr sz="1300" b="1"/>
                        <a:t>dữ liệu</a:t>
                      </a:r>
                      <a:r>
                        <a:rPr sz="1300" b="0"/>
                        <a:t> thường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6. Bảng — nhóm thẻ quan trọng nhất của khóa này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Quy tắc duy nhất cần nhớ:</a:t>
            </a:r>
            <a:r>
              <a:rPr sz="2000" b="0"/>
              <a:t> ô (</a:t>
            </a:r>
            <a:r>
              <a:rPr sz="2000" b="0">
                <a:latin typeface="Consolas"/>
                <a:ea typeface="Consolas"/>
                <a:cs typeface="Consolas"/>
              </a:rPr>
              <a:t>&lt;th&gt;</a:t>
            </a:r>
            <a:r>
              <a:rPr sz="2000" b="0"/>
              <a:t>/</a:t>
            </a:r>
            <a:r>
              <a:rPr sz="2000" b="0">
                <a:latin typeface="Consolas"/>
                <a:ea typeface="Consolas"/>
                <a:cs typeface="Consolas"/>
              </a:rPr>
              <a:t>&lt;td&gt;</a:t>
            </a:r>
            <a:r>
              <a:rPr sz="2000" b="0"/>
              <a:t>) luôn nằm trong hàng (</a:t>
            </a:r>
            <a:r>
              <a:rPr sz="2000" b="0">
                <a:latin typeface="Consolas"/>
                <a:ea typeface="Consolas"/>
                <a:cs typeface="Consolas"/>
              </a:rPr>
              <a:t>&lt;tr&gt;</a:t>
            </a:r>
            <a:r>
              <a:rPr sz="2000" b="0"/>
              <a:t>), hàng luôn nằm trong </a:t>
            </a:r>
            <a:r>
              <a:rPr sz="2000" b="0">
                <a:latin typeface="Consolas"/>
                <a:ea typeface="Consolas"/>
                <a:cs typeface="Consolas"/>
              </a:rPr>
              <a:t>&lt;table&gt;</a:t>
            </a:r>
            <a:r>
              <a:rPr sz="2000" b="0"/>
              <a:t>. Số ô của mọi hàng phải </a:t>
            </a:r>
            <a:r>
              <a:rPr sz="2000" b="1"/>
              <a:t>bằng nhau</a:t>
            </a:r>
            <a:r>
              <a:rPr sz="2000" b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0">
                <a:solidFill>
                  <a:srgbClr val="666666"/>
                </a:solidFill>
              </a:rPr>
              <a:t>Muốn có đường viền nhanh mà chưa học CSS: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&lt;table border="1" cellpadding="8"&gt;</a:t>
            </a:r>
            <a:r>
              <a:rPr sz="1900" i="1" b="0">
                <a:solidFill>
                  <a:srgbClr val="666666"/>
                </a:solidFill>
              </a:rPr>
              <a:t>. Đó chính là cách viết dùng trong code demo buổi 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 Form — cách người dùng gửi dữ liệu về server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Buổi 5 sẽ xử lý form bằng PHP. Ở đây chỉ cần đọc hiểu cấu trúc.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4809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 action="luu.php"&gt;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 for="ten"&gt;Tên sản phẩm&lt;/label&gt;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&lt;input type="text" id="ten" name="ten" value="Bút bi Thiên Long"&gt;&lt;br&gt;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 for="gia"&gt;Giá&lt;/label&gt;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&lt;input type="number" id="gia" name="gia" value="5000"&gt;&lt;br&gt;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 for="loai"&gt;Danh mục&lt;/label&gt;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&lt;select id="loai" name="loai"&gt;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&lt;option&gt;Bút viết&lt;/option&gt;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&lt;option&gt;Vở giấy&lt;/option&gt;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&lt;/select&gt;&lt;br&gt;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 for="mota"&gt;Mô tả&lt;/label&gt;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&lt;textarea id="mota" name="mota" rows="2" cols="28"&gt;Bút bi mực xanh&lt;/textarea&gt;&lt;br&gt;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&lt;label&gt;Còn hàng&lt;/label&gt;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&lt;input type="checkbox" name="conhang" checked&gt;&lt;br&gt;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&lt;button type="submit"&gt;Lưu sản phẩm&lt;/button&gt;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 Form — cách người dùng gửi dữ liệu về server (2/4)</a:t>
            </a:r>
          </a:p>
        </p:txBody>
      </p:sp>
      <p:pic>
        <p:nvPicPr>
          <p:cNvPr id="3" name="Picture 2" descr="buoi01b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1" y="1280160"/>
            <a:ext cx="7570876" cy="4873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0877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66666"/>
                </a:solidFill>
              </a:rPr>
              <a:t>Kết quả các thẻ form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 Form — cách người dùng gửi dữ liệu về server (3/4)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Thẻ / thuộc tính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Vai trò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&lt;form action="luu.php" method="post"&gt;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Bấm nút gửi thì dữ liệu chạy tới file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luu.php</a:t>
                      </a:r>
                      <a:r>
                        <a:rPr sz="1000" b="0"/>
                        <a:t> bằng phương thức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POST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&lt;input type="text"&gt;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Ô nhập chữ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&lt;input type="number"&gt;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Ô nhập số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&lt;input type="password"&gt;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Ô mật khẩu, hiện dấu chấm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&lt;input type="checkbox"&gt;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Ô tích chọn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&lt;select&gt;</a:t>
                      </a:r>
                      <a:r>
                        <a:rPr sz="1000" b="0"/>
                        <a:t> +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&lt;option&gt;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Danh sách xổ xuống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&lt;textarea&gt;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Ô nhập nhiều dòng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&lt;button type="submit"&gt;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Nút gửi form đi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&lt;label for="ten"&gt;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Nhãn;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for</a:t>
                      </a:r>
                      <a:r>
                        <a:rPr sz="1000" b="0"/>
                        <a:t> trùng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  <a:r>
                        <a:rPr sz="1000" b="0"/>
                        <a:t> của ô → bấm vào chữ là con trỏ nhảy vào ô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7. Form — cách người dùng gửi dữ liệu về server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Thuộc tính quan trọng nhất là</a:t>
            </a:r>
            <a:r>
              <a:rPr sz="1900" i="1" b="0">
                <a:solidFill>
                  <a:srgbClr val="666666"/>
                </a:solidFill>
              </a:rPr>
              <a:t>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900" i="1" b="0">
                <a:solidFill>
                  <a:srgbClr val="666666"/>
                </a:solidFill>
              </a:rPr>
              <a:t>. PHP đọc dữ liệu form bằng đúng tên đó: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&lt;input name="gia"&gt;</a:t>
            </a:r>
            <a:r>
              <a:rPr sz="1900" i="1" b="0">
                <a:solidFill>
                  <a:srgbClr val="666666"/>
                </a:solidFill>
              </a:rPr>
              <a:t> → phía PHP lấy bằng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$_POST["gia"]</a:t>
            </a:r>
            <a:r>
              <a:rPr sz="1900" i="1" b="0">
                <a:solidFill>
                  <a:srgbClr val="666666"/>
                </a:solidFill>
              </a:rPr>
              <a:t>. Quên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900" i="1" b="0">
                <a:solidFill>
                  <a:srgbClr val="666666"/>
                </a:solidFill>
              </a:rPr>
              <a:t> thì ô đó </a:t>
            </a:r>
            <a:r>
              <a:rPr sz="1900" i="1" b="1">
                <a:solidFill>
                  <a:srgbClr val="666666"/>
                </a:solidFill>
              </a:rPr>
              <a:t>không gửi gì cả</a:t>
            </a:r>
            <a:r>
              <a:rPr sz="1900" i="1" b="0">
                <a:solidFill>
                  <a:srgbClr val="666666"/>
                </a:solidFill>
              </a:rPr>
              <a:t>, và đây là lỗi học viên hay mắc nhất ở buổi 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8. Thẻ bố cục: div và span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Hai thẻ này </a:t>
            </a:r>
            <a:r>
              <a:rPr sz="1500" b="1"/>
              <a:t>không có hình dạng riêng</a:t>
            </a:r>
            <a:r>
              <a:rPr sz="1500" b="0"/>
              <a:t>, chỉ dùng để gom nhóm rồi tô màu / xếp chỗ bằng CSS.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2273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class="the-san-pham"&gt;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&lt;h3&gt;Bút bi Thiên Long&lt;/h3&gt;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&lt;p&gt;Giá: &lt;span class="gia"&gt;5.000 đ&lt;/span&gt;&lt;/p&gt;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8. Thẻ bố cục: div và span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Thẻ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Chiếm chỗ thế nào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khi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&lt;div&gt;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Cả một dòng</a:t>
                      </a:r>
                      <a:r>
                        <a:rPr sz="1300" b="0"/>
                        <a:t> (block)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Gom một khối lớn: thẻ sản phẩm, thanh menu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&lt;span&gt;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Chỉ vừa nội dung</a:t>
                      </a:r>
                      <a:r>
                        <a:rPr sz="1300" b="0"/>
                        <a:t> (inline)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Bọc vài chữ giữa câu để tô màu riêng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 Lập trình web là gì? — nhìn lại bức tranh lớn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Các mục 2–8 vừa học là </a:t>
            </a:r>
            <a:r>
              <a:rPr sz="2000" b="1"/>
              <a:t>từ vựng</a:t>
            </a:r>
            <a:r>
              <a:rPr sz="2000" b="0"/>
              <a:t> (từng thẻ riêng lẻ). Mục này ghép chúng lại để trả lời câu hỏi lớn hơn: khi nói "lập trình web", ta thực sự đang làm 4 việc gì?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9.1. Việc 1 — Hiển thị trang: bố cục (layout) và form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385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HTML dùng để hiển thị theo hai chiều: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14016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Chiều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Mục đích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Thẻ đã học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/>
                        <a:t>Hiển thị nội dung</a:t>
                      </a:r>
                      <a:r>
                        <a:rPr sz="1100" b="0"/>
                        <a:t> (một chiều: server → người xem)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Trình bày chữ, ảnh, bảng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&lt;h1&gt;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&lt;p&gt;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&lt;ul&gt;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&lt;table&gt;</a:t>
                      </a:r>
                      <a:r>
                        <a:rPr sz="1100" b="0"/>
                        <a:t> (mục 4–6)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/>
                        <a:t>Hiển thị để nhận input</a:t>
                      </a:r>
                      <a:r>
                        <a:rPr sz="1100" b="0"/>
                        <a:t> (ngược chiều: người xem → server)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Tạo chỗ cho người dùng gõ/chọn rồi gửi đi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&lt;form&gt;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&lt;input&gt;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&lt;select&gt;</a:t>
                      </a:r>
                      <a:r>
                        <a:rPr sz="1100" b="0"/>
                        <a:t> (mục 7)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9.1. Việc 1 — Hiển thị trang: bố cục (layout) và form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Bố cục (layout) là cách </a:t>
            </a:r>
            <a:r>
              <a:rPr sz="2000" b="1"/>
              <a:t>chia trang thành vùng</a:t>
            </a:r>
            <a:r>
              <a:rPr sz="2000" b="0"/>
              <a:t> để mắt người xem dễ định vị, làm bằng </a:t>
            </a:r>
            <a:r>
              <a:rPr sz="2000" b="0">
                <a:latin typeface="Consolas"/>
                <a:ea typeface="Consolas"/>
                <a:cs typeface="Consolas"/>
              </a:rPr>
              <a:t>&lt;div&gt;</a:t>
            </a:r>
            <a:r>
              <a:rPr sz="2000" b="0"/>
              <a:t> (mục 8) kết hợp CSS (học ở khóa trước — không nhắc lại ở đây):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9.1. Việc 1 — Hiển thị trang: bố cục (layout) và form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9420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┌─────────────── header 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├─────────┬─────────────────┬──────────┤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sidebar │      content     │  sidebar 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(menu)  │  (bảng sản phẩm, │ (giỏ hàng)│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  │   form thêm SP)  │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├─────────┴─────────────────┴──────────┤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└─────────────── footer ────────────────┘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9.1. Việc 1 — Hiển thị trang: bố cục (layout) và form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Mỗi vùng trong hình trên chỉ là một </a:t>
            </a:r>
            <a:r>
              <a:rPr sz="2000" b="0">
                <a:latin typeface="Consolas"/>
                <a:ea typeface="Consolas"/>
                <a:cs typeface="Consolas"/>
              </a:rPr>
              <a:t>&lt;div&gt;</a:t>
            </a:r>
            <a:r>
              <a:rPr sz="2000" b="0"/>
              <a:t> mang một </a:t>
            </a:r>
            <a:r>
              <a:rPr sz="2000" b="0">
                <a:latin typeface="Consolas"/>
                <a:ea typeface="Consolas"/>
                <a:cs typeface="Consolas"/>
              </a:rPr>
              <a:t>class</a:t>
            </a:r>
            <a:r>
              <a:rPr sz="2000" b="0"/>
              <a:t> riêng — không có thẻ HTML nào tên là </a:t>
            </a:r>
            <a:r>
              <a:rPr sz="2000" b="0">
                <a:latin typeface="Consolas"/>
                <a:ea typeface="Consolas"/>
                <a:cs typeface="Consolas"/>
              </a:rPr>
              <a:t>&lt;sidebar&gt;</a:t>
            </a:r>
            <a:r>
              <a:rPr sz="2000" b="0"/>
              <a:t> hay </a:t>
            </a:r>
            <a:r>
              <a:rPr sz="2000" b="0">
                <a:latin typeface="Consolas"/>
                <a:ea typeface="Consolas"/>
                <a:cs typeface="Consolas"/>
              </a:rPr>
              <a:t>&lt;header-vung&gt;</a:t>
            </a:r>
            <a:r>
              <a:rPr sz="2000" b="0"/>
              <a:t> cả (</a:t>
            </a:r>
            <a:r>
              <a:rPr sz="2000" b="0">
                <a:latin typeface="Consolas"/>
                <a:ea typeface="Consolas"/>
                <a:cs typeface="Consolas"/>
              </a:rPr>
              <a:t>&lt;header&gt;</a:t>
            </a:r>
            <a:r>
              <a:rPr sz="2000" b="0"/>
              <a:t>/</a:t>
            </a:r>
            <a:r>
              <a:rPr sz="2000" b="0">
                <a:latin typeface="Consolas"/>
                <a:ea typeface="Consolas"/>
                <a:cs typeface="Consolas"/>
              </a:rPr>
              <a:t>&lt;footer&gt;</a:t>
            </a:r>
            <a:r>
              <a:rPr sz="2000" b="0"/>
              <a:t> có tồn tại như thẻ ngữ nghĩa nhưng bản chất vẫn hiển thị như </a:t>
            </a:r>
            <a:r>
              <a:rPr sz="2000" b="0">
                <a:latin typeface="Consolas"/>
                <a:ea typeface="Consolas"/>
                <a:cs typeface="Consolas"/>
              </a:rPr>
              <a:t>&lt;div&gt;</a:t>
            </a:r>
            <a:r>
              <a:rPr sz="2000" b="0"/>
              <a:t>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9.2. Việc 2 — Xử lý sự kiện (event): ai phản ứng với ai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Tự thân HTML </a:t>
            </a:r>
            <a:r>
              <a:rPr sz="2000" b="1"/>
              <a:t>đứng yên</a:t>
            </a:r>
            <a:r>
              <a:rPr sz="2000" b="0"/>
              <a:t> — nó chỉ hiển thị. Muốn trang "sống" (bấm vào có phản ứng), phải bắt được </a:t>
            </a:r>
            <a:r>
              <a:rPr sz="2000" b="1"/>
              <a:t>sự kiện</a:t>
            </a:r>
            <a:r>
              <a:rPr sz="2000" b="0"/>
              <a:t> (event) mà trình duyệt phát ra khi người dùng thao tác: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9.2. Việc 2 — Xử lý sự kiện (event): ai phản ứng với ai (2/5)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Sự kiện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Phát sinh khi nào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click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Bấm chuột vào một phần tử (nút, link, ô…)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submit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Bấm nút gửi trong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&lt;form&gt;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input</a:t>
                      </a:r>
                      <a:r>
                        <a:rPr sz="1300" b="0"/>
                        <a:t> /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change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Gõ chữ / đổi giá trị trong ô nhập,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&lt;select&gt;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mouseover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Rê chuột qua một phần tử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load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Trang (hoặc ảnh) tải xong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9.2. Việc 2 — Xử lý sự kiện (event): ai phản ứng với ai (3/5)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Buổi 6–7 sẽ dùng Vue để bắt các sự kiện này (</a:t>
            </a:r>
            <a:r>
              <a:rPr sz="1600" b="0">
                <a:latin typeface="Consolas"/>
                <a:ea typeface="Consolas"/>
                <a:cs typeface="Consolas"/>
              </a:rPr>
              <a:t>@click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@submit</a:t>
            </a:r>
            <a:r>
              <a:rPr sz="1600" b="0"/>
              <a:t>…). Ở đây chỉ cần phân biệt </a:t>
            </a:r>
            <a:r>
              <a:rPr sz="1600" b="1"/>
              <a:t>ba tầng tương tác</a:t>
            </a:r>
            <a:r>
              <a:rPr sz="1600" b="0"/>
              <a:t>, từ hẹp đến rộng:</a:t>
            </a:r>
          </a:p>
          <a:p>
            <a:pPr>
              <a:spcAft>
                <a:spcPts val="600"/>
              </a:spcAft>
            </a:pPr>
            <a:r>
              <a:rPr sz="1600" b="1"/>
              <a:t>Nội tại của một item</a:t>
            </a:r>
            <a:r>
              <a:rPr sz="1600" b="0"/>
              <a:t> — sự kiện chỉ ảnh hưởng đúng phần tử đó, không cần</a:t>
            </a:r>
            <a:r>
              <a:rPr sz="1600" b="0"/>
              <a:t> </a:t>
            </a:r>
            <a:r>
              <a:rPr sz="1600" b="0"/>
              <a:t>hỏi ai khác. Ví dụ: gõ vào ô số điện thoại, tự đổi viền đỏ nếu sai định dạng.</a:t>
            </a:r>
          </a:p>
          <a:p>
            <a:pPr>
              <a:spcAft>
                <a:spcPts val="600"/>
              </a:spcAft>
            </a:pPr>
            <a:r>
              <a:rPr sz="1600" b="1"/>
              <a:t>Item này với item khác</a:t>
            </a:r>
            <a:r>
              <a:rPr sz="1600" b="0"/>
              <a:t> (vẫn trong cùng một trang, chưa cần server) —</a:t>
            </a:r>
            <a:r>
              <a:rPr sz="1600" b="0"/>
              <a:t> </a:t>
            </a:r>
            <a:r>
              <a:rPr sz="1600" b="0"/>
              <a:t>ví dụ: tick checkbox "chọn tất cả" thì tick luôn toàn bộ checkbox còn lại;</a:t>
            </a:r>
            <a:r>
              <a:rPr sz="1600" b="0"/>
              <a:t> </a:t>
            </a:r>
            <a:r>
              <a:rPr sz="1600" b="0"/>
              <a:t>đổi </a:t>
            </a:r>
            <a:r>
              <a:rPr sz="1600" b="0">
                <a:latin typeface="Consolas"/>
                <a:ea typeface="Consolas"/>
                <a:cs typeface="Consolas"/>
              </a:rPr>
              <a:t>&lt;select&gt;</a:t>
            </a:r>
            <a:r>
              <a:rPr sz="1600" b="0"/>
              <a:t> "Tỉnh" thì </a:t>
            </a:r>
            <a:r>
              <a:rPr sz="1600" b="0">
                <a:latin typeface="Consolas"/>
                <a:ea typeface="Consolas"/>
                <a:cs typeface="Consolas"/>
              </a:rPr>
              <a:t>&lt;select&gt;</a:t>
            </a:r>
            <a:r>
              <a:rPr sz="1600" b="0"/>
              <a:t> "Huyện" tự lọc lại theo dữ liệu đã</a:t>
            </a:r>
            <a:r>
              <a:rPr sz="1600" b="0"/>
              <a:t> </a:t>
            </a:r>
            <a:r>
              <a:rPr sz="1600" b="0"/>
              <a:t>có sẵn trên trang.</a:t>
            </a:r>
          </a:p>
          <a:p>
            <a:pPr>
              <a:spcAft>
                <a:spcPts val="600"/>
              </a:spcAft>
            </a:pPr>
            <a:r>
              <a:rPr sz="1600" b="1"/>
              <a:t>Frontend với backend</a:t>
            </a:r>
            <a:r>
              <a:rPr sz="1600" b="0"/>
              <a:t> — khi dữ liệu cần lấy/lưu ở server, phải gửi</a:t>
            </a:r>
            <a:r>
              <a:rPr sz="1600" b="0"/>
              <a:t> </a:t>
            </a:r>
            <a:r>
              <a:rPr sz="1600" b="0"/>
              <a:t>request thật. Có </a:t>
            </a:r>
            <a:r>
              <a:rPr sz="1600" b="1"/>
              <a:t>hai cách hoàn toàn khác nhau</a:t>
            </a:r>
            <a:r>
              <a:rPr sz="1600" b="0"/>
              <a:t> để làm việc này, và đây</a:t>
            </a:r>
            <a:r>
              <a:rPr sz="1600" b="0"/>
              <a:t> </a:t>
            </a:r>
            <a:r>
              <a:rPr sz="1600" b="0"/>
              <a:t>là điểm hay nhầm nhất: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9.2. Việc 2 — Xử lý sự kiện (event): ai phản ứng với ai (4/5)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Tạo trang web ban đầu (link / form submit)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Gọi API (fetch / AJAX)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Cách kích hoạt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Bấm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&lt;a href&gt;</a:t>
                      </a:r>
                      <a:r>
                        <a:rPr sz="1100" b="0"/>
                        <a:t>, submit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&lt;form&gt;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JS tự gọi ngầm, ví dụ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fetch("api/...")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Server trả về gì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Cả một trang HTML mới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Thường là </a:t>
                      </a:r>
                      <a:r>
                        <a:rPr sz="1100" b="1"/>
                        <a:t>JSON</a:t>
                      </a:r>
                      <a:r>
                        <a:rPr sz="1100" b="0"/>
                        <a:t> — chỉ dữ liệu thô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Trình duyệt có tải lại trang không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Có</a:t>
                      </a:r>
                      <a:r>
                        <a:rPr sz="1100" b="0"/>
                        <a:t> — trắng trang, mất hết trạng thái JS đang chạy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Không</a:t>
                      </a:r>
                      <a:r>
                        <a:rPr sz="1100" b="0"/>
                        <a:t> — trang cũ vẫn còn, chỉ có JS tự sửa một phần DOM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Ai dựng ra giao diện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Server (PHP) ghép sẵn HTML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JS ở trình duyệt tự "vẽ" HTML từ JSON nhận được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Khóa học dùng ở đâu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Buổi 1–5 (PHP render trực tiếp)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Buổi 6–10, rõ nhất ở buổi 8 (Vue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fetch</a:t>
                      </a:r>
                      <a:r>
                        <a:rPr sz="1100" b="0"/>
                        <a:t> API)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9.2. Việc 2 — Xử lý sự kiện (event): ai phản ứng với ai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0">
                <a:solidFill>
                  <a:srgbClr val="666666"/>
                </a:solidFill>
              </a:rPr>
              <a:t>Nói ngắn gọn: </a:t>
            </a:r>
            <a:r>
              <a:rPr sz="1900" i="1" b="1">
                <a:solidFill>
                  <a:srgbClr val="666666"/>
                </a:solidFill>
              </a:rPr>
              <a:t>link/form submit = xin một trang mới toàn bộ</a:t>
            </a:r>
            <a:r>
              <a:rPr sz="1900" i="1" b="0">
                <a:solidFill>
                  <a:srgbClr val="666666"/>
                </a:solidFill>
              </a:rPr>
              <a:t>; </a:t>
            </a:r>
            <a:r>
              <a:rPr sz="1900" i="1" b="1">
                <a:solidFill>
                  <a:srgbClr val="666666"/>
                </a:solidFill>
              </a:rPr>
              <a:t>gọi API = chỉ xin dữ liệu, tự lo phần hiển thị</a:t>
            </a:r>
            <a:r>
              <a:rPr sz="1900" i="1" b="0">
                <a:solidFill>
                  <a:srgbClr val="666666"/>
                </a:solidFill>
              </a:rPr>
              <a:t>. Nhầm hai việc này là nhầm luôn cách code hoạt động — lỗi rất phổ biến khi mới học buổi 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9.3. Việc 3 — Trang được "vẽ" ở đâu: SSR và CSR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Câu hỏi việc 2 vừa nêu dẫn thẳng tới khái niệm này: </a:t>
            </a:r>
            <a:r>
              <a:rPr sz="1500" b="1"/>
              <a:t>ai là người ghép dữ liệu thành HTML</a:t>
            </a:r>
            <a:r>
              <a:rPr sz="1500" b="0"/>
              <a:t> — server hay trình duyệt?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75688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Server-side rendering (SSR)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Client-side rendering (CSR)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Ai ghép ra HTML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Server</a:t>
                      </a:r>
                      <a:r>
                        <a:rPr sz="1100" b="0"/>
                        <a:t> (PHP) ghép dữ liệu + HTML rồi mới gửi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Trình duyệt</a:t>
                      </a:r>
                      <a:r>
                        <a:rPr sz="1100" b="0"/>
                        <a:t> (JS/Vue) tự ghép, sau khi gọi API lấy JSON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Trình duyệt nhận được gì lúc đầu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Một trang HTML </a:t>
                      </a:r>
                      <a:r>
                        <a:rPr sz="1100" b="1"/>
                        <a:t>đã đầy đủ nội dung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Một trang gần như </a:t>
                      </a:r>
                      <a:r>
                        <a:rPr sz="1100" b="1"/>
                        <a:t>trống</a:t>
                      </a:r>
                      <a:r>
                        <a:rPr sz="1100" b="0"/>
                        <a:t> + file JS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Tắt JS trình duyệt thì sao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Vẫn xem được nội dung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Trang trắng, không hiển thị gì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Khóa học dùng ở đâu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Buổi 1–5 (PHP render trực tiếp ra HTML)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Buổi 6–10 (Vue)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9.3. Việc 3 — Trang được "vẽ" ở đâu: SSR và CSR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Đây chính là lý do khóa học </a:t>
            </a:r>
            <a:r>
              <a:rPr sz="2000" b="1"/>
              <a:t>đi theo đúng thứ tự SSR trước, CSR sau</a:t>
            </a:r>
            <a:r>
              <a:rPr sz="2000" b="0"/>
              <a:t>: học xong cách server tự dựng HTML (dễ hình dung), rồi mới học cách để trình duyệt tự làm việc đó.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9.4. Việc 4 — Nhắc lại: HTML là một cây DOM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Khi trình duyệt đọc file </a:t>
            </a:r>
            <a:r>
              <a:rPr sz="1800" b="0">
                <a:latin typeface="Consolas"/>
                <a:ea typeface="Consolas"/>
                <a:cs typeface="Consolas"/>
              </a:rPr>
              <a:t>.html</a:t>
            </a:r>
            <a:r>
              <a:rPr sz="1800" b="0"/>
              <a:t>, nó </a:t>
            </a:r>
            <a:r>
              <a:rPr sz="1800" b="1"/>
              <a:t>không giữ nguyên dạng chữ</a:t>
            </a:r>
            <a:r>
              <a:rPr sz="1800" b="0"/>
              <a:t> — nó dựng lại thành một cấu trúc cây gọi là </a:t>
            </a:r>
            <a:r>
              <a:rPr sz="1800" b="1"/>
              <a:t>DOM</a:t>
            </a:r>
            <a:r>
              <a:rPr sz="1800" b="0"/>
              <a:t> (Document Object Model): mỗi thẻ trở thành một </a:t>
            </a:r>
            <a:r>
              <a:rPr sz="1800" b="1"/>
              <a:t>nút</a:t>
            </a:r>
            <a:r>
              <a:rPr sz="1800" b="0"/>
              <a:t> (node), thẻ nào lồng trong thẻ nào thì làm </a:t>
            </a:r>
            <a:r>
              <a:rPr sz="1800" b="1"/>
              <a:t>con</a:t>
            </a:r>
            <a:r>
              <a:rPr sz="1800" b="0"/>
              <a:t> của nút đó. Đây chính là lý do mục 2 nhấn mạnh "thẻ lồng nhau phải đúng thứ tự" — lồng sai là cây bị méo.</a:t>
            </a:r>
          </a:p>
          <a:p>
            <a:pPr>
              <a:spcAft>
                <a:spcPts val="800"/>
              </a:spcAft>
            </a:pPr>
            <a:r>
              <a:rPr sz="1800" b="0"/>
              <a:t>Ví dụ cây DOM của file </a:t>
            </a:r>
            <a:r>
              <a:rPr sz="1800" b="0">
                <a:latin typeface="Consolas"/>
                <a:ea typeface="Consolas"/>
                <a:cs typeface="Consolas"/>
              </a:rPr>
              <a:t>khung.html</a:t>
            </a:r>
            <a:r>
              <a:rPr sz="1800" b="0"/>
              <a:t> ở mục 3, ghép thêm bảng ở mục 6: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9.4. Việc 4 — Nhắc lại: HTML là một cây DOM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├── meta (charset="utf-8")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└── title ("Mini Shop")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└── body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├── h1 ("Xin chào")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└── 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├── tr            ← hàng tiêu đề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│   ├── th ("ID")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│   ├── th ("Tên sản phẩm")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│   └── th ("Giá")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└── tr            ← hàng dữ liệu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├── td ("1")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├── td ("Bút bi")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└── td ("5.000 đ")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9.4. Việc 4 — Nhắc lại: HTML là một cây DOM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/>
              <a:t>Đọc cây này theo hai chiều mà JS/Vue hay dùng:</a:t>
            </a:r>
          </a:p>
          <a:p>
            <a:pPr>
              <a:spcAft>
                <a:spcPts val="600"/>
              </a:spcAft>
            </a:pPr>
            <a:r>
              <a:rPr sz="1400" b="1"/>
              <a:t>Đi xuống (children):</a:t>
            </a:r>
            <a:r>
              <a:rPr sz="1400" b="0"/>
              <a:t> từ </a:t>
            </a:r>
            <a:r>
              <a:rPr sz="1400" b="0">
                <a:latin typeface="Consolas"/>
                <a:ea typeface="Consolas"/>
                <a:cs typeface="Consolas"/>
              </a:rPr>
              <a:t>table</a:t>
            </a:r>
            <a:r>
              <a:rPr sz="1400" b="0"/>
              <a:t> đi xuống từng </a:t>
            </a:r>
            <a:r>
              <a:rPr sz="1400" b="0">
                <a:latin typeface="Consolas"/>
                <a:ea typeface="Consolas"/>
                <a:cs typeface="Consolas"/>
              </a:rPr>
              <a:t>tr</a:t>
            </a:r>
            <a:r>
              <a:rPr sz="1400" b="0"/>
              <a:t>, từ mỗi </a:t>
            </a:r>
            <a:r>
              <a:rPr sz="1400" b="0">
                <a:latin typeface="Consolas"/>
                <a:ea typeface="Consolas"/>
                <a:cs typeface="Consolas"/>
              </a:rPr>
              <a:t>tr</a:t>
            </a:r>
            <a:r>
              <a:rPr sz="1400" b="0"/>
              <a:t> đi xuống</a:t>
            </a:r>
            <a:r>
              <a:rPr sz="1400" b="0"/>
              <a:t> </a:t>
            </a:r>
            <a:r>
              <a:rPr sz="1400" b="0"/>
              <a:t>từng </a:t>
            </a:r>
            <a:r>
              <a:rPr sz="1400" b="0">
                <a:latin typeface="Consolas"/>
                <a:ea typeface="Consolas"/>
                <a:cs typeface="Consolas"/>
              </a:rPr>
              <a:t>td</a:t>
            </a:r>
            <a:r>
              <a:rPr sz="1400" b="0"/>
              <a:t> — cách Vue </a:t>
            </a:r>
            <a:r>
              <a:rPr sz="1400" b="0">
                <a:latin typeface="Consolas"/>
                <a:ea typeface="Consolas"/>
                <a:cs typeface="Consolas"/>
              </a:rPr>
              <a:t>v-for</a:t>
            </a:r>
            <a:r>
              <a:rPr sz="1400" b="0"/>
              <a:t> (buổi 6) lặp qua danh sách sản phẩm để vẽ bảng.</a:t>
            </a:r>
          </a:p>
          <a:p>
            <a:pPr>
              <a:spcAft>
                <a:spcPts val="600"/>
              </a:spcAft>
            </a:pPr>
            <a:r>
              <a:rPr sz="1400" b="1"/>
              <a:t>Đi lên (parent):</a:t>
            </a:r>
            <a:r>
              <a:rPr sz="1400" b="0"/>
              <a:t> từ một </a:t>
            </a:r>
            <a:r>
              <a:rPr sz="1400" b="0">
                <a:latin typeface="Consolas"/>
                <a:ea typeface="Consolas"/>
                <a:cs typeface="Consolas"/>
              </a:rPr>
              <a:t>td</a:t>
            </a:r>
            <a:r>
              <a:rPr sz="1400" b="0"/>
              <a:t> bị bấm, đi ngược lên </a:t>
            </a:r>
            <a:r>
              <a:rPr sz="1400" b="0">
                <a:latin typeface="Consolas"/>
                <a:ea typeface="Consolas"/>
                <a:cs typeface="Consolas"/>
              </a:rPr>
              <a:t>tr</a:t>
            </a:r>
            <a:r>
              <a:rPr sz="1400" b="0"/>
              <a:t> của nó để biết</a:t>
            </a:r>
            <a:r>
              <a:rPr sz="1400" b="0"/>
              <a:t> </a:t>
            </a:r>
            <a:r>
              <a:rPr sz="1400" b="0"/>
              <a:t>"sản phẩm nào vừa được chọn" — cách xử lý sự kiện ở mục 9.2 biết item nào</a:t>
            </a:r>
            <a:r>
              <a:rPr sz="1400" b="0"/>
              <a:t> </a:t>
            </a:r>
            <a:r>
              <a:rPr sz="1400" b="0"/>
              <a:t>vừa tương tác.</a:t>
            </a:r>
          </a:p>
          <a:p>
            <a:pPr>
              <a:spcAft>
                <a:spcPts val="800"/>
              </a:spcAft>
            </a:pPr>
            <a:r>
              <a:rPr sz="1400" b="1"/>
              <a:t>Điều kiện để có một cây DOM tốt</a:t>
            </a:r>
            <a:r>
              <a:rPr sz="1400" b="0"/>
              <a:t> (áp dụng lại các quy tắc đã học ở mục 2–3):</a:t>
            </a:r>
          </a:p>
          <a:p>
            <a:pPr>
              <a:spcAft>
                <a:spcPts val="600"/>
              </a:spcAft>
            </a:pPr>
            <a:r>
              <a:rPr sz="1400" b="0"/>
              <a:t>[ ] Mỗi thẻ mở có đúng một thẻ đóng tương ứng (trừ thẻ rỗng như </a:t>
            </a:r>
            <a:r>
              <a:rPr sz="1400" b="0">
                <a:latin typeface="Consolas"/>
                <a:ea typeface="Consolas"/>
                <a:cs typeface="Consolas"/>
              </a:rPr>
              <a:t>&lt;br&gt;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&lt;img&gt;</a:t>
            </a:r>
            <a:r>
              <a:rPr sz="1400" b="0"/>
              <a:t>).</a:t>
            </a:r>
          </a:p>
          <a:p>
            <a:pPr>
              <a:spcAft>
                <a:spcPts val="600"/>
              </a:spcAft>
            </a:pPr>
            <a:r>
              <a:rPr sz="1400" b="0"/>
              <a:t>[ ] Thẻ lồng nhau đúng thứ tự, không lồng chéo.</a:t>
            </a:r>
          </a:p>
          <a:p>
            <a:pPr>
              <a:spcAft>
                <a:spcPts val="600"/>
              </a:spcAft>
            </a:pPr>
            <a:r>
              <a:rPr sz="1400" b="0"/>
              <a:t>[ ] Toàn trang chỉ có </a:t>
            </a:r>
            <a:r>
              <a:rPr sz="1400" b="1"/>
              <a:t>đúng một</a:t>
            </a:r>
            <a:r>
              <a:rPr sz="1400" b="0"/>
              <a:t> </a:t>
            </a:r>
            <a:r>
              <a:rPr sz="1400" b="0">
                <a:latin typeface="Consolas"/>
                <a:ea typeface="Consolas"/>
                <a:cs typeface="Consolas"/>
              </a:rPr>
              <a:t>&lt;html&gt;</a:t>
            </a:r>
            <a:r>
              <a:rPr sz="1400" b="0"/>
              <a:t>, một </a:t>
            </a:r>
            <a:r>
              <a:rPr sz="1400" b="0">
                <a:latin typeface="Consolas"/>
                <a:ea typeface="Consolas"/>
                <a:cs typeface="Consolas"/>
              </a:rPr>
              <a:t>&lt;head&gt;</a:t>
            </a:r>
            <a:r>
              <a:rPr sz="1400" b="0"/>
              <a:t>, một </a:t>
            </a:r>
            <a:r>
              <a:rPr sz="1400" b="0">
                <a:latin typeface="Consolas"/>
                <a:ea typeface="Consolas"/>
                <a:cs typeface="Consolas"/>
              </a:rPr>
              <a:t>&lt;body&gt;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</a:t>
            </a:r>
            <a:r>
              <a:rPr sz="1400" b="0">
                <a:latin typeface="Consolas"/>
                <a:ea typeface="Consolas"/>
                <a:cs typeface="Consolas"/>
              </a:rPr>
              <a:t>id</a:t>
            </a:r>
            <a:r>
              <a:rPr sz="1400" b="0"/>
              <a:t> không được trùng nhau trong cùng một trang (mỗi </a:t>
            </a:r>
            <a:r>
              <a:rPr sz="1400" b="0">
                <a:latin typeface="Consolas"/>
                <a:ea typeface="Consolas"/>
                <a:cs typeface="Consolas"/>
              </a:rPr>
              <a:t>id</a:t>
            </a:r>
            <a:r>
              <a:rPr sz="1400" b="0"/>
              <a:t> là </a:t>
            </a:r>
            <a:r>
              <a:rPr sz="1400" b="1"/>
              <a:t>duy nhất</a:t>
            </a:r>
            <a:r>
              <a:rPr sz="1400" b="0"/>
              <a:t>).</a:t>
            </a:r>
          </a:p>
          <a:p>
            <a:pPr>
              <a:spcAft>
                <a:spcPts val="600"/>
              </a:spcAft>
            </a:pPr>
            <a:r>
              <a:rPr sz="1400" b="0"/>
              <a:t>[ ] Giá trị thuộc tính luôn để trong dấu nháy: </a:t>
            </a:r>
            <a:r>
              <a:rPr sz="1400" b="0">
                <a:latin typeface="Consolas"/>
                <a:ea typeface="Consolas"/>
                <a:cs typeface="Consolas"/>
              </a:rPr>
              <a:t>class="gia"</a:t>
            </a:r>
            <a:r>
              <a:rPr sz="1400" b="0"/>
              <a:t>, không viết </a:t>
            </a:r>
            <a:r>
              <a:rPr sz="1400" b="0">
                <a:latin typeface="Consolas"/>
                <a:ea typeface="Consolas"/>
                <a:cs typeface="Consolas"/>
              </a:rPr>
              <a:t>class=gia</a:t>
            </a:r>
            <a:r>
              <a:rPr sz="1400" b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9.4. Việc 4 — Nhắc lại: HTML là một cây DOM (tiếp)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DOM méo không phải lúc nào cũng báo lỗi đỏ — trình duyệt thường </a:t>
            </a:r>
            <a:r>
              <a:rPr sz="2000" b="1"/>
              <a:t>tự đoán và sửa ngầm</a:t>
            </a:r>
            <a:r>
              <a:rPr sz="2000" b="0"/>
              <a:t> theo cách riêng của từng hãng, dẫn tới bug "máy tôi chạy đúng, máy bạn chạy sai" rất khó tìm. Hai công cụ nên biết để tự kiểm tra: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9.4. Việc 4 — Nhắc lại: HTML là một cây DOM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Công cụ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Dùng để làm gì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Truy cập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W3C Markup Validator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Công cụ kiểm tra HTML hợp lệ </a:t>
                      </a:r>
                      <a:r>
                        <a:rPr sz="1000" b="1"/>
                        <a:t>nổi tiếng nhất thế giới</a:t>
                      </a:r>
                      <a:r>
                        <a:rPr sz="1000" b="0"/>
                        <a:t>, do chính W3C (tổ chức chuẩn hóa web) xây dựng. Dán URL hoặc paste code, nó chỉ ra lỗi/cảnh báo theo từng dòng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https://validator.w3.org/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Tab Elements trong DevTools</a:t>
                      </a:r>
                      <a:r>
                        <a:rPr sz="1000" b="0"/>
                        <a:t> (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F12</a:t>
                      </a:r>
                      <a:r>
                        <a:rPr sz="1000" b="0"/>
                        <a:t>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Xem cây DOM </a:t>
                      </a:r>
                      <a:r>
                        <a:rPr sz="1000" b="1"/>
                        <a:t>thật sự</a:t>
                      </a:r>
                      <a:r>
                        <a:rPr sz="1000" b="0"/>
                        <a:t> của trang đang mở — kể cả phần JS đã sửa thêm, khác với "View Page Source" (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Ctrl+U</a:t>
                      </a:r>
                      <a:r>
                        <a:rPr sz="1000" b="0"/>
                        <a:t>) chỉ xem HTML gốc chưa qua JS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Có sẵn trong Chrome/Edge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10. Bảng tra nhanh — 15 thẻ dùng nhiều nhất trong khóa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Thẻ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Ý nghĩa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Xuất hiện nhiều ở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&lt;html&gt; &lt;head&gt; &lt;body&gt;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Khung trang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Mọi 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&lt;meta charset="utf-8"&gt;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Bảng mã tiếng Việt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Mọi 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&lt;h1&gt;</a:t>
                      </a:r>
                      <a:r>
                        <a:rPr sz="1000" b="0"/>
                        <a:t> …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&lt;h3&gt;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Tiêu đề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Mọi 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&lt;p&gt;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Đoạn văn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Mọi 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&lt;br&gt;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Xuống dòng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Buổi 1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&lt;ul&gt; &lt;li&gt;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Danh sách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Buổi 6 (Vue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v-for</a:t>
                      </a:r>
                      <a:r>
                        <a:rPr sz="1000" b="0"/>
                        <a:t>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&lt;table&gt; &lt;tr&gt; &lt;th&gt; &lt;td&gt;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Bảng dữ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Buổi 1, 4, 10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&lt;form&gt;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Khối gửi dữ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Buổi 5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&lt;input&gt;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Ô nhập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Buổi 5, 7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&lt;select&gt; &lt;option&gt;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Danh sách chọn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Buổi 5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10. Bảng tra nhanh — 15 thẻ dùng nhiều nhất trong khóa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Thẻ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Ý nghĩa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Xuất hiện nhiều ở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&lt;textarea&gt;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Ô nhập nhiều dòng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Buổi 5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&lt;button&gt;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Nút bấm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Buổi 5–10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&lt;label&gt;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Nhãn của ô nhập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Buổi 5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&lt;a href=""&gt;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Liên kết sang trang khác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Buổi 4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&lt;div&gt; &lt;span&gt;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Gom nhóm để trang trí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Buổi 6–9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11. Thực hành — làm ở nhà hoặc khi còn thời gian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Tạo file </a:t>
            </a:r>
            <a:r>
              <a:rPr sz="1600" b="0">
                <a:latin typeface="Consolas"/>
                <a:ea typeface="Consolas"/>
                <a:cs typeface="Consolas"/>
              </a:rPr>
              <a:t>C:/xampp/htdocs/course8/buoi1/html_cb.html</a:t>
            </a:r>
            <a:r>
              <a:rPr sz="1600" b="0"/>
              <a:t>, gõ lại </a:t>
            </a:r>
            <a:r>
              <a:rPr sz="1600" b="1"/>
              <a:t>bằng tay</a:t>
            </a:r>
            <a:r>
              <a:rPr sz="1600" b="0"/>
              <a:t> (không copy) một trang có đủ:</a:t>
            </a:r>
          </a:p>
          <a:p>
            <a:pPr>
              <a:spcAft>
                <a:spcPts val="600"/>
              </a:spcAft>
            </a:pPr>
            <a:r>
              <a:rPr sz="1600" b="0"/>
              <a:t>Khung HTML chuẩn, </a:t>
            </a:r>
            <a:r>
              <a:rPr sz="1600" b="0">
                <a:latin typeface="Consolas"/>
                <a:ea typeface="Consolas"/>
                <a:cs typeface="Consolas"/>
              </a:rPr>
              <a:t>&lt;title&gt;</a:t>
            </a:r>
            <a:r>
              <a:rPr sz="1600" b="0"/>
              <a:t> là tên của bạn.</a:t>
            </a:r>
          </a:p>
          <a:p>
            <a:pPr>
              <a:spcAft>
                <a:spcPts val="600"/>
              </a:spcAft>
            </a:pPr>
            <a:r>
              <a:rPr sz="1600" b="0"/>
              <a:t>Một </a:t>
            </a:r>
            <a:r>
              <a:rPr sz="1600" b="0">
                <a:latin typeface="Consolas"/>
                <a:ea typeface="Consolas"/>
                <a:cs typeface="Consolas"/>
              </a:rPr>
              <a:t>&lt;h1&gt;</a:t>
            </a:r>
            <a:r>
              <a:rPr sz="1600" b="0"/>
              <a:t> và một </a:t>
            </a:r>
            <a:r>
              <a:rPr sz="1600" b="0">
                <a:latin typeface="Consolas"/>
                <a:ea typeface="Consolas"/>
                <a:cs typeface="Consolas"/>
              </a:rPr>
              <a:t>&lt;p&gt;</a:t>
            </a:r>
            <a:r>
              <a:rPr sz="1600" b="0"/>
              <a:t> giới thiệu bản thân.</a:t>
            </a:r>
          </a:p>
          <a:p>
            <a:pPr>
              <a:spcAft>
                <a:spcPts val="600"/>
              </a:spcAft>
            </a:pPr>
            <a:r>
              <a:rPr sz="1600" b="0"/>
              <a:t>Một </a:t>
            </a:r>
            <a:r>
              <a:rPr sz="1600" b="0">
                <a:latin typeface="Consolas"/>
                <a:ea typeface="Consolas"/>
                <a:cs typeface="Consolas"/>
              </a:rPr>
              <a:t>&lt;table border="1" cellpadding="8"&gt;</a:t>
            </a:r>
            <a:r>
              <a:rPr sz="1600" b="0"/>
              <a:t> gồm 3 cột </a:t>
            </a:r>
            <a:r>
              <a:rPr sz="1600" b="1"/>
              <a:t>Môn học · Số tiết · Giảng viên</a:t>
            </a:r>
            <a:r>
              <a:rPr sz="1600" b="0"/>
              <a:t> </a:t>
            </a:r>
            <a:r>
              <a:rPr sz="1600" b="0"/>
              <a:t>và 3 hàng dữ liệu.</a:t>
            </a:r>
          </a:p>
          <a:p>
            <a:pPr>
              <a:spcAft>
                <a:spcPts val="600"/>
              </a:spcAft>
            </a:pPr>
            <a:r>
              <a:rPr sz="1600" b="0"/>
              <a:t>Một </a:t>
            </a:r>
            <a:r>
              <a:rPr sz="1600" b="0">
                <a:latin typeface="Consolas"/>
                <a:ea typeface="Consolas"/>
                <a:cs typeface="Consolas"/>
              </a:rPr>
              <a:t>&lt;form&gt;</a:t>
            </a:r>
            <a:r>
              <a:rPr sz="1600" b="0"/>
              <a:t> có ô nhập họ tên, ô chọn lớp (</a:t>
            </a:r>
            <a:r>
              <a:rPr sz="1600" b="0">
                <a:latin typeface="Consolas"/>
                <a:ea typeface="Consolas"/>
                <a:cs typeface="Consolas"/>
              </a:rPr>
              <a:t>&lt;select&gt;</a:t>
            </a:r>
            <a:r>
              <a:rPr sz="1600" b="0"/>
              <a:t>) và nút </a:t>
            </a:r>
            <a:r>
              <a:rPr sz="1600" b="0">
                <a:latin typeface="Consolas"/>
                <a:ea typeface="Consolas"/>
                <a:cs typeface="Consolas"/>
              </a:rPr>
              <a:t>Gửi</a:t>
            </a:r>
            <a:r>
              <a:rPr sz="1600" b="0"/>
              <a:t>.</a:t>
            </a:r>
          </a:p>
          <a:p>
            <a:pPr>
              <a:spcAft>
                <a:spcPts val="800"/>
              </a:spcAft>
            </a:pPr>
            <a:r>
              <a:rPr sz="1600" b="0"/>
              <a:t>Mở bằng trình duyệt, đối chiếu với ảnh kết quả ở các mục trên. Sau đó dán nội dung file vào https://validator.w3.org/#validate_by_input — nếu còn báo lỗi, sửa cho tới khi sạch lỗi.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12. Tự kiểm 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0"/>
              <a:t>[ ] Nói được thẻ mở, thẻ đóng, thuộc tính nằm ở đâu trong một thẻ.</a:t>
            </a:r>
          </a:p>
          <a:p>
            <a:pPr>
              <a:spcAft>
                <a:spcPts val="600"/>
              </a:spcAft>
            </a:pPr>
            <a:r>
              <a:rPr sz="1400" b="0"/>
              <a:t>[ ] Kể được 3 thẻ rỗng (không có thẻ đóng).</a:t>
            </a:r>
          </a:p>
          <a:p>
            <a:pPr>
              <a:spcAft>
                <a:spcPts val="600"/>
              </a:spcAft>
            </a:pPr>
            <a:r>
              <a:rPr sz="1400" b="0"/>
              <a:t>[ ] Viết được một bảng 3 cột × 3 hàng không cần nhìn tài liệu.</a:t>
            </a:r>
          </a:p>
          <a:p>
            <a:pPr>
              <a:spcAft>
                <a:spcPts val="600"/>
              </a:spcAft>
            </a:pPr>
            <a:r>
              <a:rPr sz="1400" b="0"/>
              <a:t>[ ] Viết được một form có ô text, ô select và nút submit.</a:t>
            </a:r>
          </a:p>
          <a:p>
            <a:pPr>
              <a:spcAft>
                <a:spcPts val="600"/>
              </a:spcAft>
            </a:pPr>
            <a:r>
              <a:rPr sz="1400" b="0"/>
              <a:t>[ ] Giải thích được vì sao </a:t>
            </a:r>
            <a:r>
              <a:rPr sz="1400" b="0">
                <a:latin typeface="Consolas"/>
                <a:ea typeface="Consolas"/>
                <a:cs typeface="Consolas"/>
              </a:rPr>
              <a:t>&lt;input&gt;</a:t>
            </a:r>
            <a:r>
              <a:rPr sz="1400" b="0"/>
              <a:t> bắt buộc phải có thuộc tính </a:t>
            </a:r>
            <a:r>
              <a:rPr sz="1400" b="0">
                <a:latin typeface="Consolas"/>
                <a:ea typeface="Consolas"/>
                <a:cs typeface="Consolas"/>
              </a:rPr>
              <a:t>name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[ ] Biết tìm ở đâu khi tiếng Việt trên trang bị lỗi font.</a:t>
            </a:r>
          </a:p>
          <a:p>
            <a:pPr>
              <a:spcAft>
                <a:spcPts val="600"/>
              </a:spcAft>
            </a:pPr>
            <a:r>
              <a:rPr sz="1400" b="0"/>
              <a:t>[ ] Phân biệt được </a:t>
            </a:r>
            <a:r>
              <a:rPr sz="1400" b="1"/>
              <a:t>gọi API</a:t>
            </a:r>
            <a:r>
              <a:rPr sz="1400" b="0"/>
              <a:t> (JS tự lấy JSON, không tải lại trang) với</a:t>
            </a:r>
            <a:r>
              <a:rPr sz="1400" b="0"/>
              <a:t> </a:t>
            </a:r>
            <a:r>
              <a:rPr sz="1400" b="1"/>
              <a:t>tạo trang web ban đầu</a:t>
            </a:r>
            <a:r>
              <a:rPr sz="1400" b="0"/>
              <a:t> (submit form/bấm link, tải lại toàn trang).</a:t>
            </a:r>
          </a:p>
          <a:p>
            <a:pPr>
              <a:spcAft>
                <a:spcPts val="600"/>
              </a:spcAft>
            </a:pPr>
            <a:r>
              <a:rPr sz="1400" b="0"/>
              <a:t>[ ] Nói được khác nhau cơ bản giữa </a:t>
            </a:r>
            <a:r>
              <a:rPr sz="1400" b="1"/>
              <a:t>SSR</a:t>
            </a:r>
            <a:r>
              <a:rPr sz="1400" b="0"/>
              <a:t> (server ghép HTML) và </a:t>
            </a:r>
            <a:r>
              <a:rPr sz="1400" b="1"/>
              <a:t>CSR</a:t>
            </a:r>
            <a:r>
              <a:rPr sz="1400" b="0"/>
              <a:t> </a:t>
            </a:r>
            <a:r>
              <a:rPr sz="1400" b="0"/>
              <a:t>(trình duyệt tự ghép HTML từ JSON).</a:t>
            </a:r>
          </a:p>
          <a:p>
            <a:pPr>
              <a:spcAft>
                <a:spcPts val="600"/>
              </a:spcAft>
            </a:pPr>
            <a:r>
              <a:rPr sz="1400" b="0"/>
              <a:t>[ ] Vẽ được cây DOM (vài nút) của một đoạn HTML đơn giản.</a:t>
            </a:r>
          </a:p>
          <a:p>
            <a:pPr>
              <a:spcAft>
                <a:spcPts val="600"/>
              </a:spcAft>
            </a:pPr>
            <a:r>
              <a:rPr sz="1400" b="0"/>
              <a:t>[ ] Biết dùng W3C Markup Validator hoặc tab Elements của DevTools để kiểm</a:t>
            </a:r>
            <a:r>
              <a:rPr sz="1400" b="0"/>
              <a:t> </a:t>
            </a:r>
            <a:r>
              <a:rPr sz="1400" b="0"/>
              <a:t>tra một trang HTML.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13.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HTML cho người mới: https://www.w3schools.com/html/</a:t>
            </a:r>
          </a:p>
          <a:p>
            <a:pPr>
              <a:spcAft>
                <a:spcPts val="600"/>
              </a:spcAft>
            </a:pPr>
            <a:r>
              <a:rPr sz="1800" b="0"/>
              <a:t>Tra cứu từng thẻ: https://developer.mozilla.org/vi/docs/Web/HTML/Element</a:t>
            </a:r>
          </a:p>
          <a:p>
            <a:pPr>
              <a:spcAft>
                <a:spcPts val="600"/>
              </a:spcAft>
            </a:pPr>
            <a:r>
              <a:rPr sz="1800" b="0"/>
              <a:t>Gõ thử trực tiếp trên trình duyệt: https://www.w3schools.com/html/tryit.asp</a:t>
            </a:r>
          </a:p>
          <a:p>
            <a:pPr>
              <a:spcAft>
                <a:spcPts val="600"/>
              </a:spcAft>
            </a:pPr>
            <a:r>
              <a:rPr sz="1800" b="0"/>
              <a:t>Kiểm tra HTML hợp lệ (W3C Markup Validator): https://validator.w3.org/</a:t>
            </a:r>
          </a:p>
          <a:p>
            <a:pPr>
              <a:spcAft>
                <a:spcPts val="600"/>
              </a:spcAft>
            </a:pPr>
            <a:r>
              <a:rPr sz="1800" b="0"/>
              <a:t>DOM là gì (MDN): https://developer.mozilla.org/vi/docs/Web/API/Document_Object_Model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