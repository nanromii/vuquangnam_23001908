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1" r:id="rId45"/>
    <p:sldId id="302" r:id="rId46"/>
    <p:sldId id="303" r:id="rId47"/>
    <p:sldId id="299" r:id="rId48"/>
    <p:sldId id="304" r:id="rId49"/>
    <p:sldId id="305" r:id="rId50"/>
    <p:sldId id="306" r:id="rId51"/>
    <p:sldId id="307" r:id="rId52"/>
    <p:sldId id="308" r:id="rId53"/>
    <p:sldId id="309" r:id="rId54"/>
    <p:sldId id="310" r:id="rId55"/>
    <p:sldId id="311"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000" autoAdjust="0"/>
  </p:normalViewPr>
  <p:slideViewPr>
    <p:cSldViewPr>
      <p:cViewPr varScale="1">
        <p:scale>
          <a:sx n="64" d="100"/>
          <a:sy n="64" d="100"/>
        </p:scale>
        <p:origin x="134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529C2-2740-49AF-AD85-11B5D3921039}" type="datetimeFigureOut">
              <a:rPr lang="en-US" smtClean="0"/>
              <a:t>9/15/2026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3765A4-D309-444E-9276-0B2CD25A6C21}" type="slidenum">
              <a:rPr lang="en-US" smtClean="0"/>
              <a:t>‹#›</a:t>
            </a:fld>
            <a:endParaRPr lang="en-US"/>
          </a:p>
        </p:txBody>
      </p:sp>
    </p:spTree>
    <p:extLst>
      <p:ext uri="{BB962C8B-B14F-4D97-AF65-F5344CB8AC3E}">
        <p14:creationId xmlns:p14="http://schemas.microsoft.com/office/powerpoint/2010/main" val="1720988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254BE3-F7ED-4F3E-8A95-B55AC90E785B}"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254BE3-F7ED-4F3E-8A95-B55AC90E785B}"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254BE3-F7ED-4F3E-8A95-B55AC90E785B}"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254BE3-F7ED-4F3E-8A95-B55AC90E785B}"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254BE3-F7ED-4F3E-8A95-B55AC90E785B}"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E254BE3-F7ED-4F3E-8A95-B55AC90E785B}"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54BE3-F7ED-4F3E-8A95-B55AC90E785B}"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54BE3-F7ED-4F3E-8A95-B55AC90E785B}"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5D2862-91D1-4AD8-B8BA-DEE8FF15728F}"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E254BE3-F7ED-4F3E-8A95-B55AC90E785B}" type="datetimeFigureOut">
              <a:rPr lang="en-US" smtClean="0"/>
              <a:t>9/15/2026</a:t>
            </a:fld>
            <a:endParaRPr lang="en-US"/>
          </a:p>
        </p:txBody>
      </p:sp>
      <p:sp>
        <p:nvSpPr>
          <p:cNvPr id="9" name="Slide Number Placeholder 8"/>
          <p:cNvSpPr>
            <a:spLocks noGrp="1"/>
          </p:cNvSpPr>
          <p:nvPr>
            <p:ph type="sldNum" sz="quarter" idx="11"/>
          </p:nvPr>
        </p:nvSpPr>
        <p:spPr/>
        <p:txBody>
          <a:bodyPr/>
          <a:lstStyle/>
          <a:p>
            <a:fld id="{1F5D2862-91D1-4AD8-B8BA-DEE8FF15728F}"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254BE3-F7ED-4F3E-8A95-B55AC90E785B}"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254BE3-F7ED-4F3E-8A95-B55AC90E785B}"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5D2862-91D1-4AD8-B8BA-DEE8FF15728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1F5D2862-91D1-4AD8-B8BA-DEE8FF15728F}"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8E254BE3-F7ED-4F3E-8A95-B55AC90E785B}" type="datetimeFigureOut">
              <a:rPr lang="en-US" smtClean="0"/>
              <a:t>9/15/2026</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rPr sz="3400"/>
              <a:t>Khóa đào tạo
Lập trình Web: PHP · Vue · MySQL</a:t>
            </a:r>
          </a:p>
        </p:txBody>
      </p:sp>
      <p:sp>
        <p:nvSpPr>
          <p:cNvPr id="3" name="Subtitle 2"/>
          <p:cNvSpPr>
            <a:spLocks noGrp="1"/>
          </p:cNvSpPr>
          <p:nvPr>
            <p:ph type="subTitle" idx="1"/>
          </p:nvPr>
        </p:nvSpPr>
        <p:spPr/>
        <p:txBody>
          <a:bodyPr/>
          <a:lstStyle/>
          <a:p>
            <a:r>
              <a:rPr sz="2000"/>
              <a:t>Buổi 1 — Tổng quan lập trình web &amp; PHP cơ bản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Nội dung</a:t>
            </a:r>
          </a:p>
        </p:txBody>
      </p:sp>
      <p:sp>
        <p:nvSpPr>
          <p:cNvPr id="3" name="Content Placeholder 2"/>
          <p:cNvSpPr>
            <a:spLocks noGrp="1"/>
          </p:cNvSpPr>
          <p:nvPr>
            <p:ph idx="1"/>
          </p:nvPr>
        </p:nvSpPr>
        <p:spPr/>
        <p:txBody>
          <a:bodyPr wrap="square"/>
          <a:lstStyle/>
          <a:p>
            <a:pPr>
              <a:spcAft>
                <a:spcPts val="600"/>
              </a:spcAft>
            </a:pPr>
            <a:r>
              <a:rPr sz="1600" b="0"/>
              <a:t>1. Mục tiêu</a:t>
            </a:r>
          </a:p>
          <a:p>
            <a:pPr>
              <a:spcAft>
                <a:spcPts val="600"/>
              </a:spcAft>
            </a:pPr>
            <a:r>
              <a:rPr sz="1600" b="0"/>
              <a:t>2. Chuẩn bị trước buổi học</a:t>
            </a:r>
          </a:p>
          <a:p>
            <a:pPr>
              <a:spcAft>
                <a:spcPts val="600"/>
              </a:spcAft>
            </a:pPr>
            <a:r>
              <a:rPr sz="1600" b="0"/>
              <a:t>Tiết 1 — Kiến trúc web &amp; môi trường</a:t>
            </a:r>
          </a:p>
          <a:p>
            <a:pPr>
              <a:spcAft>
                <a:spcPts val="600"/>
              </a:spcAft>
            </a:pPr>
            <a:r>
              <a:rPr sz="1600" b="0"/>
              <a:t>Tiết 2 — Cú pháp PHP cơ bản</a:t>
            </a:r>
          </a:p>
          <a:p>
            <a:pPr>
              <a:spcAft>
                <a:spcPts val="600"/>
              </a:spcAft>
            </a:pPr>
            <a:r>
              <a:rPr sz="1600" b="0"/>
              <a:t>3. Thực hành tại lớp</a:t>
            </a:r>
          </a:p>
          <a:p>
            <a:pPr>
              <a:spcAft>
                <a:spcPts val="600"/>
              </a:spcAft>
            </a:pPr>
            <a:r>
              <a:rPr sz="1600" b="0"/>
              <a:t>4. Bài tập về nhà</a:t>
            </a:r>
          </a:p>
          <a:p>
            <a:pPr>
              <a:spcAft>
                <a:spcPts val="600"/>
              </a:spcAft>
            </a:pPr>
            <a:r>
              <a:rPr sz="1600" b="0"/>
              <a:t>5. Checklist cuối buổi</a:t>
            </a:r>
          </a:p>
          <a:p>
            <a:pPr>
              <a:spcAft>
                <a:spcPts val="600"/>
              </a:spcAft>
            </a:pPr>
            <a:r>
              <a:rPr sz="1600" b="0"/>
              <a:t>6. Tham khảo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1. Mục tiêu</a:t>
            </a:r>
          </a:p>
        </p:txBody>
      </p:sp>
      <p:sp>
        <p:nvSpPr>
          <p:cNvPr id="3" name="Content Placeholder 2"/>
          <p:cNvSpPr>
            <a:spLocks noGrp="1"/>
          </p:cNvSpPr>
          <p:nvPr>
            <p:ph idx="1"/>
          </p:nvPr>
        </p:nvSpPr>
        <p:spPr/>
        <p:txBody>
          <a:bodyPr wrap="square"/>
          <a:lstStyle/>
          <a:p>
            <a:pPr>
              <a:spcAft>
                <a:spcPts val="800"/>
              </a:spcAft>
            </a:pPr>
            <a:r>
              <a:rPr sz="1800" b="0"/>
              <a:t>Kết thúc buổi học, học viên có thể:</a:t>
            </a:r>
          </a:p>
          <a:p>
            <a:pPr>
              <a:spcAft>
                <a:spcPts val="600"/>
              </a:spcAft>
            </a:pPr>
            <a:r>
              <a:rPr sz="1800" b="0"/>
              <a:t>Giải thích được vòng đời một request web: trình duyệt → web server → PHP → MySQL → HTML trả về.</a:t>
            </a:r>
          </a:p>
          <a:p>
            <a:pPr>
              <a:spcAft>
                <a:spcPts val="600"/>
              </a:spcAft>
            </a:pPr>
            <a:r>
              <a:rPr sz="1800" b="0"/>
              <a:t>Đọc được Request/Response thật trên tab Network của DevTools.</a:t>
            </a:r>
          </a:p>
          <a:p>
            <a:pPr>
              <a:spcAft>
                <a:spcPts val="600"/>
              </a:spcAft>
            </a:pPr>
            <a:r>
              <a:rPr sz="1800" b="0"/>
              <a:t>Cài đặt và chạy được XAMPP, đặt project vào </a:t>
            </a:r>
            <a:r>
              <a:rPr sz="1800" b="0">
                <a:latin typeface="Consolas"/>
                <a:ea typeface="Consolas"/>
                <a:cs typeface="Consolas"/>
              </a:rPr>
              <a:t>htdocs</a:t>
            </a:r>
            <a:r>
              <a:rPr sz="1800" b="0"/>
              <a:t>, mở qua </a:t>
            </a:r>
            <a:r>
              <a:rPr sz="1800" b="0">
                <a:latin typeface="Consolas"/>
                <a:ea typeface="Consolas"/>
                <a:cs typeface="Consolas"/>
              </a:rPr>
              <a:t>http://localhost</a:t>
            </a:r>
            <a:r>
              <a:rPr sz="1800" b="0"/>
              <a:t>.</a:t>
            </a:r>
          </a:p>
          <a:p>
            <a:pPr>
              <a:spcAft>
                <a:spcPts val="600"/>
              </a:spcAft>
            </a:pPr>
            <a:r>
              <a:rPr sz="1800" b="0"/>
              <a:t>Viết được file PHP đầu tiên: biến, kiểu dữ liệu, toán tử, </a:t>
            </a:r>
            <a:r>
              <a:rPr sz="1800" b="0">
                <a:latin typeface="Consolas"/>
                <a:ea typeface="Consolas"/>
                <a:cs typeface="Consolas"/>
              </a:rPr>
              <a:t>if/else</a:t>
            </a:r>
            <a:r>
              <a:rPr sz="1800" b="0"/>
              <a:t>, vòng lặp, mảng.</a:t>
            </a:r>
          </a:p>
          <a:p>
            <a:pPr>
              <a:spcAft>
                <a:spcPts val="600"/>
              </a:spcAft>
            </a:pPr>
            <a:r>
              <a:rPr sz="1800" b="0"/>
              <a:t>Nhúng được PHP vào HTML để sinh nội dung động.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 Chuẩn bị trước buổi học</a:t>
            </a:r>
          </a:p>
        </p:txBody>
      </p:sp>
      <p:sp>
        <p:nvSpPr>
          <p:cNvPr id="3" name="Content Placeholder 2"/>
          <p:cNvSpPr>
            <a:spLocks noGrp="1"/>
          </p:cNvSpPr>
          <p:nvPr>
            <p:ph idx="1"/>
          </p:nvPr>
        </p:nvSpPr>
        <p:spPr/>
        <p:txBody>
          <a:bodyPr wrap="square"/>
          <a:lstStyle/>
          <a:p>
            <a:pPr>
              <a:spcAft>
                <a:spcPts val="600"/>
              </a:spcAft>
            </a:pPr>
            <a:r>
              <a:rPr sz="2000" b="0"/>
              <a:t>Tải và cài </a:t>
            </a:r>
            <a:r>
              <a:rPr sz="2000" b="1"/>
              <a:t>XAMPP</a:t>
            </a:r>
            <a:r>
              <a:rPr sz="2000" b="0"/>
              <a:t> (bản PHP 8.x): https://www.apachefriends.org</a:t>
            </a:r>
          </a:p>
          <a:p>
            <a:pPr>
              <a:spcAft>
                <a:spcPts val="600"/>
              </a:spcAft>
            </a:pPr>
            <a:r>
              <a:rPr sz="2000" b="0"/>
              <a:t>Cài </a:t>
            </a:r>
            <a:r>
              <a:rPr sz="2000" b="1"/>
              <a:t>VS Code</a:t>
            </a:r>
            <a:r>
              <a:rPr sz="2000" b="0"/>
              <a:t> + extension: PHP Intelephense, Prettier.</a:t>
            </a:r>
          </a:p>
          <a:p>
            <a:pPr>
              <a:spcAft>
                <a:spcPts val="600"/>
              </a:spcAft>
            </a:pPr>
            <a:r>
              <a:rPr sz="2000" b="0"/>
              <a:t>Trình duyệt Chrome/Edge (dùng DevTools trong suốt khóa).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Tiết 1 — Kiến trúc web &amp; môi trường</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1.1. Web hoạt động thế nào? (1/3)</a:t>
            </a:r>
          </a:p>
        </p:txBody>
      </p:sp>
      <p:sp>
        <p:nvSpPr>
          <p:cNvPr id="3" name="TextBox 2"/>
          <p:cNvSpPr txBox="1"/>
          <p:nvPr/>
        </p:nvSpPr>
        <p:spPr>
          <a:xfrm>
            <a:off x="457200" y="1280160"/>
            <a:ext cx="8229600" cy="411480"/>
          </a:xfrm>
          <a:prstGeom prst="rect">
            <a:avLst/>
          </a:prstGeom>
          <a:noFill/>
        </p:spPr>
        <p:txBody>
          <a:bodyPr wrap="square">
            <a:spAutoFit/>
          </a:bodyPr>
          <a:lstStyle/>
          <a:p>
            <a:r>
              <a:rPr sz="1500" b="0"/>
              <a:t>Từ lúc bạn bấm Enter đến lúc trang hiện ra, dữ liệu đi qua 4 chặng:</a:t>
            </a:r>
          </a:p>
        </p:txBody>
      </p:sp>
      <p:pic>
        <p:nvPicPr>
          <p:cNvPr id="4" name="Picture 3" descr="buoi01-luong-request.png"/>
          <p:cNvPicPr>
            <a:picLocks noChangeAspect="1"/>
          </p:cNvPicPr>
          <p:nvPr/>
        </p:nvPicPr>
        <p:blipFill>
          <a:blip r:embed="rId2"/>
          <a:stretch>
            <a:fillRect/>
          </a:stretch>
        </p:blipFill>
        <p:spPr>
          <a:xfrm>
            <a:off x="457200" y="1755648"/>
            <a:ext cx="8229600" cy="3226869"/>
          </a:xfrm>
          <a:prstGeom prst="rect">
            <a:avLst/>
          </a:prstGeom>
        </p:spPr>
      </p:pic>
      <p:sp>
        <p:nvSpPr>
          <p:cNvPr id="5" name="TextBox 4"/>
          <p:cNvSpPr txBox="1"/>
          <p:nvPr/>
        </p:nvSpPr>
        <p:spPr>
          <a:xfrm>
            <a:off x="457200" y="5037381"/>
            <a:ext cx="8229600" cy="310896"/>
          </a:xfrm>
          <a:prstGeom prst="rect">
            <a:avLst/>
          </a:prstGeom>
          <a:noFill/>
        </p:spPr>
        <p:txBody>
          <a:bodyPr wrap="square">
            <a:spAutoFit/>
          </a:bodyPr>
          <a:lstStyle/>
          <a:p>
            <a:pPr algn="ctr"/>
            <a:r>
              <a:rPr sz="1300" i="1">
                <a:solidFill>
                  <a:srgbClr val="666666"/>
                </a:solidFill>
              </a:rPr>
              <a:t>Luồng một request web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1.1. Web hoạt động thế nào? (2/3)</a:t>
            </a:r>
          </a:p>
        </p:txBody>
      </p:sp>
      <p:sp>
        <p:nvSpPr>
          <p:cNvPr id="3" name="TextBox 2"/>
          <p:cNvSpPr txBox="1"/>
          <p:nvPr/>
        </p:nvSpPr>
        <p:spPr>
          <a:xfrm>
            <a:off x="457200" y="1188720"/>
            <a:ext cx="8229600" cy="411480"/>
          </a:xfrm>
          <a:prstGeom prst="rect">
            <a:avLst/>
          </a:prstGeom>
          <a:noFill/>
        </p:spPr>
        <p:txBody>
          <a:bodyPr wrap="square">
            <a:spAutoFit/>
          </a:bodyPr>
          <a:lstStyle/>
          <a:p>
            <a:r>
              <a:rPr sz="1500" b="0"/>
              <a:t>Cùng một luồng đó viết gọn lại:</a:t>
            </a:r>
          </a:p>
        </p:txBody>
      </p:sp>
      <p:sp>
        <p:nvSpPr>
          <p:cNvPr id="4" name="TextBox 3"/>
          <p:cNvSpPr txBox="1"/>
          <p:nvPr/>
        </p:nvSpPr>
        <p:spPr>
          <a:xfrm>
            <a:off x="365760" y="1664208"/>
            <a:ext cx="8412480" cy="2418588"/>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400">
                <a:solidFill>
                  <a:srgbClr val="1A1A1A"/>
                </a:solidFill>
                <a:latin typeface="Consolas"/>
                <a:ea typeface="Consolas"/>
                <a:cs typeface="Consolas"/>
              </a:rPr>
              <a:t>[Trình duyệt]  --- HTTP Request  ---&gt;  [Web server: Apache]</a:t>
            </a:r>
          </a:p>
          <a:p>
            <a:pPr>
              <a:lnSpc>
                <a:spcPct val="100000"/>
              </a:lnSpc>
              <a:spcAft>
                <a:spcPts val="0"/>
              </a:spcAft>
            </a:pPr>
            <a:r>
              <a:rPr sz="1400">
                <a:solidFill>
                  <a:srgbClr val="1A1A1A"/>
                </a:solidFill>
                <a:latin typeface="Consolas"/>
                <a:ea typeface="Consolas"/>
                <a:cs typeface="Consolas"/>
              </a:rPr>
              <a:t>                                             |</a:t>
            </a:r>
          </a:p>
          <a:p>
            <a:pPr>
              <a:lnSpc>
                <a:spcPct val="100000"/>
              </a:lnSpc>
              <a:spcAft>
                <a:spcPts val="0"/>
              </a:spcAft>
            </a:pPr>
            <a:r>
              <a:rPr sz="1400">
                <a:solidFill>
                  <a:srgbClr val="1A1A1A"/>
                </a:solidFill>
                <a:latin typeface="Consolas"/>
                <a:ea typeface="Consolas"/>
                <a:cs typeface="Consolas"/>
              </a:rPr>
              <a:t>                                             v</a:t>
            </a:r>
          </a:p>
          <a:p>
            <a:pPr>
              <a:lnSpc>
                <a:spcPct val="100000"/>
              </a:lnSpc>
              <a:spcAft>
                <a:spcPts val="0"/>
              </a:spcAft>
            </a:pPr>
            <a:r>
              <a:rPr sz="1400">
                <a:solidFill>
                  <a:srgbClr val="1A1A1A"/>
                </a:solidFill>
                <a:latin typeface="Consolas"/>
                <a:ea typeface="Consolas"/>
                <a:cs typeface="Consolas"/>
              </a:rPr>
              <a:t>                                       [PHP xử lý]</a:t>
            </a:r>
          </a:p>
          <a:p>
            <a:pPr>
              <a:lnSpc>
                <a:spcPct val="100000"/>
              </a:lnSpc>
              <a:spcAft>
                <a:spcPts val="0"/>
              </a:spcAft>
            </a:pPr>
            <a:r>
              <a:rPr sz="1400">
                <a:solidFill>
                  <a:srgbClr val="1A1A1A"/>
                </a:solidFill>
                <a:latin typeface="Consolas"/>
                <a:ea typeface="Consolas"/>
                <a:cs typeface="Consolas"/>
              </a:rPr>
              <a:t>                                             |</a:t>
            </a:r>
          </a:p>
          <a:p>
            <a:pPr>
              <a:lnSpc>
                <a:spcPct val="100000"/>
              </a:lnSpc>
              <a:spcAft>
                <a:spcPts val="0"/>
              </a:spcAft>
            </a:pPr>
            <a:r>
              <a:rPr sz="1400">
                <a:solidFill>
                  <a:srgbClr val="1A1A1A"/>
                </a:solidFill>
                <a:latin typeface="Consolas"/>
                <a:ea typeface="Consolas"/>
                <a:cs typeface="Consolas"/>
              </a:rPr>
              <a:t>                                             v</a:t>
            </a:r>
          </a:p>
          <a:p>
            <a:pPr>
              <a:lnSpc>
                <a:spcPct val="100000"/>
              </a:lnSpc>
              <a:spcAft>
                <a:spcPts val="0"/>
              </a:spcAft>
            </a:pPr>
            <a:r>
              <a:rPr sz="1400">
                <a:solidFill>
                  <a:srgbClr val="1A1A1A"/>
                </a:solidFill>
                <a:latin typeface="Consolas"/>
                <a:ea typeface="Consolas"/>
                <a:cs typeface="Consolas"/>
              </a:rPr>
              <a:t>                                       [MySQL: dữ liệu]</a:t>
            </a:r>
          </a:p>
          <a:p>
            <a:pPr>
              <a:lnSpc>
                <a:spcPct val="100000"/>
              </a:lnSpc>
              <a:spcAft>
                <a:spcPts val="0"/>
              </a:spcAft>
            </a:pPr>
            <a:r>
              <a:rPr sz="1400">
                <a:solidFill>
                  <a:srgbClr val="1A1A1A"/>
                </a:solidFill>
                <a:latin typeface="Consolas"/>
                <a:ea typeface="Consolas"/>
                <a:cs typeface="Consolas"/>
              </a:rPr>
              <a:t>                                             |</a:t>
            </a:r>
          </a:p>
          <a:p>
            <a:pPr>
              <a:lnSpc>
                <a:spcPct val="100000"/>
              </a:lnSpc>
              <a:spcAft>
                <a:spcPts val="0"/>
              </a:spcAft>
            </a:pPr>
            <a:r>
              <a:rPr sz="1400">
                <a:solidFill>
                  <a:srgbClr val="1A1A1A"/>
                </a:solidFill>
                <a:latin typeface="Consolas"/>
                <a:ea typeface="Consolas"/>
                <a:cs typeface="Consolas"/>
              </a:rPr>
              <a:t>[Trình duyệt]  &lt;--- HTTP Response ---  HTML / JSON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1.1. Web hoạt động thế nào? (3/3)</a:t>
            </a:r>
          </a:p>
        </p:txBody>
      </p:sp>
      <p:sp>
        <p:nvSpPr>
          <p:cNvPr id="3" name="TextBox 2"/>
          <p:cNvSpPr txBox="1"/>
          <p:nvPr/>
        </p:nvSpPr>
        <p:spPr>
          <a:xfrm>
            <a:off x="457200" y="1371600"/>
            <a:ext cx="8229600" cy="411480"/>
          </a:xfrm>
          <a:prstGeom prst="rect">
            <a:avLst/>
          </a:prstGeom>
          <a:noFill/>
        </p:spPr>
        <p:txBody>
          <a:bodyPr wrap="square">
            <a:spAutoFit/>
          </a:bodyPr>
          <a:lstStyle/>
          <a:p>
            <a:r>
              <a:rPr sz="1500" b="0"/>
              <a:t>Các khái niệm cần nắm:</a:t>
            </a:r>
          </a:p>
        </p:txBody>
      </p:sp>
      <p:graphicFrame>
        <p:nvGraphicFramePr>
          <p:cNvPr id="4" name="Table 3"/>
          <p:cNvGraphicFramePr>
            <a:graphicFrameLocks noGrp="1"/>
          </p:cNvGraphicFramePr>
          <p:nvPr/>
        </p:nvGraphicFramePr>
        <p:xfrm>
          <a:off x="457200" y="1847088"/>
          <a:ext cx="8229600" cy="19202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84048">
                <a:tc>
                  <a:txBody>
                    <a:bodyPr/>
                    <a:lstStyle/>
                    <a:p>
                      <a:r>
                        <a:rPr sz="1000" b="1">
                          <a:solidFill>
                            <a:srgbClr val="FFFFFF"/>
                          </a:solidFill>
                        </a:rPr>
                        <a:t>Khái niệm</a:t>
                      </a:r>
                    </a:p>
                  </a:txBody>
                  <a:tcPr marL="54864" marR="54864" marT="27432" marB="27432" anchor="ctr"/>
                </a:tc>
                <a:tc>
                  <a:txBody>
                    <a:bodyPr/>
                    <a:lstStyle/>
                    <a:p>
                      <a:r>
                        <a:rPr sz="1000" b="1">
                          <a:solidFill>
                            <a:srgbClr val="FFFFFF"/>
                          </a:solidFill>
                        </a:rPr>
                        <a:t>Giải thích ngắn</a:t>
                      </a:r>
                    </a:p>
                  </a:txBody>
                  <a:tcPr marL="54864" marR="54864" marT="27432" marB="27432" anchor="ctr"/>
                </a:tc>
                <a:extLst>
                  <a:ext uri="{0D108BD9-81ED-4DB2-BD59-A6C34878D82A}">
                    <a16:rowId xmlns:a16="http://schemas.microsoft.com/office/drawing/2014/main" val="10000"/>
                  </a:ext>
                </a:extLst>
              </a:tr>
              <a:tr h="384048">
                <a:tc>
                  <a:txBody>
                    <a:bodyPr/>
                    <a:lstStyle/>
                    <a:p>
                      <a:r>
                        <a:rPr sz="1000" b="0"/>
                        <a:t>Client / Server</a:t>
                      </a:r>
                    </a:p>
                  </a:txBody>
                  <a:tcPr marL="54864" marR="54864" marT="27432" marB="27432" anchor="ctr"/>
                </a:tc>
                <a:tc>
                  <a:txBody>
                    <a:bodyPr/>
                    <a:lstStyle/>
                    <a:p>
                      <a:r>
                        <a:rPr sz="1000" b="0"/>
                        <a:t>Máy gửi yêu cầu / máy xử lý và trả kết quả</a:t>
                      </a:r>
                    </a:p>
                  </a:txBody>
                  <a:tcPr marL="54864" marR="54864" marT="27432" marB="27432" anchor="ctr"/>
                </a:tc>
                <a:extLst>
                  <a:ext uri="{0D108BD9-81ED-4DB2-BD59-A6C34878D82A}">
                    <a16:rowId xmlns:a16="http://schemas.microsoft.com/office/drawing/2014/main" val="10001"/>
                  </a:ext>
                </a:extLst>
              </a:tr>
              <a:tr h="384048">
                <a:tc>
                  <a:txBody>
                    <a:bodyPr/>
                    <a:lstStyle/>
                    <a:p>
                      <a:r>
                        <a:rPr sz="1000" b="0"/>
                        <a:t>HTTP method</a:t>
                      </a:r>
                    </a:p>
                  </a:txBody>
                  <a:tcPr marL="54864" marR="54864" marT="27432" marB="27432" anchor="ctr"/>
                </a:tc>
                <a:tc>
                  <a:txBody>
                    <a:bodyPr/>
                    <a:lstStyle/>
                    <a:p>
                      <a:r>
                        <a:rPr sz="1000" b="0">
                          <a:latin typeface="Consolas"/>
                          <a:ea typeface="Consolas"/>
                          <a:cs typeface="Consolas"/>
                        </a:rPr>
                        <a:t>GET</a:t>
                      </a:r>
                      <a:r>
                        <a:rPr sz="1000" b="0"/>
                        <a:t> (lấy dữ liệu), </a:t>
                      </a:r>
                      <a:r>
                        <a:rPr sz="1000" b="0">
                          <a:latin typeface="Consolas"/>
                          <a:ea typeface="Consolas"/>
                          <a:cs typeface="Consolas"/>
                        </a:rPr>
                        <a:t>POST</a:t>
                      </a:r>
                      <a:r>
                        <a:rPr sz="1000" b="0"/>
                        <a:t> (gửi dữ liệu) — buổi 5 và 8 sẽ dùng nhiều</a:t>
                      </a:r>
                    </a:p>
                  </a:txBody>
                  <a:tcPr marL="54864" marR="54864" marT="27432" marB="27432" anchor="ctr"/>
                </a:tc>
                <a:extLst>
                  <a:ext uri="{0D108BD9-81ED-4DB2-BD59-A6C34878D82A}">
                    <a16:rowId xmlns:a16="http://schemas.microsoft.com/office/drawing/2014/main" val="10002"/>
                  </a:ext>
                </a:extLst>
              </a:tr>
              <a:tr h="384048">
                <a:tc>
                  <a:txBody>
                    <a:bodyPr/>
                    <a:lstStyle/>
                    <a:p>
                      <a:r>
                        <a:rPr sz="1000" b="0"/>
                        <a:t>Static vs Dynamic</a:t>
                      </a:r>
                    </a:p>
                  </a:txBody>
                  <a:tcPr marL="54864" marR="54864" marT="27432" marB="27432" anchor="ctr"/>
                </a:tc>
                <a:tc>
                  <a:txBody>
                    <a:bodyPr/>
                    <a:lstStyle/>
                    <a:p>
                      <a:r>
                        <a:rPr sz="1000" b="0"/>
                        <a:t>File </a:t>
                      </a:r>
                      <a:r>
                        <a:rPr sz="1000" b="0">
                          <a:latin typeface="Consolas"/>
                          <a:ea typeface="Consolas"/>
                          <a:cs typeface="Consolas"/>
                        </a:rPr>
                        <a:t>.html</a:t>
                      </a:r>
                      <a:r>
                        <a:rPr sz="1000" b="0"/>
                        <a:t> trả nguyên xi; file </a:t>
                      </a:r>
                      <a:r>
                        <a:rPr sz="1000" b="0">
                          <a:latin typeface="Consolas"/>
                          <a:ea typeface="Consolas"/>
                          <a:cs typeface="Consolas"/>
                        </a:rPr>
                        <a:t>.php</a:t>
                      </a:r>
                      <a:r>
                        <a:rPr sz="1000" b="0"/>
                        <a:t> được server thực thi rồi mới trả về</a:t>
                      </a:r>
                    </a:p>
                  </a:txBody>
                  <a:tcPr marL="54864" marR="54864" marT="27432" marB="27432" anchor="ctr"/>
                </a:tc>
                <a:extLst>
                  <a:ext uri="{0D108BD9-81ED-4DB2-BD59-A6C34878D82A}">
                    <a16:rowId xmlns:a16="http://schemas.microsoft.com/office/drawing/2014/main" val="10003"/>
                  </a:ext>
                </a:extLst>
              </a:tr>
              <a:tr h="384048">
                <a:tc>
                  <a:txBody>
                    <a:bodyPr/>
                    <a:lstStyle/>
                    <a:p>
                      <a:r>
                        <a:rPr sz="1000" b="0"/>
                        <a:t>Port</a:t>
                      </a:r>
                    </a:p>
                  </a:txBody>
                  <a:tcPr marL="54864" marR="54864" marT="27432" marB="27432" anchor="ctr"/>
                </a:tc>
                <a:tc>
                  <a:txBody>
                    <a:bodyPr/>
                    <a:lstStyle/>
                    <a:p>
                      <a:r>
                        <a:rPr sz="1000" b="0"/>
                        <a:t>Apache mặc định </a:t>
                      </a:r>
                      <a:r>
                        <a:rPr sz="1000" b="0">
                          <a:latin typeface="Consolas"/>
                          <a:ea typeface="Consolas"/>
                          <a:cs typeface="Consolas"/>
                        </a:rPr>
                        <a:t>80</a:t>
                      </a:r>
                      <a:r>
                        <a:rPr sz="1000" b="0"/>
                        <a:t>, MySQL mặc định </a:t>
                      </a:r>
                      <a:r>
                        <a:rPr sz="1000" b="0">
                          <a:latin typeface="Consolas"/>
                          <a:ea typeface="Consolas"/>
                          <a:cs typeface="Consolas"/>
                        </a:rPr>
                        <a:t>3306</a:t>
                      </a:r>
                    </a:p>
                  </a:txBody>
                  <a:tcPr marL="54864" marR="54864" marT="27432" marB="27432"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a:t>1.2. Nhìn Request/Response thật bằng DevTools (1/4)</a:t>
            </a:r>
          </a:p>
        </p:txBody>
      </p:sp>
      <p:sp>
        <p:nvSpPr>
          <p:cNvPr id="3" name="Content Placeholder 2"/>
          <p:cNvSpPr>
            <a:spLocks noGrp="1"/>
          </p:cNvSpPr>
          <p:nvPr>
            <p:ph idx="1"/>
          </p:nvPr>
        </p:nvSpPr>
        <p:spPr/>
        <p:txBody>
          <a:bodyPr wrap="square"/>
          <a:lstStyle/>
          <a:p>
            <a:pPr>
              <a:spcAft>
                <a:spcPts val="800"/>
              </a:spcAft>
            </a:pPr>
            <a:r>
              <a:rPr sz="2000" b="0"/>
              <a:t>Lý thuyết ở trên không có ý nghĩa gì cho đến khi các bạn </a:t>
            </a:r>
            <a:r>
              <a:rPr sz="2000" b="1"/>
              <a:t>nhìn thấy nó thật</a:t>
            </a:r>
            <a:r>
              <a:rPr sz="2000" b="0"/>
              <a:t>. Mở một trang lớn bất kỳ — ví dụ </a:t>
            </a:r>
            <a:r>
              <a:rPr sz="2000" b="0">
                <a:latin typeface="Consolas"/>
                <a:ea typeface="Consolas"/>
                <a:cs typeface="Consolas"/>
              </a:rPr>
              <a:t>facebook.com</a:t>
            </a:r>
            <a:r>
              <a:rPr sz="2000" b="0"/>
              <a:t> — nhấn </a:t>
            </a:r>
            <a:r>
              <a:rPr sz="2000" b="0">
                <a:latin typeface="Consolas"/>
                <a:ea typeface="Consolas"/>
                <a:cs typeface="Consolas"/>
              </a:rPr>
              <a:t>F12</a:t>
            </a:r>
            <a:r>
              <a:rPr sz="2000" b="0"/>
              <a:t> → tab </a:t>
            </a:r>
            <a:r>
              <a:rPr sz="2000" b="1"/>
              <a:t>Network</a:t>
            </a:r>
            <a:r>
              <a:rPr sz="2000" b="0"/>
              <a:t> → tải lại trang: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a:t>1.2. Nhìn Request/Response thật bằng DevTools (2/4)</a:t>
            </a:r>
          </a:p>
        </p:txBody>
      </p:sp>
      <p:pic>
        <p:nvPicPr>
          <p:cNvPr id="3" name="Picture 2" descr="buoi01-devtools-facebook.png"/>
          <p:cNvPicPr>
            <a:picLocks noChangeAspect="1"/>
          </p:cNvPicPr>
          <p:nvPr/>
        </p:nvPicPr>
        <p:blipFill>
          <a:blip r:embed="rId2"/>
          <a:stretch>
            <a:fillRect/>
          </a:stretch>
        </p:blipFill>
        <p:spPr>
          <a:xfrm>
            <a:off x="457200" y="1280160"/>
            <a:ext cx="8229600" cy="4780429"/>
          </a:xfrm>
          <a:prstGeom prst="rect">
            <a:avLst/>
          </a:prstGeom>
        </p:spPr>
      </p:pic>
      <p:sp>
        <p:nvSpPr>
          <p:cNvPr id="4" name="TextBox 3"/>
          <p:cNvSpPr txBox="1"/>
          <p:nvPr/>
        </p:nvSpPr>
        <p:spPr>
          <a:xfrm>
            <a:off x="457200" y="6115453"/>
            <a:ext cx="8229600" cy="310896"/>
          </a:xfrm>
          <a:prstGeom prst="rect">
            <a:avLst/>
          </a:prstGeom>
          <a:noFill/>
        </p:spPr>
        <p:txBody>
          <a:bodyPr wrap="square">
            <a:spAutoFit/>
          </a:bodyPr>
          <a:lstStyle/>
          <a:p>
            <a:pPr algn="ctr"/>
            <a:r>
              <a:rPr sz="1300" i="1">
                <a:solidFill>
                  <a:srgbClr val="666666"/>
                </a:solidFill>
              </a:rPr>
              <a:t>Tab Network của Chrome DevTools trên facebook.com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a:t>1.2. Nhìn Request/Response thật bằng DevTools (3/4)</a:t>
            </a:r>
          </a:p>
        </p:txBody>
      </p:sp>
      <p:sp>
        <p:nvSpPr>
          <p:cNvPr id="3" name="TextBox 2"/>
          <p:cNvSpPr txBox="1"/>
          <p:nvPr/>
        </p:nvSpPr>
        <p:spPr>
          <a:xfrm>
            <a:off x="457200" y="1371600"/>
            <a:ext cx="8229600" cy="411480"/>
          </a:xfrm>
          <a:prstGeom prst="rect">
            <a:avLst/>
          </a:prstGeom>
          <a:noFill/>
        </p:spPr>
        <p:txBody>
          <a:bodyPr wrap="square">
            <a:spAutoFit/>
          </a:bodyPr>
          <a:lstStyle/>
          <a:p>
            <a:r>
              <a:rPr sz="1500" b="0"/>
              <a:t>Đọc ảnh trên theo đúng thứ tự đánh số:</a:t>
            </a:r>
          </a:p>
        </p:txBody>
      </p:sp>
      <p:graphicFrame>
        <p:nvGraphicFramePr>
          <p:cNvPr id="4" name="Table 3"/>
          <p:cNvGraphicFramePr>
            <a:graphicFrameLocks noGrp="1"/>
          </p:cNvGraphicFramePr>
          <p:nvPr/>
        </p:nvGraphicFramePr>
        <p:xfrm>
          <a:off x="457200" y="1847088"/>
          <a:ext cx="8229600" cy="268833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r>
                        <a:rPr sz="1000" b="1">
                          <a:solidFill>
                            <a:srgbClr val="FFFFFF"/>
                          </a:solidFill>
                        </a:rPr>
                        <a:t>#</a:t>
                      </a:r>
                    </a:p>
                  </a:txBody>
                  <a:tcPr marL="54864" marR="54864" marT="27432" marB="27432" anchor="ctr"/>
                </a:tc>
                <a:tc>
                  <a:txBody>
                    <a:bodyPr/>
                    <a:lstStyle/>
                    <a:p>
                      <a:r>
                        <a:rPr sz="1000" b="1">
                          <a:solidFill>
                            <a:srgbClr val="FFFFFF"/>
                          </a:solidFill>
                        </a:rPr>
                        <a:t>Thành phần</a:t>
                      </a:r>
                    </a:p>
                  </a:txBody>
                  <a:tcPr marL="54864" marR="54864" marT="27432" marB="27432" anchor="ctr"/>
                </a:tc>
                <a:tc>
                  <a:txBody>
                    <a:bodyPr/>
                    <a:lstStyle/>
                    <a:p>
                      <a:r>
                        <a:rPr sz="1000" b="1">
                          <a:solidFill>
                            <a:srgbClr val="FFFFFF"/>
                          </a:solidFill>
                        </a:rPr>
                        <a:t>Ý nghĩa</a:t>
                      </a:r>
                    </a:p>
                  </a:txBody>
                  <a:tcPr marL="54864" marR="54864" marT="27432" marB="27432" anchor="ctr"/>
                </a:tc>
                <a:extLst>
                  <a:ext uri="{0D108BD9-81ED-4DB2-BD59-A6C34878D82A}">
                    <a16:rowId xmlns:a16="http://schemas.microsoft.com/office/drawing/2014/main" val="10000"/>
                  </a:ext>
                </a:extLst>
              </a:tr>
              <a:tr h="384048">
                <a:tc>
                  <a:txBody>
                    <a:bodyPr/>
                    <a:lstStyle/>
                    <a:p>
                      <a:r>
                        <a:rPr sz="1000" b="0"/>
                        <a:t>①</a:t>
                      </a:r>
                    </a:p>
                  </a:txBody>
                  <a:tcPr marL="54864" marR="54864" marT="27432" marB="27432" anchor="ctr"/>
                </a:tc>
                <a:tc>
                  <a:txBody>
                    <a:bodyPr/>
                    <a:lstStyle/>
                    <a:p>
                      <a:r>
                        <a:rPr sz="1000" b="0"/>
                        <a:t>Danh sách request</a:t>
                      </a:r>
                    </a:p>
                  </a:txBody>
                  <a:tcPr marL="54864" marR="54864" marT="27432" marB="27432" anchor="ctr"/>
                </a:tc>
                <a:tc>
                  <a:txBody>
                    <a:bodyPr/>
                    <a:lstStyle/>
                    <a:p>
                      <a:r>
                        <a:rPr sz="1000" b="0"/>
                        <a:t>Một trang web </a:t>
                      </a:r>
                      <a:r>
                        <a:rPr sz="1000" b="1"/>
                        <a:t>không phải một request</a:t>
                      </a:r>
                      <a:r>
                        <a:rPr sz="1000" b="0"/>
                        <a:t> — nó là hàng chục request (HTML, CSS, JS, ảnh)</a:t>
                      </a:r>
                    </a:p>
                  </a:txBody>
                  <a:tcPr marL="54864" marR="54864" marT="27432" marB="27432" anchor="ctr"/>
                </a:tc>
                <a:extLst>
                  <a:ext uri="{0D108BD9-81ED-4DB2-BD59-A6C34878D82A}">
                    <a16:rowId xmlns:a16="http://schemas.microsoft.com/office/drawing/2014/main" val="10001"/>
                  </a:ext>
                </a:extLst>
              </a:tr>
              <a:tr h="384048">
                <a:tc>
                  <a:txBody>
                    <a:bodyPr/>
                    <a:lstStyle/>
                    <a:p>
                      <a:r>
                        <a:rPr sz="1000" b="0"/>
                        <a:t>②</a:t>
                      </a:r>
                    </a:p>
                  </a:txBody>
                  <a:tcPr marL="54864" marR="54864" marT="27432" marB="27432" anchor="ctr"/>
                </a:tc>
                <a:tc>
                  <a:txBody>
                    <a:bodyPr/>
                    <a:lstStyle/>
                    <a:p>
                      <a:r>
                        <a:rPr sz="1000" b="0"/>
                        <a:t>Request URL + Method</a:t>
                      </a:r>
                    </a:p>
                  </a:txBody>
                  <a:tcPr marL="54864" marR="54864" marT="27432" marB="27432" anchor="ctr"/>
                </a:tc>
                <a:tc>
                  <a:txBody>
                    <a:bodyPr/>
                    <a:lstStyle/>
                    <a:p>
                      <a:r>
                        <a:rPr sz="1000" b="0"/>
                        <a:t>Địa chỉ trình duyệt gọi tới và cách gọi (</a:t>
                      </a:r>
                      <a:r>
                        <a:rPr sz="1000" b="0">
                          <a:latin typeface="Consolas"/>
                          <a:ea typeface="Consolas"/>
                          <a:cs typeface="Consolas"/>
                        </a:rPr>
                        <a:t>GET</a:t>
                      </a:r>
                      <a:r>
                        <a:rPr sz="1000" b="0"/>
                        <a:t> = xin dữ liệu)</a:t>
                      </a:r>
                    </a:p>
                  </a:txBody>
                  <a:tcPr marL="54864" marR="54864" marT="27432" marB="27432" anchor="ctr"/>
                </a:tc>
                <a:extLst>
                  <a:ext uri="{0D108BD9-81ED-4DB2-BD59-A6C34878D82A}">
                    <a16:rowId xmlns:a16="http://schemas.microsoft.com/office/drawing/2014/main" val="10002"/>
                  </a:ext>
                </a:extLst>
              </a:tr>
              <a:tr h="384048">
                <a:tc>
                  <a:txBody>
                    <a:bodyPr/>
                    <a:lstStyle/>
                    <a:p>
                      <a:r>
                        <a:rPr sz="1000" b="0"/>
                        <a:t>③</a:t>
                      </a:r>
                    </a:p>
                  </a:txBody>
                  <a:tcPr marL="54864" marR="54864" marT="27432" marB="27432" anchor="ctr"/>
                </a:tc>
                <a:tc>
                  <a:txBody>
                    <a:bodyPr/>
                    <a:lstStyle/>
                    <a:p>
                      <a:r>
                        <a:rPr sz="1000" b="0"/>
                        <a:t>Status Code</a:t>
                      </a:r>
                    </a:p>
                  </a:txBody>
                  <a:tcPr marL="54864" marR="54864" marT="27432" marB="27432" anchor="ctr"/>
                </a:tc>
                <a:tc>
                  <a:txBody>
                    <a:bodyPr/>
                    <a:lstStyle/>
                    <a:p>
                      <a:r>
                        <a:rPr sz="1000" b="0">
                          <a:latin typeface="Consolas"/>
                          <a:ea typeface="Consolas"/>
                          <a:cs typeface="Consolas"/>
                        </a:rPr>
                        <a:t>200</a:t>
                      </a:r>
                      <a:r>
                        <a:rPr sz="1000" b="0"/>
                        <a:t> = thành công · </a:t>
                      </a:r>
                      <a:r>
                        <a:rPr sz="1000" b="0">
                          <a:latin typeface="Consolas"/>
                          <a:ea typeface="Consolas"/>
                          <a:cs typeface="Consolas"/>
                        </a:rPr>
                        <a:t>404</a:t>
                      </a:r>
                      <a:r>
                        <a:rPr sz="1000" b="0"/>
                        <a:t> = không có · </a:t>
                      </a:r>
                      <a:r>
                        <a:rPr sz="1000" b="0">
                          <a:latin typeface="Consolas"/>
                          <a:ea typeface="Consolas"/>
                          <a:cs typeface="Consolas"/>
                        </a:rPr>
                        <a:t>500</a:t>
                      </a:r>
                      <a:r>
                        <a:rPr sz="1000" b="0"/>
                        <a:t> = server lỗi · </a:t>
                      </a:r>
                      <a:r>
                        <a:rPr sz="1000" b="0">
                          <a:latin typeface="Consolas"/>
                          <a:ea typeface="Consolas"/>
                          <a:cs typeface="Consolas"/>
                        </a:rPr>
                        <a:t>302</a:t>
                      </a:r>
                      <a:r>
                        <a:rPr sz="1000" b="0"/>
                        <a:t> = chuyển hướng</a:t>
                      </a:r>
                    </a:p>
                  </a:txBody>
                  <a:tcPr marL="54864" marR="54864" marT="27432" marB="27432" anchor="ctr"/>
                </a:tc>
                <a:extLst>
                  <a:ext uri="{0D108BD9-81ED-4DB2-BD59-A6C34878D82A}">
                    <a16:rowId xmlns:a16="http://schemas.microsoft.com/office/drawing/2014/main" val="10003"/>
                  </a:ext>
                </a:extLst>
              </a:tr>
              <a:tr h="384048">
                <a:tc>
                  <a:txBody>
                    <a:bodyPr/>
                    <a:lstStyle/>
                    <a:p>
                      <a:r>
                        <a:rPr sz="1000" b="0"/>
                        <a:t>④</a:t>
                      </a:r>
                    </a:p>
                  </a:txBody>
                  <a:tcPr marL="54864" marR="54864" marT="27432" marB="27432" anchor="ctr"/>
                </a:tc>
                <a:tc>
                  <a:txBody>
                    <a:bodyPr/>
                    <a:lstStyle/>
                    <a:p>
                      <a:r>
                        <a:rPr sz="1000" b="0"/>
                        <a:t>Request Headers</a:t>
                      </a:r>
                    </a:p>
                  </a:txBody>
                  <a:tcPr marL="54864" marR="54864" marT="27432" marB="27432" anchor="ctr"/>
                </a:tc>
                <a:tc>
                  <a:txBody>
                    <a:bodyPr/>
                    <a:lstStyle/>
                    <a:p>
                      <a:r>
                        <a:rPr sz="1000" b="0"/>
                        <a:t>Trình duyệt </a:t>
                      </a:r>
                      <a:r>
                        <a:rPr sz="1000" b="1"/>
                        <a:t>tự khai</a:t>
                      </a:r>
                      <a:r>
                        <a:rPr sz="1000" b="0"/>
                        <a:t> với server: nó là ai (</a:t>
                      </a:r>
                      <a:r>
                        <a:rPr sz="1000" b="0">
                          <a:latin typeface="Consolas"/>
                          <a:ea typeface="Consolas"/>
                          <a:cs typeface="Consolas"/>
                        </a:rPr>
                        <a:t>User-Agent</a:t>
                      </a:r>
                      <a:r>
                        <a:rPr sz="1000" b="0"/>
                        <a:t>), nhận được kiểu gì (</a:t>
                      </a:r>
                      <a:r>
                        <a:rPr sz="1000" b="0">
                          <a:latin typeface="Consolas"/>
                          <a:ea typeface="Consolas"/>
                          <a:cs typeface="Consolas"/>
                        </a:rPr>
                        <a:t>Accept</a:t>
                      </a:r>
                      <a:r>
                        <a:rPr sz="1000" b="0"/>
                        <a:t>)</a:t>
                      </a:r>
                    </a:p>
                  </a:txBody>
                  <a:tcPr marL="54864" marR="54864" marT="27432" marB="27432" anchor="ctr"/>
                </a:tc>
                <a:extLst>
                  <a:ext uri="{0D108BD9-81ED-4DB2-BD59-A6C34878D82A}">
                    <a16:rowId xmlns:a16="http://schemas.microsoft.com/office/drawing/2014/main" val="10004"/>
                  </a:ext>
                </a:extLst>
              </a:tr>
              <a:tr h="384048">
                <a:tc>
                  <a:txBody>
                    <a:bodyPr/>
                    <a:lstStyle/>
                    <a:p>
                      <a:r>
                        <a:rPr sz="1000" b="0"/>
                        <a:t>⑤</a:t>
                      </a:r>
                    </a:p>
                  </a:txBody>
                  <a:tcPr marL="54864" marR="54864" marT="27432" marB="27432" anchor="ctr"/>
                </a:tc>
                <a:tc>
                  <a:txBody>
                    <a:bodyPr/>
                    <a:lstStyle/>
                    <a:p>
                      <a:r>
                        <a:rPr sz="1000" b="0"/>
                        <a:t>Response Headers</a:t>
                      </a:r>
                    </a:p>
                  </a:txBody>
                  <a:tcPr marL="54864" marR="54864" marT="27432" marB="27432" anchor="ctr"/>
                </a:tc>
                <a:tc>
                  <a:txBody>
                    <a:bodyPr/>
                    <a:lstStyle/>
                    <a:p>
                      <a:r>
                        <a:rPr sz="1000" b="0"/>
                        <a:t>Server trả lời kèm mô tả: kiểu dữ liệu (</a:t>
                      </a:r>
                      <a:r>
                        <a:rPr sz="1000" b="0">
                          <a:latin typeface="Consolas"/>
                          <a:ea typeface="Consolas"/>
                          <a:cs typeface="Consolas"/>
                        </a:rPr>
                        <a:t>Content-Type</a:t>
                      </a:r>
                      <a:r>
                        <a:rPr sz="1000" b="0"/>
                        <a:t>), cookie (</a:t>
                      </a:r>
                      <a:r>
                        <a:rPr sz="1000" b="0">
                          <a:latin typeface="Consolas"/>
                          <a:ea typeface="Consolas"/>
                          <a:cs typeface="Consolas"/>
                        </a:rPr>
                        <a:t>Set-Cookie</a:t>
                      </a:r>
                      <a:r>
                        <a:rPr sz="1000" b="0"/>
                        <a:t>)</a:t>
                      </a:r>
                    </a:p>
                  </a:txBody>
                  <a:tcPr marL="54864" marR="54864" marT="27432" marB="27432" anchor="ctr"/>
                </a:tc>
                <a:extLst>
                  <a:ext uri="{0D108BD9-81ED-4DB2-BD59-A6C34878D82A}">
                    <a16:rowId xmlns:a16="http://schemas.microsoft.com/office/drawing/2014/main" val="10005"/>
                  </a:ext>
                </a:extLst>
              </a:tr>
              <a:tr h="384048">
                <a:tc>
                  <a:txBody>
                    <a:bodyPr/>
                    <a:lstStyle/>
                    <a:p>
                      <a:r>
                        <a:rPr sz="1000" b="0"/>
                        <a:t>⑥</a:t>
                      </a:r>
                    </a:p>
                  </a:txBody>
                  <a:tcPr marL="54864" marR="54864" marT="27432" marB="27432" anchor="ctr"/>
                </a:tc>
                <a:tc>
                  <a:txBody>
                    <a:bodyPr/>
                    <a:lstStyle/>
                    <a:p>
                      <a:r>
                        <a:rPr sz="1000" b="0"/>
                        <a:t>Cột Type / Size / Time</a:t>
                      </a:r>
                    </a:p>
                  </a:txBody>
                  <a:tcPr marL="54864" marR="54864" marT="27432" marB="27432" anchor="ctr"/>
                </a:tc>
                <a:tc>
                  <a:txBody>
                    <a:bodyPr/>
                    <a:lstStyle/>
                    <a:p>
                      <a:r>
                        <a:rPr sz="1000" b="0"/>
                        <a:t>Loại tài nguyên, nặng bao nhiêu, mất bao lâu — dùng để tìm chỗ chậm</a:t>
                      </a:r>
                    </a:p>
                  </a:txBody>
                  <a:tcPr marL="54864" marR="54864" marT="27432" marB="27432"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a:t>1.2. Nhìn Request/Response thật bằng DevTools (4/4)</a:t>
            </a:r>
          </a:p>
        </p:txBody>
      </p:sp>
      <p:sp>
        <p:nvSpPr>
          <p:cNvPr id="3" name="Content Placeholder 2"/>
          <p:cNvSpPr>
            <a:spLocks noGrp="1"/>
          </p:cNvSpPr>
          <p:nvPr>
            <p:ph idx="1"/>
          </p:nvPr>
        </p:nvSpPr>
        <p:spPr/>
        <p:txBody>
          <a:bodyPr wrap="square"/>
          <a:lstStyle/>
          <a:p>
            <a:pPr>
              <a:spcAft>
                <a:spcPts val="800"/>
              </a:spcAft>
            </a:pPr>
            <a:r>
              <a:rPr sz="2000" b="1"/>
              <a:t>Làm tại lớp ngay:</a:t>
            </a:r>
            <a:r>
              <a:rPr sz="2000" b="0"/>
              <a:t> mỗi học viên mở DevTools, tải lại một trang bất kỳ, chỉ ra được 6 thành phần trên. Đây là hình dung quan trọng nhất của cả khóa — từ buổi 8 trở đi, tab Network chính là công cụ debug chính khi Vue gọi API PHP.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800"/>
              <a:t>1.3. Cài đặt &amp; chạy trang PHP đầu tiên (1/5)</a:t>
            </a:r>
          </a:p>
        </p:txBody>
      </p:sp>
      <p:sp>
        <p:nvSpPr>
          <p:cNvPr id="3" name="Content Placeholder 2"/>
          <p:cNvSpPr>
            <a:spLocks noGrp="1"/>
          </p:cNvSpPr>
          <p:nvPr>
            <p:ph idx="1"/>
          </p:nvPr>
        </p:nvSpPr>
        <p:spPr/>
        <p:txBody>
          <a:bodyPr wrap="square"/>
          <a:lstStyle/>
          <a:p>
            <a:pPr>
              <a:spcAft>
                <a:spcPts val="600"/>
              </a:spcAft>
            </a:pPr>
            <a:r>
              <a:rPr sz="2000" b="0"/>
              <a:t>Mở </a:t>
            </a:r>
            <a:r>
              <a:rPr sz="2000" b="1"/>
              <a:t>XAMPP Control Panel</a:t>
            </a:r>
            <a:r>
              <a:rPr sz="2000" b="0"/>
              <a:t> → Start </a:t>
            </a:r>
            <a:r>
              <a:rPr sz="2000" b="1"/>
              <a:t>Apache</a:t>
            </a:r>
            <a:r>
              <a:rPr sz="2000" b="0"/>
              <a:t> và </a:t>
            </a:r>
            <a:r>
              <a:rPr sz="2000" b="1"/>
              <a:t>MySQL</a:t>
            </a:r>
            <a:r>
              <a:rPr sz="2000" b="0"/>
              <a:t>.</a:t>
            </a:r>
          </a:p>
          <a:p>
            <a:pPr>
              <a:spcAft>
                <a:spcPts val="600"/>
              </a:spcAft>
            </a:pPr>
            <a:r>
              <a:rPr sz="2000" b="0"/>
              <a:t>Tạo thư mục </a:t>
            </a:r>
            <a:r>
              <a:rPr sz="2000" b="0">
                <a:latin typeface="Consolas"/>
                <a:ea typeface="Consolas"/>
                <a:cs typeface="Consolas"/>
              </a:rPr>
              <a:t>C:/xampp/htdocs/course8/</a:t>
            </a:r>
            <a:r>
              <a:rPr sz="2000" b="0"/>
              <a:t>.</a:t>
            </a:r>
          </a:p>
          <a:p>
            <a:pPr>
              <a:spcAft>
                <a:spcPts val="600"/>
              </a:spcAft>
            </a:pPr>
            <a:r>
              <a:rPr sz="2000" b="0"/>
              <a:t>Tạo file </a:t>
            </a:r>
            <a:r>
              <a:rPr sz="2000" b="0">
                <a:latin typeface="Consolas"/>
                <a:ea typeface="Consolas"/>
                <a:cs typeface="Consolas"/>
              </a:rPr>
              <a:t>C:/xampp/htdocs/course8/index.php</a:t>
            </a:r>
            <a:r>
              <a:rPr sz="2000" b="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800"/>
              <a:t>1.3. Cài đặt &amp; chạy trang PHP đầu tiên (2/5)</a:t>
            </a:r>
          </a:p>
        </p:txBody>
      </p:sp>
      <p:sp>
        <p:nvSpPr>
          <p:cNvPr id="3" name="TextBox 2"/>
          <p:cNvSpPr txBox="1"/>
          <p:nvPr/>
        </p:nvSpPr>
        <p:spPr>
          <a:xfrm>
            <a:off x="365760" y="1188720"/>
            <a:ext cx="8412480" cy="1703832"/>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400">
                <a:solidFill>
                  <a:srgbClr val="1A1A1A"/>
                </a:solidFill>
                <a:latin typeface="Consolas"/>
                <a:ea typeface="Consolas"/>
                <a:cs typeface="Consolas"/>
              </a:rPr>
              <a:t>&lt;?php</a:t>
            </a:r>
          </a:p>
          <a:p>
            <a:pPr>
              <a:lnSpc>
                <a:spcPct val="100000"/>
              </a:lnSpc>
              <a:spcAft>
                <a:spcPts val="0"/>
              </a:spcAft>
            </a:pPr>
            <a:r>
              <a:rPr sz="1400">
                <a:solidFill>
                  <a:srgbClr val="4A804A"/>
                </a:solidFill>
                <a:latin typeface="Consolas"/>
                <a:ea typeface="Consolas"/>
                <a:cs typeface="Consolas"/>
              </a:rPr>
              <a:t>    // Buoi 1 - file PHP dau tien</a:t>
            </a:r>
          </a:p>
          <a:p>
            <a:pPr>
              <a:lnSpc>
                <a:spcPct val="100000"/>
              </a:lnSpc>
              <a:spcAft>
                <a:spcPts val="0"/>
              </a:spcAft>
            </a:pPr>
            <a:r>
              <a:rPr sz="1400">
                <a:solidFill>
                  <a:srgbClr val="1A1A1A"/>
                </a:solidFill>
                <a:latin typeface="Consolas"/>
                <a:ea typeface="Consolas"/>
                <a:cs typeface="Consolas"/>
              </a:rPr>
              <a:t>    echo "Xin chào lớp PHP khóa 8!";</a:t>
            </a:r>
          </a:p>
          <a:p>
            <a:pPr>
              <a:lnSpc>
                <a:spcPct val="100000"/>
              </a:lnSpc>
              <a:spcAft>
                <a:spcPts val="0"/>
              </a:spcAft>
            </a:pPr>
            <a:r>
              <a:rPr sz="1400">
                <a:solidFill>
                  <a:srgbClr val="1A1A1A"/>
                </a:solidFill>
                <a:latin typeface="Consolas"/>
                <a:ea typeface="Consolas"/>
                <a:cs typeface="Consolas"/>
              </a:rPr>
              <a:t>    echo "&lt;br&gt;";</a:t>
            </a:r>
          </a:p>
          <a:p>
            <a:pPr>
              <a:lnSpc>
                <a:spcPct val="100000"/>
              </a:lnSpc>
              <a:spcAft>
                <a:spcPts val="0"/>
              </a:spcAft>
            </a:pPr>
            <a:r>
              <a:rPr sz="1400">
                <a:solidFill>
                  <a:srgbClr val="1A1A1A"/>
                </a:solidFill>
                <a:latin typeface="Consolas"/>
                <a:ea typeface="Consolas"/>
                <a:cs typeface="Consolas"/>
              </a:rPr>
              <a:t>    echo "Hôm nay là: " . date("d/m/Y");</a:t>
            </a:r>
          </a:p>
          <a:p>
            <a:pPr>
              <a:lnSpc>
                <a:spcPct val="100000"/>
              </a:lnSpc>
              <a:spcAft>
                <a:spcPts val="0"/>
              </a:spcAft>
            </a:pPr>
            <a:r>
              <a:rPr sz="1400">
                <a:solidFill>
                  <a:srgbClr val="1A1A1A"/>
                </a:solidFill>
                <a:latin typeface="Consolas"/>
                <a:ea typeface="Consolas"/>
                <a:cs typeface="Consolas"/>
              </a:rPr>
              <a:t>?&gt;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800"/>
              <a:t>1.3. Cài đặt &amp; chạy trang PHP đầu tiên (3/5)</a:t>
            </a:r>
          </a:p>
        </p:txBody>
      </p:sp>
      <p:sp>
        <p:nvSpPr>
          <p:cNvPr id="3" name="Content Placeholder 2"/>
          <p:cNvSpPr>
            <a:spLocks noGrp="1"/>
          </p:cNvSpPr>
          <p:nvPr>
            <p:ph idx="1"/>
          </p:nvPr>
        </p:nvSpPr>
        <p:spPr/>
        <p:txBody>
          <a:bodyPr wrap="square"/>
          <a:lstStyle/>
          <a:p>
            <a:pPr>
              <a:spcAft>
                <a:spcPts val="600"/>
              </a:spcAft>
            </a:pPr>
            <a:r>
              <a:rPr sz="2000" b="0"/>
              <a:t>Mở trình duyệt và gõ </a:t>
            </a:r>
            <a:r>
              <a:rPr sz="2000" b="0">
                <a:latin typeface="Consolas"/>
                <a:ea typeface="Consolas"/>
                <a:cs typeface="Consolas"/>
              </a:rPr>
              <a:t>http://localhost/course8/index.php</a:t>
            </a:r>
            <a:r>
              <a:rPr sz="2000" b="0"/>
              <a:t> — kết quả phải như thế này: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800"/>
              <a:t>1.3. Cài đặt &amp; chạy trang PHP đầu tiên (4/5)</a:t>
            </a:r>
          </a:p>
        </p:txBody>
      </p:sp>
      <p:pic>
        <p:nvPicPr>
          <p:cNvPr id="3" name="Picture 2" descr="buoi01-chrome-hello.png"/>
          <p:cNvPicPr>
            <a:picLocks noChangeAspect="1"/>
          </p:cNvPicPr>
          <p:nvPr/>
        </p:nvPicPr>
        <p:blipFill>
          <a:blip r:embed="rId2"/>
          <a:stretch>
            <a:fillRect/>
          </a:stretch>
        </p:blipFill>
        <p:spPr>
          <a:xfrm>
            <a:off x="457200" y="1280160"/>
            <a:ext cx="8229600" cy="1517332"/>
          </a:xfrm>
          <a:prstGeom prst="rect">
            <a:avLst/>
          </a:prstGeom>
        </p:spPr>
      </p:pic>
      <p:sp>
        <p:nvSpPr>
          <p:cNvPr id="4" name="TextBox 3"/>
          <p:cNvSpPr txBox="1"/>
          <p:nvPr/>
        </p:nvSpPr>
        <p:spPr>
          <a:xfrm>
            <a:off x="457200" y="2852356"/>
            <a:ext cx="8229600" cy="310896"/>
          </a:xfrm>
          <a:prstGeom prst="rect">
            <a:avLst/>
          </a:prstGeom>
          <a:noFill/>
        </p:spPr>
        <p:txBody>
          <a:bodyPr wrap="square">
            <a:spAutoFit/>
          </a:bodyPr>
          <a:lstStyle/>
          <a:p>
            <a:pPr algn="ctr"/>
            <a:r>
              <a:rPr sz="1300" i="1">
                <a:solidFill>
                  <a:srgbClr val="666666"/>
                </a:solidFill>
              </a:rPr>
              <a:t>Kết quả chạy index.php trên Chrome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800"/>
              <a:t>1.3. Cài đặt &amp; chạy trang PHP đầu tiên (5/5)</a:t>
            </a:r>
          </a:p>
        </p:txBody>
      </p:sp>
      <p:sp>
        <p:nvSpPr>
          <p:cNvPr id="3" name="Content Placeholder 2"/>
          <p:cNvSpPr>
            <a:spLocks noGrp="1"/>
          </p:cNvSpPr>
          <p:nvPr>
            <p:ph idx="1"/>
          </p:nvPr>
        </p:nvSpPr>
        <p:spPr/>
        <p:txBody>
          <a:bodyPr wrap="square"/>
          <a:lstStyle/>
          <a:p>
            <a:pPr>
              <a:spcAft>
                <a:spcPts val="800"/>
              </a:spcAft>
            </a:pPr>
            <a:r>
              <a:rPr sz="1800" b="0"/>
              <a:t>Hai chi tiết cần chỉ cho học viên thấy trên ảnh:</a:t>
            </a:r>
          </a:p>
          <a:p>
            <a:pPr>
              <a:spcAft>
                <a:spcPts val="600"/>
              </a:spcAft>
            </a:pPr>
            <a:r>
              <a:rPr sz="1800" b="0"/>
              <a:t>Thanh địa chỉ là </a:t>
            </a:r>
            <a:r>
              <a:rPr sz="1800" b="0">
                <a:latin typeface="Consolas"/>
                <a:ea typeface="Consolas"/>
                <a:cs typeface="Consolas"/>
              </a:rPr>
              <a:t>http://localhost/...</a:t>
            </a:r>
            <a:r>
              <a:rPr sz="1800" b="0"/>
              <a:t>, </a:t>
            </a:r>
            <a:r>
              <a:rPr sz="1800" b="1"/>
              <a:t>không phải</a:t>
            </a:r>
            <a:r>
              <a:rPr sz="1800" b="0"/>
              <a:t> </a:t>
            </a:r>
            <a:r>
              <a:rPr sz="1800" b="0">
                <a:latin typeface="Consolas"/>
                <a:ea typeface="Consolas"/>
                <a:cs typeface="Consolas"/>
              </a:rPr>
              <a:t>file:///...</a:t>
            </a:r>
            <a:r>
              <a:rPr sz="1800" b="0"/>
              <a:t>. Sai chỗ này là trình duyệt in ra nguyên code PHP thay vì chạy nó.</a:t>
            </a:r>
          </a:p>
          <a:p>
            <a:pPr>
              <a:spcAft>
                <a:spcPts val="600"/>
              </a:spcAft>
            </a:pPr>
            <a:r>
              <a:rPr sz="1800" b="0"/>
              <a:t>Ngày tháng trong dòng thứ hai do </a:t>
            </a:r>
            <a:r>
              <a:rPr sz="1800" b="1"/>
              <a:t>server sinh ra lúc tải trang</a:t>
            </a:r>
            <a:r>
              <a:rPr sz="1800" b="0"/>
              <a:t>, không phải chữ gõ sẵn — bấm F5 vào ngày mai sẽ thấy nó đổi. Đó chính là "động" (dynamic).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Tiết 2 — Cú pháp PHP cơ bản</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2.1. Biến, kiểu dữ liệu, hằng số (1/5)</a:t>
            </a:r>
          </a:p>
        </p:txBody>
      </p:sp>
      <p:sp>
        <p:nvSpPr>
          <p:cNvPr id="3" name="TextBox 2"/>
          <p:cNvSpPr txBox="1"/>
          <p:nvPr/>
        </p:nvSpPr>
        <p:spPr>
          <a:xfrm>
            <a:off x="365760" y="1188720"/>
            <a:ext cx="8412480" cy="3456686"/>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100">
                <a:solidFill>
                  <a:srgbClr val="1A1A1A"/>
                </a:solidFill>
                <a:latin typeface="Consolas"/>
                <a:ea typeface="Consolas"/>
                <a:cs typeface="Consolas"/>
              </a:rPr>
              <a:t>&lt;?php</a:t>
            </a:r>
          </a:p>
          <a:p>
            <a:pPr>
              <a:lnSpc>
                <a:spcPct val="100000"/>
              </a:lnSpc>
              <a:spcAft>
                <a:spcPts val="0"/>
              </a:spcAft>
            </a:pPr>
            <a:r>
              <a:rPr sz="1100">
                <a:solidFill>
                  <a:srgbClr val="4A804A"/>
                </a:solidFill>
                <a:latin typeface="Consolas"/>
                <a:ea typeface="Consolas"/>
                <a:cs typeface="Consolas"/>
              </a:rPr>
              <a:t>    // Bien luon bat dau bang dau $, khong can khai bao kieu</a:t>
            </a:r>
          </a:p>
          <a:p>
            <a:pPr>
              <a:lnSpc>
                <a:spcPct val="100000"/>
              </a:lnSpc>
              <a:spcAft>
                <a:spcPts val="0"/>
              </a:spcAft>
            </a:pPr>
            <a:r>
              <a:rPr sz="1100">
                <a:solidFill>
                  <a:srgbClr val="1A1A1A"/>
                </a:solidFill>
                <a:latin typeface="Consolas"/>
                <a:ea typeface="Consolas"/>
                <a:cs typeface="Consolas"/>
              </a:rPr>
              <a:t>    $ten       = "Nguyễn Văn A";   // string</a:t>
            </a:r>
          </a:p>
          <a:p>
            <a:pPr>
              <a:lnSpc>
                <a:spcPct val="100000"/>
              </a:lnSpc>
              <a:spcAft>
                <a:spcPts val="0"/>
              </a:spcAft>
            </a:pPr>
            <a:r>
              <a:rPr sz="1100">
                <a:solidFill>
                  <a:srgbClr val="1A1A1A"/>
                </a:solidFill>
                <a:latin typeface="Consolas"/>
                <a:ea typeface="Consolas"/>
                <a:cs typeface="Consolas"/>
              </a:rPr>
              <a:t>    $tuoi      = 20;               // int</a:t>
            </a:r>
          </a:p>
          <a:p>
            <a:pPr>
              <a:lnSpc>
                <a:spcPct val="100000"/>
              </a:lnSpc>
              <a:spcAft>
                <a:spcPts val="0"/>
              </a:spcAft>
            </a:pPr>
            <a:r>
              <a:rPr sz="1100">
                <a:solidFill>
                  <a:srgbClr val="1A1A1A"/>
                </a:solidFill>
                <a:latin typeface="Consolas"/>
                <a:ea typeface="Consolas"/>
                <a:cs typeface="Consolas"/>
              </a:rPr>
              <a:t>    $diem      = 8.5;              // float</a:t>
            </a:r>
          </a:p>
          <a:p>
            <a:pPr>
              <a:lnSpc>
                <a:spcPct val="100000"/>
              </a:lnSpc>
              <a:spcAft>
                <a:spcPts val="0"/>
              </a:spcAft>
            </a:pPr>
            <a:r>
              <a:rPr sz="1100">
                <a:solidFill>
                  <a:srgbClr val="1A1A1A"/>
                </a:solidFill>
                <a:latin typeface="Consolas"/>
                <a:ea typeface="Consolas"/>
                <a:cs typeface="Consolas"/>
              </a:rPr>
              <a:t>    $daDangKy  = true;             // bool</a:t>
            </a:r>
          </a:p>
          <a:p>
            <a:pPr>
              <a:lnSpc>
                <a:spcPct val="100000"/>
              </a:lnSpc>
              <a:spcAft>
                <a:spcPts val="0"/>
              </a:spcAft>
            </a:pPr>
            <a:r>
              <a:rPr sz="1100">
                <a:solidFill>
                  <a:srgbClr val="1A1A1A"/>
                </a:solidFill>
                <a:latin typeface="Consolas"/>
                <a:ea typeface="Consolas"/>
                <a:cs typeface="Consolas"/>
              </a:rPr>
              <a:t> </a:t>
            </a:r>
          </a:p>
          <a:p>
            <a:pPr>
              <a:lnSpc>
                <a:spcPct val="100000"/>
              </a:lnSpc>
              <a:spcAft>
                <a:spcPts val="0"/>
              </a:spcAft>
            </a:pPr>
            <a:r>
              <a:rPr sz="1100">
                <a:solidFill>
                  <a:srgbClr val="4A804A"/>
                </a:solidFill>
                <a:latin typeface="Consolas"/>
                <a:ea typeface="Consolas"/>
                <a:cs typeface="Consolas"/>
              </a:rPr>
              <a:t>    // Hang so: viet HOA toan bo</a:t>
            </a:r>
          </a:p>
          <a:p>
            <a:pPr>
              <a:lnSpc>
                <a:spcPct val="100000"/>
              </a:lnSpc>
              <a:spcAft>
                <a:spcPts val="0"/>
              </a:spcAft>
            </a:pPr>
            <a:r>
              <a:rPr sz="1100">
                <a:solidFill>
                  <a:srgbClr val="1A1A1A"/>
                </a:solidFill>
                <a:latin typeface="Consolas"/>
                <a:ea typeface="Consolas"/>
                <a:cs typeface="Consolas"/>
              </a:rPr>
              <a:t>    define("ITEM_PER_PAGE", 5);</a:t>
            </a:r>
          </a:p>
          <a:p>
            <a:pPr>
              <a:lnSpc>
                <a:spcPct val="100000"/>
              </a:lnSpc>
              <a:spcAft>
                <a:spcPts val="0"/>
              </a:spcAft>
            </a:pPr>
            <a:r>
              <a:rPr sz="1100">
                <a:solidFill>
                  <a:srgbClr val="1A1A1A"/>
                </a:solidFill>
                <a:latin typeface="Consolas"/>
                <a:ea typeface="Consolas"/>
                <a:cs typeface="Consolas"/>
              </a:rPr>
              <a:t>    const SITE_NAME = "Mini Shop";</a:t>
            </a:r>
          </a:p>
          <a:p>
            <a:pPr>
              <a:lnSpc>
                <a:spcPct val="100000"/>
              </a:lnSpc>
              <a:spcAft>
                <a:spcPts val="0"/>
              </a:spcAft>
            </a:pPr>
            <a:r>
              <a:rPr sz="1100">
                <a:solidFill>
                  <a:srgbClr val="1A1A1A"/>
                </a:solidFill>
                <a:latin typeface="Consolas"/>
                <a:ea typeface="Consolas"/>
                <a:cs typeface="Consolas"/>
              </a:rPr>
              <a:t> </a:t>
            </a:r>
          </a:p>
          <a:p>
            <a:pPr>
              <a:lnSpc>
                <a:spcPct val="100000"/>
              </a:lnSpc>
              <a:spcAft>
                <a:spcPts val="0"/>
              </a:spcAft>
            </a:pPr>
            <a:r>
              <a:rPr sz="1100">
                <a:solidFill>
                  <a:srgbClr val="1A1A1A"/>
                </a:solidFill>
                <a:latin typeface="Consolas"/>
                <a:ea typeface="Consolas"/>
                <a:cs typeface="Consolas"/>
              </a:rPr>
              <a:t>    echo "Tên: $ten - Tuổi: $tuoi &lt;br&gt;";        // nháy kép: bien duoc thay the</a:t>
            </a:r>
          </a:p>
          <a:p>
            <a:pPr>
              <a:lnSpc>
                <a:spcPct val="100000"/>
              </a:lnSpc>
              <a:spcAft>
                <a:spcPts val="0"/>
              </a:spcAft>
            </a:pPr>
            <a:r>
              <a:rPr sz="1100">
                <a:solidFill>
                  <a:srgbClr val="1A1A1A"/>
                </a:solidFill>
                <a:latin typeface="Consolas"/>
                <a:ea typeface="Consolas"/>
                <a:cs typeface="Consolas"/>
              </a:rPr>
              <a:t>    echo 'Tên: $ten &lt;br&gt;';                       // nhay don: in nguyen van</a:t>
            </a:r>
          </a:p>
          <a:p>
            <a:pPr>
              <a:lnSpc>
                <a:spcPct val="100000"/>
              </a:lnSpc>
              <a:spcAft>
                <a:spcPts val="0"/>
              </a:spcAft>
            </a:pPr>
            <a:r>
              <a:rPr sz="1100">
                <a:solidFill>
                  <a:srgbClr val="1A1A1A"/>
                </a:solidFill>
                <a:latin typeface="Consolas"/>
                <a:ea typeface="Consolas"/>
                <a:cs typeface="Consolas"/>
              </a:rPr>
              <a:t>    echo "Trang: " . SITE_NAME . "&lt;br&gt;";         // dau . de noi chuoi</a:t>
            </a:r>
          </a:p>
          <a:p>
            <a:pPr>
              <a:lnSpc>
                <a:spcPct val="100000"/>
              </a:lnSpc>
              <a:spcAft>
                <a:spcPts val="0"/>
              </a:spcAft>
            </a:pPr>
            <a:r>
              <a:rPr sz="1100">
                <a:solidFill>
                  <a:srgbClr val="1A1A1A"/>
                </a:solidFill>
                <a:latin typeface="Consolas"/>
                <a:ea typeface="Consolas"/>
                <a:cs typeface="Consolas"/>
              </a:rPr>
              <a:t> </a:t>
            </a:r>
          </a:p>
          <a:p>
            <a:pPr>
              <a:lnSpc>
                <a:spcPct val="100000"/>
              </a:lnSpc>
              <a:spcAft>
                <a:spcPts val="0"/>
              </a:spcAft>
            </a:pPr>
            <a:r>
              <a:rPr sz="1100">
                <a:solidFill>
                  <a:srgbClr val="1A1A1A"/>
                </a:solidFill>
                <a:latin typeface="Consolas"/>
                <a:ea typeface="Consolas"/>
                <a:cs typeface="Consolas"/>
              </a:rPr>
              <a:t>    var_dump($diem);   // in ra ca kieu du lieu - rat huu ich khi debug</a:t>
            </a:r>
          </a:p>
          <a:p>
            <a:pPr>
              <a:lnSpc>
                <a:spcPct val="100000"/>
              </a:lnSpc>
              <a:spcAft>
                <a:spcPts val="0"/>
              </a:spcAft>
            </a:pPr>
            <a:r>
              <a:rPr sz="1100">
                <a:solidFill>
                  <a:srgbClr val="1A1A1A"/>
                </a:solidFill>
                <a:latin typeface="Consolas"/>
                <a:ea typeface="Consolas"/>
                <a:cs typeface="Consolas"/>
              </a:rPr>
              <a:t>?&gt;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2.1. Biến, kiểu dữ liệu, hằng số (2/5)</a:t>
            </a:r>
          </a:p>
        </p:txBody>
      </p:sp>
      <p:sp>
        <p:nvSpPr>
          <p:cNvPr id="3" name="TextBox 2"/>
          <p:cNvSpPr txBox="1"/>
          <p:nvPr/>
        </p:nvSpPr>
        <p:spPr>
          <a:xfrm>
            <a:off x="457200" y="1371600"/>
            <a:ext cx="8229600" cy="411480"/>
          </a:xfrm>
          <a:prstGeom prst="rect">
            <a:avLst/>
          </a:prstGeom>
          <a:noFill/>
        </p:spPr>
        <p:txBody>
          <a:bodyPr wrap="square">
            <a:spAutoFit/>
          </a:bodyPr>
          <a:lstStyle/>
          <a:p>
            <a:r>
              <a:rPr sz="1500" b="1"/>
              <a:t>Các kiểu dữ liệu trong PHP:</a:t>
            </a:r>
          </a:p>
        </p:txBody>
      </p:sp>
      <p:graphicFrame>
        <p:nvGraphicFramePr>
          <p:cNvPr id="4" name="Table 3"/>
          <p:cNvGraphicFramePr>
            <a:graphicFrameLocks noGrp="1"/>
          </p:cNvGraphicFramePr>
          <p:nvPr/>
        </p:nvGraphicFramePr>
        <p:xfrm>
          <a:off x="457200" y="1847088"/>
          <a:ext cx="8229600" cy="2688336"/>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84048">
                <a:tc>
                  <a:txBody>
                    <a:bodyPr/>
                    <a:lstStyle/>
                    <a:p>
                      <a:r>
                        <a:rPr sz="1300" b="1">
                          <a:solidFill>
                            <a:srgbClr val="FFFFFF"/>
                          </a:solidFill>
                        </a:rPr>
                        <a:t>Kiểu</a:t>
                      </a:r>
                    </a:p>
                  </a:txBody>
                  <a:tcPr marL="54864" marR="54864" marT="27432" marB="27432" anchor="ctr"/>
                </a:tc>
                <a:tc>
                  <a:txBody>
                    <a:bodyPr/>
                    <a:lstStyle/>
                    <a:p>
                      <a:r>
                        <a:rPr sz="1300" b="1">
                          <a:solidFill>
                            <a:srgbClr val="FFFFFF"/>
                          </a:solidFill>
                        </a:rPr>
                        <a:t>Là gì</a:t>
                      </a:r>
                    </a:p>
                  </a:txBody>
                  <a:tcPr marL="54864" marR="54864" marT="27432" marB="27432" anchor="ctr"/>
                </a:tc>
                <a:tc>
                  <a:txBody>
                    <a:bodyPr/>
                    <a:lstStyle/>
                    <a:p>
                      <a:r>
                        <a:rPr sz="1300" b="1">
                          <a:solidFill>
                            <a:srgbClr val="FFFFFF"/>
                          </a:solidFill>
                        </a:rPr>
                        <a:t>Ví dụ</a:t>
                      </a:r>
                    </a:p>
                  </a:txBody>
                  <a:tcPr marL="54864" marR="54864" marT="27432" marB="27432" anchor="ctr"/>
                </a:tc>
                <a:tc>
                  <a:txBody>
                    <a:bodyPr/>
                    <a:lstStyle/>
                    <a:p>
                      <a:r>
                        <a:rPr sz="1300" b="1">
                          <a:solidFill>
                            <a:srgbClr val="FFFFFF"/>
                          </a:solidFill>
                        </a:rPr>
                        <a:t>Dùng khi nào</a:t>
                      </a:r>
                    </a:p>
                  </a:txBody>
                  <a:tcPr marL="54864" marR="54864" marT="27432" marB="27432" anchor="ctr"/>
                </a:tc>
                <a:extLst>
                  <a:ext uri="{0D108BD9-81ED-4DB2-BD59-A6C34878D82A}">
                    <a16:rowId xmlns:a16="http://schemas.microsoft.com/office/drawing/2014/main" val="10000"/>
                  </a:ext>
                </a:extLst>
              </a:tr>
              <a:tr h="384048">
                <a:tc>
                  <a:txBody>
                    <a:bodyPr/>
                    <a:lstStyle/>
                    <a:p>
                      <a:r>
                        <a:rPr sz="1300" b="0">
                          <a:latin typeface="Consolas"/>
                          <a:ea typeface="Consolas"/>
                          <a:cs typeface="Consolas"/>
                        </a:rPr>
                        <a:t>string</a:t>
                      </a:r>
                    </a:p>
                  </a:txBody>
                  <a:tcPr marL="54864" marR="54864" marT="27432" marB="27432" anchor="ctr"/>
                </a:tc>
                <a:tc>
                  <a:txBody>
                    <a:bodyPr/>
                    <a:lstStyle/>
                    <a:p>
                      <a:r>
                        <a:rPr sz="1300" b="0"/>
                        <a:t>Chuỗi ký tự, đặt trong nháy đơn hoặc nháy kép</a:t>
                      </a:r>
                    </a:p>
                  </a:txBody>
                  <a:tcPr marL="54864" marR="54864" marT="27432" marB="27432" anchor="ctr"/>
                </a:tc>
                <a:tc>
                  <a:txBody>
                    <a:bodyPr/>
                    <a:lstStyle/>
                    <a:p>
                      <a:r>
                        <a:rPr sz="1300" b="0">
                          <a:latin typeface="Consolas"/>
                          <a:ea typeface="Consolas"/>
                          <a:cs typeface="Consolas"/>
                        </a:rPr>
                        <a:t>"Bút bi"</a:t>
                      </a:r>
                    </a:p>
                  </a:txBody>
                  <a:tcPr marL="54864" marR="54864" marT="27432" marB="27432" anchor="ctr"/>
                </a:tc>
                <a:tc>
                  <a:txBody>
                    <a:bodyPr/>
                    <a:lstStyle/>
                    <a:p>
                      <a:r>
                        <a:rPr sz="1300" b="0"/>
                        <a:t>Tên, mô tả, mọi thứ nhập từ form</a:t>
                      </a:r>
                    </a:p>
                  </a:txBody>
                  <a:tcPr marL="54864" marR="54864" marT="27432" marB="27432" anchor="ctr"/>
                </a:tc>
                <a:extLst>
                  <a:ext uri="{0D108BD9-81ED-4DB2-BD59-A6C34878D82A}">
                    <a16:rowId xmlns:a16="http://schemas.microsoft.com/office/drawing/2014/main" val="10001"/>
                  </a:ext>
                </a:extLst>
              </a:tr>
              <a:tr h="384048">
                <a:tc>
                  <a:txBody>
                    <a:bodyPr/>
                    <a:lstStyle/>
                    <a:p>
                      <a:r>
                        <a:rPr sz="1300" b="0">
                          <a:latin typeface="Consolas"/>
                          <a:ea typeface="Consolas"/>
                          <a:cs typeface="Consolas"/>
                        </a:rPr>
                        <a:t>int</a:t>
                      </a:r>
                    </a:p>
                  </a:txBody>
                  <a:tcPr marL="54864" marR="54864" marT="27432" marB="27432" anchor="ctr"/>
                </a:tc>
                <a:tc>
                  <a:txBody>
                    <a:bodyPr/>
                    <a:lstStyle/>
                    <a:p>
                      <a:r>
                        <a:rPr sz="1300" b="0"/>
                        <a:t>Số nguyên, không có phần thập phân</a:t>
                      </a:r>
                    </a:p>
                  </a:txBody>
                  <a:tcPr marL="54864" marR="54864" marT="27432" marB="27432" anchor="ctr"/>
                </a:tc>
                <a:tc>
                  <a:txBody>
                    <a:bodyPr/>
                    <a:lstStyle/>
                    <a:p>
                      <a:r>
                        <a:rPr sz="1300" b="0">
                          <a:latin typeface="Consolas"/>
                          <a:ea typeface="Consolas"/>
                          <a:cs typeface="Consolas"/>
                        </a:rPr>
                        <a:t>20</a:t>
                      </a:r>
                      <a:r>
                        <a:rPr sz="1300" b="0"/>
                        <a:t>, </a:t>
                      </a:r>
                      <a:r>
                        <a:rPr sz="1300" b="0">
                          <a:latin typeface="Consolas"/>
                          <a:ea typeface="Consolas"/>
                          <a:cs typeface="Consolas"/>
                        </a:rPr>
                        <a:t>15000</a:t>
                      </a:r>
                    </a:p>
                  </a:txBody>
                  <a:tcPr marL="54864" marR="54864" marT="27432" marB="27432" anchor="ctr"/>
                </a:tc>
                <a:tc>
                  <a:txBody>
                    <a:bodyPr/>
                    <a:lstStyle/>
                    <a:p>
                      <a:r>
                        <a:rPr sz="1300" b="0"/>
                        <a:t>Số lượng, id, giá tiền VNĐ</a:t>
                      </a:r>
                    </a:p>
                  </a:txBody>
                  <a:tcPr marL="54864" marR="54864" marT="27432" marB="27432" anchor="ctr"/>
                </a:tc>
                <a:extLst>
                  <a:ext uri="{0D108BD9-81ED-4DB2-BD59-A6C34878D82A}">
                    <a16:rowId xmlns:a16="http://schemas.microsoft.com/office/drawing/2014/main" val="10002"/>
                  </a:ext>
                </a:extLst>
              </a:tr>
              <a:tr h="384048">
                <a:tc>
                  <a:txBody>
                    <a:bodyPr/>
                    <a:lstStyle/>
                    <a:p>
                      <a:r>
                        <a:rPr sz="1300" b="0">
                          <a:latin typeface="Consolas"/>
                          <a:ea typeface="Consolas"/>
                          <a:cs typeface="Consolas"/>
                        </a:rPr>
                        <a:t>float</a:t>
                      </a:r>
                    </a:p>
                  </a:txBody>
                  <a:tcPr marL="54864" marR="54864" marT="27432" marB="27432" anchor="ctr"/>
                </a:tc>
                <a:tc>
                  <a:txBody>
                    <a:bodyPr/>
                    <a:lstStyle/>
                    <a:p>
                      <a:r>
                        <a:rPr sz="1300" b="0"/>
                        <a:t>Số thực, có phần thập phân</a:t>
                      </a:r>
                    </a:p>
                  </a:txBody>
                  <a:tcPr marL="54864" marR="54864" marT="27432" marB="27432" anchor="ctr"/>
                </a:tc>
                <a:tc>
                  <a:txBody>
                    <a:bodyPr/>
                    <a:lstStyle/>
                    <a:p>
                      <a:r>
                        <a:rPr sz="1300" b="0">
                          <a:latin typeface="Consolas"/>
                          <a:ea typeface="Consolas"/>
                          <a:cs typeface="Consolas"/>
                        </a:rPr>
                        <a:t>8.5</a:t>
                      </a:r>
                      <a:r>
                        <a:rPr sz="1300" b="0"/>
                        <a:t>, </a:t>
                      </a:r>
                      <a:r>
                        <a:rPr sz="1300" b="0">
                          <a:latin typeface="Consolas"/>
                          <a:ea typeface="Consolas"/>
                          <a:cs typeface="Consolas"/>
                        </a:rPr>
                        <a:t>0.15</a:t>
                      </a:r>
                    </a:p>
                  </a:txBody>
                  <a:tcPr marL="54864" marR="54864" marT="27432" marB="27432" anchor="ctr"/>
                </a:tc>
                <a:tc>
                  <a:txBody>
                    <a:bodyPr/>
                    <a:lstStyle/>
                    <a:p>
                      <a:r>
                        <a:rPr sz="1300" b="0"/>
                        <a:t>Điểm, tỷ lệ, phần trăm</a:t>
                      </a:r>
                    </a:p>
                  </a:txBody>
                  <a:tcPr marL="54864" marR="54864" marT="27432" marB="27432" anchor="ctr"/>
                </a:tc>
                <a:extLst>
                  <a:ext uri="{0D108BD9-81ED-4DB2-BD59-A6C34878D82A}">
                    <a16:rowId xmlns:a16="http://schemas.microsoft.com/office/drawing/2014/main" val="10003"/>
                  </a:ext>
                </a:extLst>
              </a:tr>
              <a:tr h="384048">
                <a:tc>
                  <a:txBody>
                    <a:bodyPr/>
                    <a:lstStyle/>
                    <a:p>
                      <a:r>
                        <a:rPr sz="1300" b="0">
                          <a:latin typeface="Consolas"/>
                          <a:ea typeface="Consolas"/>
                          <a:cs typeface="Consolas"/>
                        </a:rPr>
                        <a:t>bool</a:t>
                      </a:r>
                    </a:p>
                  </a:txBody>
                  <a:tcPr marL="54864" marR="54864" marT="27432" marB="27432" anchor="ctr"/>
                </a:tc>
                <a:tc>
                  <a:txBody>
                    <a:bodyPr/>
                    <a:lstStyle/>
                    <a:p>
                      <a:r>
                        <a:rPr sz="1300" b="0"/>
                        <a:t>Chỉ có 2 giá trị </a:t>
                      </a:r>
                      <a:r>
                        <a:rPr sz="1300" b="0">
                          <a:latin typeface="Consolas"/>
                          <a:ea typeface="Consolas"/>
                          <a:cs typeface="Consolas"/>
                        </a:rPr>
                        <a:t>true</a:t>
                      </a:r>
                      <a:r>
                        <a:rPr sz="1300" b="0"/>
                        <a:t> / </a:t>
                      </a:r>
                      <a:r>
                        <a:rPr sz="1300" b="0">
                          <a:latin typeface="Consolas"/>
                          <a:ea typeface="Consolas"/>
                          <a:cs typeface="Consolas"/>
                        </a:rPr>
                        <a:t>false</a:t>
                      </a:r>
                    </a:p>
                  </a:txBody>
                  <a:tcPr marL="54864" marR="54864" marT="27432" marB="27432" anchor="ctr"/>
                </a:tc>
                <a:tc>
                  <a:txBody>
                    <a:bodyPr/>
                    <a:lstStyle/>
                    <a:p>
                      <a:r>
                        <a:rPr sz="1300" b="0">
                          <a:latin typeface="Consolas"/>
                          <a:ea typeface="Consolas"/>
                          <a:cs typeface="Consolas"/>
                        </a:rPr>
                        <a:t>true</a:t>
                      </a:r>
                    </a:p>
                  </a:txBody>
                  <a:tcPr marL="54864" marR="54864" marT="27432" marB="27432" anchor="ctr"/>
                </a:tc>
                <a:tc>
                  <a:txBody>
                    <a:bodyPr/>
                    <a:lstStyle/>
                    <a:p>
                      <a:r>
                        <a:rPr sz="1300" b="0"/>
                        <a:t>Câu hỏi có/không: đã đăng ký? còn hàng?</a:t>
                      </a:r>
                    </a:p>
                  </a:txBody>
                  <a:tcPr marL="54864" marR="54864" marT="27432" marB="27432" anchor="ctr"/>
                </a:tc>
                <a:extLst>
                  <a:ext uri="{0D108BD9-81ED-4DB2-BD59-A6C34878D82A}">
                    <a16:rowId xmlns:a16="http://schemas.microsoft.com/office/drawing/2014/main" val="10004"/>
                  </a:ext>
                </a:extLst>
              </a:tr>
              <a:tr h="384048">
                <a:tc>
                  <a:txBody>
                    <a:bodyPr/>
                    <a:lstStyle/>
                    <a:p>
                      <a:r>
                        <a:rPr sz="1300" b="0">
                          <a:latin typeface="Consolas"/>
                          <a:ea typeface="Consolas"/>
                          <a:cs typeface="Consolas"/>
                        </a:rPr>
                        <a:t>array</a:t>
                      </a:r>
                    </a:p>
                  </a:txBody>
                  <a:tcPr marL="54864" marR="54864" marT="27432" marB="27432" anchor="ctr"/>
                </a:tc>
                <a:tc>
                  <a:txBody>
                    <a:bodyPr/>
                    <a:lstStyle/>
                    <a:p>
                      <a:r>
                        <a:rPr sz="1300" b="0"/>
                        <a:t>Nhiều giá trị gộp trong một biến</a:t>
                      </a:r>
                    </a:p>
                  </a:txBody>
                  <a:tcPr marL="54864" marR="54864" marT="27432" marB="27432" anchor="ctr"/>
                </a:tc>
                <a:tc>
                  <a:txBody>
                    <a:bodyPr/>
                    <a:lstStyle/>
                    <a:p>
                      <a:r>
                        <a:rPr sz="1300" b="0">
                          <a:latin typeface="Consolas"/>
                          <a:ea typeface="Consolas"/>
                          <a:cs typeface="Consolas"/>
                        </a:rPr>
                        <a:t>[5000, 8000]</a:t>
                      </a:r>
                    </a:p>
                  </a:txBody>
                  <a:tcPr marL="54864" marR="54864" marT="27432" marB="27432" anchor="ctr"/>
                </a:tc>
                <a:tc>
                  <a:txBody>
                    <a:bodyPr/>
                    <a:lstStyle/>
                    <a:p>
                      <a:r>
                        <a:rPr sz="1300" b="0"/>
                        <a:t>Danh sách sản phẩm, một dòng dữ liệu</a:t>
                      </a:r>
                    </a:p>
                  </a:txBody>
                  <a:tcPr marL="54864" marR="54864" marT="27432" marB="27432" anchor="ctr"/>
                </a:tc>
                <a:extLst>
                  <a:ext uri="{0D108BD9-81ED-4DB2-BD59-A6C34878D82A}">
                    <a16:rowId xmlns:a16="http://schemas.microsoft.com/office/drawing/2014/main" val="10005"/>
                  </a:ext>
                </a:extLst>
              </a:tr>
              <a:tr h="384048">
                <a:tc>
                  <a:txBody>
                    <a:bodyPr/>
                    <a:lstStyle/>
                    <a:p>
                      <a:r>
                        <a:rPr sz="1300" b="0">
                          <a:latin typeface="Consolas"/>
                          <a:ea typeface="Consolas"/>
                          <a:cs typeface="Consolas"/>
                        </a:rPr>
                        <a:t>null</a:t>
                      </a:r>
                    </a:p>
                  </a:txBody>
                  <a:tcPr marL="54864" marR="54864" marT="27432" marB="27432" anchor="ctr"/>
                </a:tc>
                <a:tc>
                  <a:txBody>
                    <a:bodyPr/>
                    <a:lstStyle/>
                    <a:p>
                      <a:r>
                        <a:rPr sz="1300" b="0"/>
                        <a:t>Chưa có giá trị nào cả</a:t>
                      </a:r>
                    </a:p>
                  </a:txBody>
                  <a:tcPr marL="54864" marR="54864" marT="27432" marB="27432" anchor="ctr"/>
                </a:tc>
                <a:tc>
                  <a:txBody>
                    <a:bodyPr/>
                    <a:lstStyle/>
                    <a:p>
                      <a:r>
                        <a:rPr sz="1300" b="0">
                          <a:latin typeface="Consolas"/>
                          <a:ea typeface="Consolas"/>
                          <a:cs typeface="Consolas"/>
                        </a:rPr>
                        <a:t>null</a:t>
                      </a:r>
                    </a:p>
                  </a:txBody>
                  <a:tcPr marL="54864" marR="54864" marT="27432" marB="27432" anchor="ctr"/>
                </a:tc>
                <a:tc>
                  <a:txBody>
                    <a:bodyPr/>
                    <a:lstStyle/>
                    <a:p>
                      <a:r>
                        <a:rPr sz="1300" b="0"/>
                        <a:t>Ô dữ liệu để trống trong CSDL</a:t>
                      </a:r>
                    </a:p>
                  </a:txBody>
                  <a:tcPr marL="54864" marR="54864" marT="27432" marB="27432"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2.1. Biến, kiểu dữ liệu, hằng số (3/5)</a:t>
            </a:r>
          </a:p>
        </p:txBody>
      </p:sp>
      <p:sp>
        <p:nvSpPr>
          <p:cNvPr id="3" name="Content Placeholder 2"/>
          <p:cNvSpPr>
            <a:spLocks noGrp="1"/>
          </p:cNvSpPr>
          <p:nvPr>
            <p:ph idx="1"/>
          </p:nvPr>
        </p:nvSpPr>
        <p:spPr/>
        <p:txBody>
          <a:bodyPr wrap="square"/>
          <a:lstStyle/>
          <a:p>
            <a:pPr>
              <a:spcAft>
                <a:spcPts val="800"/>
              </a:spcAft>
            </a:pPr>
            <a:r>
              <a:rPr sz="2000" b="0"/>
              <a:t>PHP là ngôn ngữ </a:t>
            </a:r>
            <a:r>
              <a:rPr sz="2000" b="1"/>
              <a:t>kiểu động</a:t>
            </a:r>
            <a:r>
              <a:rPr sz="2000" b="0"/>
              <a:t>: không phải khai báo kiểu, PHP tự suy ra từ giá trị được gán, và kiểu có thể đổi giữa chừng. Muốn biết một biến đang là kiểu gì thì dùng </a:t>
            </a:r>
            <a:r>
              <a:rPr sz="2000" b="0">
                <a:latin typeface="Consolas"/>
                <a:ea typeface="Consolas"/>
                <a:cs typeface="Consolas"/>
              </a:rPr>
              <a:t>var_dump($bien)</a:t>
            </a:r>
            <a:r>
              <a:rPr sz="2000" b="0"/>
              <a:t>.</a:t>
            </a:r>
          </a:p>
          <a:p>
            <a:pPr>
              <a:spcAft>
                <a:spcPts val="800"/>
              </a:spcAft>
            </a:pPr>
            <a:r>
              <a:rPr sz="2000" b="1"/>
              <a:t>Biến khác hằng số ở chỗ nào?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2.1. Biến, kiểu dữ liệu, hằng số (4/5)</a:t>
            </a:r>
          </a:p>
        </p:txBody>
      </p:sp>
      <p:graphicFrame>
        <p:nvGraphicFramePr>
          <p:cNvPr id="3" name="Table 2"/>
          <p:cNvGraphicFramePr>
            <a:graphicFrameLocks noGrp="1"/>
          </p:cNvGraphicFramePr>
          <p:nvPr/>
        </p:nvGraphicFramePr>
        <p:xfrm>
          <a:off x="457200" y="1371600"/>
          <a:ext cx="8229600" cy="24384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endParaRPr/>
                    </a:p>
                  </a:txBody>
                  <a:tcPr marL="54864" marR="54864" marT="27432" marB="27432" anchor="ctr"/>
                </a:tc>
                <a:tc>
                  <a:txBody>
                    <a:bodyPr/>
                    <a:lstStyle/>
                    <a:p>
                      <a:r>
                        <a:rPr sz="1300" b="1">
                          <a:solidFill>
                            <a:srgbClr val="FFFFFF"/>
                          </a:solidFill>
                        </a:rPr>
                        <a:t>Biến</a:t>
                      </a:r>
                    </a:p>
                  </a:txBody>
                  <a:tcPr marL="54864" marR="54864" marT="27432" marB="27432" anchor="ctr"/>
                </a:tc>
                <a:tc>
                  <a:txBody>
                    <a:bodyPr/>
                    <a:lstStyle/>
                    <a:p>
                      <a:r>
                        <a:rPr sz="1300" b="1">
                          <a:solidFill>
                            <a:srgbClr val="FFFFFF"/>
                          </a:solidFill>
                        </a:rPr>
                        <a:t>Hằng số</a:t>
                      </a:r>
                    </a:p>
                  </a:txBody>
                  <a:tcPr marL="54864" marR="54864" marT="27432" marB="27432" anchor="ctr"/>
                </a:tc>
                <a:extLst>
                  <a:ext uri="{0D108BD9-81ED-4DB2-BD59-A6C34878D82A}">
                    <a16:rowId xmlns:a16="http://schemas.microsoft.com/office/drawing/2014/main" val="10000"/>
                  </a:ext>
                </a:extLst>
              </a:tr>
              <a:tr h="384048">
                <a:tc>
                  <a:txBody>
                    <a:bodyPr/>
                    <a:lstStyle/>
                    <a:p>
                      <a:r>
                        <a:rPr sz="1300" b="0"/>
                        <a:t>Cách viết</a:t>
                      </a:r>
                    </a:p>
                  </a:txBody>
                  <a:tcPr marL="54864" marR="54864" marT="27432" marB="27432" anchor="ctr"/>
                </a:tc>
                <a:tc>
                  <a:txBody>
                    <a:bodyPr/>
                    <a:lstStyle/>
                    <a:p>
                      <a:r>
                        <a:rPr sz="1300" b="0">
                          <a:latin typeface="Consolas"/>
                          <a:ea typeface="Consolas"/>
                          <a:cs typeface="Consolas"/>
                        </a:rPr>
                        <a:t>$tongTien = 100;</a:t>
                      </a:r>
                    </a:p>
                  </a:txBody>
                  <a:tcPr marL="54864" marR="54864" marT="27432" marB="27432" anchor="ctr"/>
                </a:tc>
                <a:tc>
                  <a:txBody>
                    <a:bodyPr/>
                    <a:lstStyle/>
                    <a:p>
                      <a:r>
                        <a:rPr sz="1300" b="0">
                          <a:latin typeface="Consolas"/>
                          <a:ea typeface="Consolas"/>
                          <a:cs typeface="Consolas"/>
                        </a:rPr>
                        <a:t>define("VAT", 0.1);</a:t>
                      </a:r>
                      <a:r>
                        <a:rPr sz="1300" b="0"/>
                        <a:t> hoặc </a:t>
                      </a:r>
                      <a:r>
                        <a:rPr sz="1300" b="0">
                          <a:latin typeface="Consolas"/>
                          <a:ea typeface="Consolas"/>
                          <a:cs typeface="Consolas"/>
                        </a:rPr>
                        <a:t>const VAT = 0.1;</a:t>
                      </a:r>
                    </a:p>
                  </a:txBody>
                  <a:tcPr marL="54864" marR="54864" marT="27432" marB="27432" anchor="ctr"/>
                </a:tc>
                <a:extLst>
                  <a:ext uri="{0D108BD9-81ED-4DB2-BD59-A6C34878D82A}">
                    <a16:rowId xmlns:a16="http://schemas.microsoft.com/office/drawing/2014/main" val="10001"/>
                  </a:ext>
                </a:extLst>
              </a:tr>
              <a:tr h="384048">
                <a:tc>
                  <a:txBody>
                    <a:bodyPr/>
                    <a:lstStyle/>
                    <a:p>
                      <a:r>
                        <a:rPr sz="1300" b="0"/>
                        <a:t>Có dấu </a:t>
                      </a:r>
                      <a:r>
                        <a:rPr sz="1300" b="0">
                          <a:latin typeface="Consolas"/>
                          <a:ea typeface="Consolas"/>
                          <a:cs typeface="Consolas"/>
                        </a:rPr>
                        <a:t>$</a:t>
                      </a:r>
                      <a:r>
                        <a:rPr sz="1300" b="0"/>
                        <a:t> đứng trước?</a:t>
                      </a:r>
                    </a:p>
                  </a:txBody>
                  <a:tcPr marL="54864" marR="54864" marT="27432" marB="27432" anchor="ctr"/>
                </a:tc>
                <a:tc>
                  <a:txBody>
                    <a:bodyPr/>
                    <a:lstStyle/>
                    <a:p>
                      <a:r>
                        <a:rPr sz="1300" b="0"/>
                        <a:t>Có</a:t>
                      </a:r>
                    </a:p>
                  </a:txBody>
                  <a:tcPr marL="54864" marR="54864" marT="27432" marB="27432" anchor="ctr"/>
                </a:tc>
                <a:tc>
                  <a:txBody>
                    <a:bodyPr/>
                    <a:lstStyle/>
                    <a:p>
                      <a:r>
                        <a:rPr sz="1300" b="0"/>
                        <a:t>Không</a:t>
                      </a:r>
                    </a:p>
                  </a:txBody>
                  <a:tcPr marL="54864" marR="54864" marT="27432" marB="27432" anchor="ctr"/>
                </a:tc>
                <a:extLst>
                  <a:ext uri="{0D108BD9-81ED-4DB2-BD59-A6C34878D82A}">
                    <a16:rowId xmlns:a16="http://schemas.microsoft.com/office/drawing/2014/main" val="10002"/>
                  </a:ext>
                </a:extLst>
              </a:tr>
              <a:tr h="384048">
                <a:tc>
                  <a:txBody>
                    <a:bodyPr/>
                    <a:lstStyle/>
                    <a:p>
                      <a:r>
                        <a:rPr sz="1300" b="0"/>
                        <a:t>Đổi giá trị sau khi gán</a:t>
                      </a:r>
                    </a:p>
                  </a:txBody>
                  <a:tcPr marL="54864" marR="54864" marT="27432" marB="27432" anchor="ctr"/>
                </a:tc>
                <a:tc>
                  <a:txBody>
                    <a:bodyPr/>
                    <a:lstStyle/>
                    <a:p>
                      <a:r>
                        <a:rPr sz="1300" b="0"/>
                        <a:t>Được</a:t>
                      </a:r>
                    </a:p>
                  </a:txBody>
                  <a:tcPr marL="54864" marR="54864" marT="27432" marB="27432" anchor="ctr"/>
                </a:tc>
                <a:tc>
                  <a:txBody>
                    <a:bodyPr/>
                    <a:lstStyle/>
                    <a:p>
                      <a:r>
                        <a:rPr sz="1300" b="1"/>
                        <a:t>Không</a:t>
                      </a:r>
                      <a:r>
                        <a:rPr sz="1300" b="0"/>
                        <a:t> — gán lại là báo lỗi</a:t>
                      </a:r>
                    </a:p>
                  </a:txBody>
                  <a:tcPr marL="54864" marR="54864" marT="27432" marB="27432" anchor="ctr"/>
                </a:tc>
                <a:extLst>
                  <a:ext uri="{0D108BD9-81ED-4DB2-BD59-A6C34878D82A}">
                    <a16:rowId xmlns:a16="http://schemas.microsoft.com/office/drawing/2014/main" val="10003"/>
                  </a:ext>
                </a:extLst>
              </a:tr>
              <a:tr h="384048">
                <a:tc>
                  <a:txBody>
                    <a:bodyPr/>
                    <a:lstStyle/>
                    <a:p>
                      <a:r>
                        <a:rPr sz="1300" b="0"/>
                        <a:t>Quy ước đặt tên</a:t>
                      </a:r>
                    </a:p>
                  </a:txBody>
                  <a:tcPr marL="54864" marR="54864" marT="27432" marB="27432" anchor="ctr"/>
                </a:tc>
                <a:tc>
                  <a:txBody>
                    <a:bodyPr/>
                    <a:lstStyle/>
                    <a:p>
                      <a:r>
                        <a:rPr sz="1300" b="0">
                          <a:latin typeface="Consolas"/>
                          <a:ea typeface="Consolas"/>
                          <a:cs typeface="Consolas"/>
                        </a:rPr>
                        <a:t>camelCase</a:t>
                      </a:r>
                    </a:p>
                  </a:txBody>
                  <a:tcPr marL="54864" marR="54864" marT="27432" marB="27432" anchor="ctr"/>
                </a:tc>
                <a:tc>
                  <a:txBody>
                    <a:bodyPr/>
                    <a:lstStyle/>
                    <a:p>
                      <a:r>
                        <a:rPr sz="1300" b="0">
                          <a:latin typeface="Consolas"/>
                          <a:ea typeface="Consolas"/>
                          <a:cs typeface="Consolas"/>
                        </a:rPr>
                        <a:t>UPPER_CASE</a:t>
                      </a:r>
                    </a:p>
                  </a:txBody>
                  <a:tcPr marL="54864" marR="54864" marT="27432" marB="27432" anchor="ctr"/>
                </a:tc>
                <a:extLst>
                  <a:ext uri="{0D108BD9-81ED-4DB2-BD59-A6C34878D82A}">
                    <a16:rowId xmlns:a16="http://schemas.microsoft.com/office/drawing/2014/main" val="10004"/>
                  </a:ext>
                </a:extLst>
              </a:tr>
              <a:tr h="384048">
                <a:tc>
                  <a:txBody>
                    <a:bodyPr/>
                    <a:lstStyle/>
                    <a:p>
                      <a:r>
                        <a:rPr sz="1300" b="0"/>
                        <a:t>Phạm vi sử dụng</a:t>
                      </a:r>
                    </a:p>
                  </a:txBody>
                  <a:tcPr marL="54864" marR="54864" marT="27432" marB="27432" anchor="ctr"/>
                </a:tc>
                <a:tc>
                  <a:txBody>
                    <a:bodyPr/>
                    <a:lstStyle/>
                    <a:p>
                      <a:r>
                        <a:rPr sz="1300" b="0"/>
                        <a:t>Chỉ trong khối code chứa nó</a:t>
                      </a:r>
                    </a:p>
                  </a:txBody>
                  <a:tcPr marL="54864" marR="54864" marT="27432" marB="27432" anchor="ctr"/>
                </a:tc>
                <a:tc>
                  <a:txBody>
                    <a:bodyPr/>
                    <a:lstStyle/>
                    <a:p>
                      <a:r>
                        <a:rPr sz="1300" b="0"/>
                        <a:t>Toàn chương trình, kể cả bên trong hàm</a:t>
                      </a:r>
                    </a:p>
                  </a:txBody>
                  <a:tcPr marL="54864" marR="54864" marT="27432" marB="27432"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a:t>2.1. Biến, kiểu dữ liệu, hằng số (5/5)</a:t>
            </a:r>
          </a:p>
        </p:txBody>
      </p:sp>
      <p:sp>
        <p:nvSpPr>
          <p:cNvPr id="3" name="Content Placeholder 2"/>
          <p:cNvSpPr>
            <a:spLocks noGrp="1"/>
          </p:cNvSpPr>
          <p:nvPr>
            <p:ph idx="1"/>
          </p:nvPr>
        </p:nvSpPr>
        <p:spPr/>
        <p:txBody>
          <a:bodyPr wrap="square"/>
          <a:lstStyle/>
          <a:p>
            <a:pPr>
              <a:spcBef>
                <a:spcPts val="800"/>
              </a:spcBef>
              <a:spcAft>
                <a:spcPts val="600"/>
              </a:spcAft>
            </a:pPr>
            <a:r>
              <a:rPr sz="1500" b="1" i="1">
                <a:solidFill>
                  <a:srgbClr val="666666"/>
                </a:solidFill>
              </a:rPr>
              <a:t>Khi nào dùng hằng số?</a:t>
            </a:r>
            <a:r>
              <a:rPr sz="1500" b="0" i="1">
                <a:solidFill>
                  <a:srgbClr val="666666"/>
                </a:solidFill>
              </a:rPr>
              <a:t> Khi giá trị </a:t>
            </a:r>
            <a:r>
              <a:rPr sz="1500" b="1" i="1">
                <a:solidFill>
                  <a:srgbClr val="666666"/>
                </a:solidFill>
              </a:rPr>
              <a:t>cố định suốt chương trình</a:t>
            </a:r>
            <a:r>
              <a:rPr sz="1500" b="0" i="1">
                <a:solidFill>
                  <a:srgbClr val="666666"/>
                </a:solidFill>
              </a:rPr>
              <a:t> và xuất hiện ở nhiều nơi: số sản phẩm mỗi trang, tên website, thuế VAT, thông tin kết nối CSDL. Đặt thành hằng số thì sau này sửa </a:t>
            </a:r>
            <a:r>
              <a:rPr sz="1500" b="1" i="1">
                <a:solidFill>
                  <a:srgbClr val="666666"/>
                </a:solidFill>
              </a:rPr>
              <a:t>một chỗ duy nhất</a:t>
            </a:r>
            <a:r>
              <a:rPr sz="1500" b="0" i="1">
                <a:solidFill>
                  <a:srgbClr val="666666"/>
                </a:solidFill>
              </a:rPr>
              <a:t>, và không sợ lỡ tay gán đè ở đâu đó. Ngược lại, cái gì </a:t>
            </a:r>
            <a:r>
              <a:rPr sz="1500" b="1" i="1">
                <a:solidFill>
                  <a:srgbClr val="666666"/>
                </a:solidFill>
              </a:rPr>
              <a:t>thay đổi trong lúc chạy</a:t>
            </a:r>
            <a:r>
              <a:rPr sz="1500" b="0" i="1">
                <a:solidFill>
                  <a:srgbClr val="666666"/>
                </a:solidFill>
              </a:rPr>
              <a:t> (tổng tiền, tên người đang đăng nhập, dòng dữ liệu đang duyệt) thì bắt buộc phải là biến.</a:t>
            </a:r>
          </a:p>
          <a:p>
            <a:pPr>
              <a:spcAft>
                <a:spcPts val="800"/>
              </a:spcAft>
            </a:pPr>
            <a:r>
              <a:rPr sz="1600" b="0"/>
              <a:t>Từ buổi 4 trở đi, cả khóa dùng file </a:t>
            </a:r>
            <a:r>
              <a:rPr sz="1600" b="0">
                <a:latin typeface="Consolas"/>
                <a:ea typeface="Consolas"/>
                <a:cs typeface="Consolas"/>
              </a:rPr>
              <a:t>app/common/define.php</a:t>
            </a:r>
            <a:r>
              <a:rPr sz="1600" b="0"/>
              <a:t> chỉ để chứa hằng số.</a:t>
            </a:r>
          </a:p>
          <a:p>
            <a:pPr>
              <a:spcAft>
                <a:spcPts val="800"/>
              </a:spcAft>
            </a:pPr>
            <a:r>
              <a:rPr sz="1600" b="1"/>
              <a:t>Quy tắc đặt tên (thống nhất cả khóa):</a:t>
            </a:r>
          </a:p>
          <a:p>
            <a:pPr>
              <a:spcAft>
                <a:spcPts val="600"/>
              </a:spcAft>
            </a:pPr>
            <a:r>
              <a:rPr sz="1600" b="0"/>
              <a:t>Biến: </a:t>
            </a:r>
            <a:r>
              <a:rPr sz="1600" b="0">
                <a:latin typeface="Consolas"/>
                <a:ea typeface="Consolas"/>
                <a:cs typeface="Consolas"/>
              </a:rPr>
              <a:t>camelCase</a:t>
            </a:r>
            <a:r>
              <a:rPr sz="1600" b="0"/>
              <a:t> hoặc </a:t>
            </a:r>
            <a:r>
              <a:rPr sz="1600" b="0">
                <a:latin typeface="Consolas"/>
                <a:ea typeface="Consolas"/>
                <a:cs typeface="Consolas"/>
              </a:rPr>
              <a:t>snake_case</a:t>
            </a:r>
            <a:r>
              <a:rPr sz="1600" b="0"/>
              <a:t> → </a:t>
            </a:r>
            <a:r>
              <a:rPr sz="1600" b="0">
                <a:latin typeface="Consolas"/>
                <a:ea typeface="Consolas"/>
                <a:cs typeface="Consolas"/>
              </a:rPr>
              <a:t>$tongTien</a:t>
            </a:r>
            <a:r>
              <a:rPr sz="1600" b="0"/>
              <a:t>, </a:t>
            </a:r>
            <a:r>
              <a:rPr sz="1600" b="0">
                <a:latin typeface="Consolas"/>
                <a:ea typeface="Consolas"/>
                <a:cs typeface="Consolas"/>
              </a:rPr>
              <a:t>$item_per_page</a:t>
            </a:r>
          </a:p>
          <a:p>
            <a:pPr>
              <a:spcAft>
                <a:spcPts val="600"/>
              </a:spcAft>
            </a:pPr>
            <a:r>
              <a:rPr sz="1600" b="0"/>
              <a:t>Hàm: </a:t>
            </a:r>
            <a:r>
              <a:rPr sz="1600" b="0">
                <a:latin typeface="Consolas"/>
                <a:ea typeface="Consolas"/>
                <a:cs typeface="Consolas"/>
              </a:rPr>
              <a:t>camelCase</a:t>
            </a:r>
            <a:r>
              <a:rPr sz="1600" b="0"/>
              <a:t> → </a:t>
            </a:r>
            <a:r>
              <a:rPr sz="1600" b="0">
                <a:latin typeface="Consolas"/>
                <a:ea typeface="Consolas"/>
                <a:cs typeface="Consolas"/>
              </a:rPr>
              <a:t>tinhTongTien()</a:t>
            </a:r>
          </a:p>
          <a:p>
            <a:pPr>
              <a:spcAft>
                <a:spcPts val="600"/>
              </a:spcAft>
            </a:pPr>
            <a:r>
              <a:rPr sz="1600" b="0"/>
              <a:t>Hằng số: </a:t>
            </a:r>
            <a:r>
              <a:rPr sz="1600" b="0">
                <a:latin typeface="Consolas"/>
                <a:ea typeface="Consolas"/>
                <a:cs typeface="Consolas"/>
              </a:rPr>
              <a:t>UPPER_CASE</a:t>
            </a:r>
            <a:r>
              <a:rPr sz="1600" b="0"/>
              <a:t> → </a:t>
            </a:r>
            <a:r>
              <a:rPr sz="1600" b="0">
                <a:latin typeface="Consolas"/>
                <a:ea typeface="Consolas"/>
                <a:cs typeface="Consolas"/>
              </a:rPr>
              <a:t>ITEM_PER_PAGE</a:t>
            </a:r>
          </a:p>
          <a:p>
            <a:pPr>
              <a:spcAft>
                <a:spcPts val="600"/>
              </a:spcAft>
            </a:pPr>
            <a:r>
              <a:rPr sz="1600" b="0"/>
              <a:t>Comment bằng </a:t>
            </a:r>
            <a:r>
              <a:rPr sz="1600" b="0">
                <a:latin typeface="Consolas"/>
                <a:ea typeface="Consolas"/>
                <a:cs typeface="Consolas"/>
              </a:rPr>
              <a:t>//</a:t>
            </a:r>
            <a:r>
              <a:rPr sz="1600" b="0"/>
              <a:t> cho 1 dòng, </a:t>
            </a:r>
            <a:r>
              <a:rPr sz="1600" b="0">
                <a:latin typeface="Consolas"/>
                <a:ea typeface="Consolas"/>
                <a:cs typeface="Consolas"/>
              </a:rPr>
              <a:t>/* ... */</a:t>
            </a:r>
            <a:r>
              <a:rPr sz="1600" b="0"/>
              <a:t> cho nhiều dòng. </a:t>
            </a:r>
            <a:r>
              <a:rPr sz="1600" b="1"/>
              <a:t>Mỗi khối logic mới phải có comment.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2.2. Toán tử &amp; rẽ nhánh (1/5)</a:t>
            </a:r>
          </a:p>
        </p:txBody>
      </p:sp>
      <p:sp>
        <p:nvSpPr>
          <p:cNvPr id="3" name="TextBox 2"/>
          <p:cNvSpPr txBox="1"/>
          <p:nvPr/>
        </p:nvSpPr>
        <p:spPr>
          <a:xfrm>
            <a:off x="457200" y="1371600"/>
            <a:ext cx="8229600" cy="411480"/>
          </a:xfrm>
          <a:prstGeom prst="rect">
            <a:avLst/>
          </a:prstGeom>
          <a:noFill/>
        </p:spPr>
        <p:txBody>
          <a:bodyPr wrap="square">
            <a:spAutoFit/>
          </a:bodyPr>
          <a:lstStyle/>
          <a:p>
            <a:r>
              <a:rPr sz="1500" b="1"/>
              <a:t>Bảng toán tử thường dùng:</a:t>
            </a:r>
          </a:p>
        </p:txBody>
      </p:sp>
      <p:graphicFrame>
        <p:nvGraphicFramePr>
          <p:cNvPr id="4" name="Table 3"/>
          <p:cNvGraphicFramePr>
            <a:graphicFrameLocks noGrp="1"/>
          </p:cNvGraphicFramePr>
          <p:nvPr/>
        </p:nvGraphicFramePr>
        <p:xfrm>
          <a:off x="457200" y="1847088"/>
          <a:ext cx="8229600" cy="4224528"/>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84048">
                <a:tc>
                  <a:txBody>
                    <a:bodyPr/>
                    <a:lstStyle/>
                    <a:p>
                      <a:r>
                        <a:rPr sz="1000" b="1">
                          <a:solidFill>
                            <a:srgbClr val="FFFFFF"/>
                          </a:solidFill>
                        </a:rPr>
                        <a:t>Nhóm</a:t>
                      </a:r>
                    </a:p>
                  </a:txBody>
                  <a:tcPr marL="54864" marR="54864" marT="27432" marB="27432" anchor="ctr"/>
                </a:tc>
                <a:tc>
                  <a:txBody>
                    <a:bodyPr/>
                    <a:lstStyle/>
                    <a:p>
                      <a:r>
                        <a:rPr sz="1000" b="1">
                          <a:solidFill>
                            <a:srgbClr val="FFFFFF"/>
                          </a:solidFill>
                        </a:rPr>
                        <a:t>Toán tử</a:t>
                      </a:r>
                    </a:p>
                  </a:txBody>
                  <a:tcPr marL="54864" marR="54864" marT="27432" marB="27432" anchor="ctr"/>
                </a:tc>
                <a:tc>
                  <a:txBody>
                    <a:bodyPr/>
                    <a:lstStyle/>
                    <a:p>
                      <a:r>
                        <a:rPr sz="1000" b="1">
                          <a:solidFill>
                            <a:srgbClr val="FFFFFF"/>
                          </a:solidFill>
                        </a:rPr>
                        <a:t>Ý nghĩa</a:t>
                      </a:r>
                    </a:p>
                  </a:txBody>
                  <a:tcPr marL="54864" marR="54864" marT="27432" marB="27432" anchor="ctr"/>
                </a:tc>
                <a:tc>
                  <a:txBody>
                    <a:bodyPr/>
                    <a:lstStyle/>
                    <a:p>
                      <a:r>
                        <a:rPr sz="1000" b="1">
                          <a:solidFill>
                            <a:srgbClr val="FFFFFF"/>
                          </a:solidFill>
                        </a:rPr>
                        <a:t>Ví dụ</a:t>
                      </a:r>
                    </a:p>
                  </a:txBody>
                  <a:tcPr marL="54864" marR="54864" marT="27432" marB="27432" anchor="ctr"/>
                </a:tc>
                <a:extLst>
                  <a:ext uri="{0D108BD9-81ED-4DB2-BD59-A6C34878D82A}">
                    <a16:rowId xmlns:a16="http://schemas.microsoft.com/office/drawing/2014/main" val="10000"/>
                  </a:ext>
                </a:extLst>
              </a:tr>
              <a:tr h="384048">
                <a:tc>
                  <a:txBody>
                    <a:bodyPr/>
                    <a:lstStyle/>
                    <a:p>
                      <a:r>
                        <a:rPr sz="1000" b="0"/>
                        <a:t>Số học</a:t>
                      </a:r>
                    </a:p>
                  </a:txBody>
                  <a:tcPr marL="54864" marR="54864" marT="27432" marB="27432" anchor="ctr"/>
                </a:tc>
                <a:tc>
                  <a:txBody>
                    <a:bodyPr/>
                    <a:lstStyle/>
                    <a:p>
                      <a:r>
                        <a:rPr sz="1000" b="0">
                          <a:latin typeface="Consolas"/>
                          <a:ea typeface="Consolas"/>
                          <a:cs typeface="Consolas"/>
                        </a:rPr>
                        <a:t>+</a:t>
                      </a:r>
                      <a:r>
                        <a:rPr sz="1000" b="0"/>
                        <a:t> </a:t>
                      </a:r>
                      <a:r>
                        <a:rPr sz="1000" b="0">
                          <a:latin typeface="Consolas"/>
                          <a:ea typeface="Consolas"/>
                          <a:cs typeface="Consolas"/>
                        </a:rPr>
                        <a:t>-</a:t>
                      </a:r>
                      <a:r>
                        <a:rPr sz="1000" b="0"/>
                        <a:t> </a:t>
                      </a:r>
                      <a:r>
                        <a:rPr sz="1000" b="0">
                          <a:latin typeface="Consolas"/>
                          <a:ea typeface="Consolas"/>
                          <a:cs typeface="Consolas"/>
                        </a:rPr>
                        <a:t>*</a:t>
                      </a:r>
                      <a:r>
                        <a:rPr sz="1000" b="0"/>
                        <a:t> </a:t>
                      </a:r>
                      <a:r>
                        <a:rPr sz="1000" b="0">
                          <a:latin typeface="Consolas"/>
                          <a:ea typeface="Consolas"/>
                          <a:cs typeface="Consolas"/>
                        </a:rPr>
                        <a:t>/</a:t>
                      </a:r>
                    </a:p>
                  </a:txBody>
                  <a:tcPr marL="54864" marR="54864" marT="27432" marB="27432" anchor="ctr"/>
                </a:tc>
                <a:tc>
                  <a:txBody>
                    <a:bodyPr/>
                    <a:lstStyle/>
                    <a:p>
                      <a:r>
                        <a:rPr sz="1000" b="0"/>
                        <a:t>Cộng, trừ, nhân, chia</a:t>
                      </a:r>
                    </a:p>
                  </a:txBody>
                  <a:tcPr marL="54864" marR="54864" marT="27432" marB="27432" anchor="ctr"/>
                </a:tc>
                <a:tc>
                  <a:txBody>
                    <a:bodyPr/>
                    <a:lstStyle/>
                    <a:p>
                      <a:r>
                        <a:rPr sz="1000" b="0">
                          <a:latin typeface="Consolas"/>
                          <a:ea typeface="Consolas"/>
                          <a:cs typeface="Consolas"/>
                        </a:rPr>
                        <a:t>$a + $b</a:t>
                      </a:r>
                    </a:p>
                  </a:txBody>
                  <a:tcPr marL="54864" marR="54864" marT="27432" marB="27432" anchor="ctr"/>
                </a:tc>
                <a:extLst>
                  <a:ext uri="{0D108BD9-81ED-4DB2-BD59-A6C34878D82A}">
                    <a16:rowId xmlns:a16="http://schemas.microsoft.com/office/drawing/2014/main" val="10001"/>
                  </a:ext>
                </a:extLst>
              </a:tr>
              <a:tr h="384048">
                <a:tc>
                  <a:txBody>
                    <a:bodyPr/>
                    <a:lstStyle/>
                    <a:p>
                      <a:r>
                        <a:rPr sz="1000" b="0"/>
                        <a:t>Số học</a:t>
                      </a:r>
                    </a:p>
                  </a:txBody>
                  <a:tcPr marL="54864" marR="54864" marT="27432" marB="27432" anchor="ctr"/>
                </a:tc>
                <a:tc>
                  <a:txBody>
                    <a:bodyPr/>
                    <a:lstStyle/>
                    <a:p>
                      <a:r>
                        <a:rPr sz="1000" b="0">
                          <a:latin typeface="Consolas"/>
                          <a:ea typeface="Consolas"/>
                          <a:cs typeface="Consolas"/>
                        </a:rPr>
                        <a:t>%</a:t>
                      </a:r>
                    </a:p>
                  </a:txBody>
                  <a:tcPr marL="54864" marR="54864" marT="27432" marB="27432" anchor="ctr"/>
                </a:tc>
                <a:tc>
                  <a:txBody>
                    <a:bodyPr/>
                    <a:lstStyle/>
                    <a:p>
                      <a:r>
                        <a:rPr sz="1000" b="0"/>
                        <a:t>Chia lấy </a:t>
                      </a:r>
                      <a:r>
                        <a:rPr sz="1000" b="1"/>
                        <a:t>dư</a:t>
                      </a:r>
                      <a:r>
                        <a:rPr sz="1000" b="0"/>
                        <a:t> — kiểm tra chẵn/lẻ, chia hết</a:t>
                      </a:r>
                    </a:p>
                  </a:txBody>
                  <a:tcPr marL="54864" marR="54864" marT="27432" marB="27432" anchor="ctr"/>
                </a:tc>
                <a:tc>
                  <a:txBody>
                    <a:bodyPr/>
                    <a:lstStyle/>
                    <a:p>
                      <a:r>
                        <a:rPr sz="1000" b="0">
                          <a:latin typeface="Consolas"/>
                          <a:ea typeface="Consolas"/>
                          <a:cs typeface="Consolas"/>
                        </a:rPr>
                        <a:t>7 % 2</a:t>
                      </a:r>
                      <a:r>
                        <a:rPr sz="1000" b="0"/>
                        <a:t> ra </a:t>
                      </a:r>
                      <a:r>
                        <a:rPr sz="1000" b="0">
                          <a:latin typeface="Consolas"/>
                          <a:ea typeface="Consolas"/>
                          <a:cs typeface="Consolas"/>
                        </a:rPr>
                        <a:t>1</a:t>
                      </a:r>
                    </a:p>
                  </a:txBody>
                  <a:tcPr marL="54864" marR="54864" marT="27432" marB="27432" anchor="ctr"/>
                </a:tc>
                <a:extLst>
                  <a:ext uri="{0D108BD9-81ED-4DB2-BD59-A6C34878D82A}">
                    <a16:rowId xmlns:a16="http://schemas.microsoft.com/office/drawing/2014/main" val="10002"/>
                  </a:ext>
                </a:extLst>
              </a:tr>
              <a:tr h="384048">
                <a:tc>
                  <a:txBody>
                    <a:bodyPr/>
                    <a:lstStyle/>
                    <a:p>
                      <a:r>
                        <a:rPr sz="1000" b="0"/>
                        <a:t>Gán</a:t>
                      </a:r>
                    </a:p>
                  </a:txBody>
                  <a:tcPr marL="54864" marR="54864" marT="27432" marB="27432" anchor="ctr"/>
                </a:tc>
                <a:tc>
                  <a:txBody>
                    <a:bodyPr/>
                    <a:lstStyle/>
                    <a:p>
                      <a:r>
                        <a:rPr sz="1000" b="0">
                          <a:latin typeface="Consolas"/>
                          <a:ea typeface="Consolas"/>
                          <a:cs typeface="Consolas"/>
                        </a:rPr>
                        <a:t>=</a:t>
                      </a:r>
                    </a:p>
                  </a:txBody>
                  <a:tcPr marL="54864" marR="54864" marT="27432" marB="27432" anchor="ctr"/>
                </a:tc>
                <a:tc>
                  <a:txBody>
                    <a:bodyPr/>
                    <a:lstStyle/>
                    <a:p>
                      <a:r>
                        <a:rPr sz="1000" b="0"/>
                        <a:t>Gán giá trị vào biến</a:t>
                      </a:r>
                    </a:p>
                  </a:txBody>
                  <a:tcPr marL="54864" marR="54864" marT="27432" marB="27432" anchor="ctr"/>
                </a:tc>
                <a:tc>
                  <a:txBody>
                    <a:bodyPr/>
                    <a:lstStyle/>
                    <a:p>
                      <a:r>
                        <a:rPr sz="1000" b="0">
                          <a:latin typeface="Consolas"/>
                          <a:ea typeface="Consolas"/>
                          <a:cs typeface="Consolas"/>
                        </a:rPr>
                        <a:t>$x = 5</a:t>
                      </a:r>
                    </a:p>
                  </a:txBody>
                  <a:tcPr marL="54864" marR="54864" marT="27432" marB="27432" anchor="ctr"/>
                </a:tc>
                <a:extLst>
                  <a:ext uri="{0D108BD9-81ED-4DB2-BD59-A6C34878D82A}">
                    <a16:rowId xmlns:a16="http://schemas.microsoft.com/office/drawing/2014/main" val="10003"/>
                  </a:ext>
                </a:extLst>
              </a:tr>
              <a:tr h="384048">
                <a:tc>
                  <a:txBody>
                    <a:bodyPr/>
                    <a:lstStyle/>
                    <a:p>
                      <a:r>
                        <a:rPr sz="1000" b="0"/>
                        <a:t>Gán</a:t>
                      </a:r>
                    </a:p>
                  </a:txBody>
                  <a:tcPr marL="54864" marR="54864" marT="27432" marB="27432" anchor="ctr"/>
                </a:tc>
                <a:tc>
                  <a:txBody>
                    <a:bodyPr/>
                    <a:lstStyle/>
                    <a:p>
                      <a:r>
                        <a:rPr sz="1000" b="0">
                          <a:latin typeface="Consolas"/>
                          <a:ea typeface="Consolas"/>
                          <a:cs typeface="Consolas"/>
                        </a:rPr>
                        <a:t>+=</a:t>
                      </a:r>
                      <a:r>
                        <a:rPr sz="1000" b="0"/>
                        <a:t> </a:t>
                      </a:r>
                      <a:r>
                        <a:rPr sz="1000" b="0">
                          <a:latin typeface="Consolas"/>
                          <a:ea typeface="Consolas"/>
                          <a:cs typeface="Consolas"/>
                        </a:rPr>
                        <a:t>-=</a:t>
                      </a:r>
                      <a:r>
                        <a:rPr sz="1000" b="0"/>
                        <a:t> </a:t>
                      </a:r>
                      <a:r>
                        <a:rPr sz="1000" b="0">
                          <a:latin typeface="Consolas"/>
                          <a:ea typeface="Consolas"/>
                          <a:cs typeface="Consolas"/>
                        </a:rPr>
                        <a:t>.=</a:t>
                      </a:r>
                    </a:p>
                  </a:txBody>
                  <a:tcPr marL="54864" marR="54864" marT="27432" marB="27432" anchor="ctr"/>
                </a:tc>
                <a:tc>
                  <a:txBody>
                    <a:bodyPr/>
                    <a:lstStyle/>
                    <a:p>
                      <a:r>
                        <a:rPr sz="1000" b="0"/>
                        <a:t>Cộng / trừ / nối thêm vào chính nó</a:t>
                      </a:r>
                    </a:p>
                  </a:txBody>
                  <a:tcPr marL="54864" marR="54864" marT="27432" marB="27432" anchor="ctr"/>
                </a:tc>
                <a:tc>
                  <a:txBody>
                    <a:bodyPr/>
                    <a:lstStyle/>
                    <a:p>
                      <a:r>
                        <a:rPr sz="1000" b="0">
                          <a:latin typeface="Consolas"/>
                          <a:ea typeface="Consolas"/>
                          <a:cs typeface="Consolas"/>
                        </a:rPr>
                        <a:t>$tong += 100</a:t>
                      </a:r>
                    </a:p>
                  </a:txBody>
                  <a:tcPr marL="54864" marR="54864" marT="27432" marB="27432" anchor="ctr"/>
                </a:tc>
                <a:extLst>
                  <a:ext uri="{0D108BD9-81ED-4DB2-BD59-A6C34878D82A}">
                    <a16:rowId xmlns:a16="http://schemas.microsoft.com/office/drawing/2014/main" val="10004"/>
                  </a:ext>
                </a:extLst>
              </a:tr>
              <a:tr h="384048">
                <a:tc>
                  <a:txBody>
                    <a:bodyPr/>
                    <a:lstStyle/>
                    <a:p>
                      <a:r>
                        <a:rPr sz="1000" b="0"/>
                        <a:t>Tăng giảm</a:t>
                      </a:r>
                    </a:p>
                  </a:txBody>
                  <a:tcPr marL="54864" marR="54864" marT="27432" marB="27432" anchor="ctr"/>
                </a:tc>
                <a:tc>
                  <a:txBody>
                    <a:bodyPr/>
                    <a:lstStyle/>
                    <a:p>
                      <a:r>
                        <a:rPr sz="1000" b="0">
                          <a:latin typeface="Consolas"/>
                          <a:ea typeface="Consolas"/>
                          <a:cs typeface="Consolas"/>
                        </a:rPr>
                        <a:t>++</a:t>
                      </a:r>
                      <a:r>
                        <a:rPr sz="1000" b="0"/>
                        <a:t> </a:t>
                      </a:r>
                      <a:r>
                        <a:rPr sz="1000" b="0">
                          <a:latin typeface="Consolas"/>
                          <a:ea typeface="Consolas"/>
                          <a:cs typeface="Consolas"/>
                        </a:rPr>
                        <a:t>--</a:t>
                      </a:r>
                    </a:p>
                  </a:txBody>
                  <a:tcPr marL="54864" marR="54864" marT="27432" marB="27432" anchor="ctr"/>
                </a:tc>
                <a:tc>
                  <a:txBody>
                    <a:bodyPr/>
                    <a:lstStyle/>
                    <a:p>
                      <a:r>
                        <a:rPr sz="1000" b="0"/>
                        <a:t>Tăng hoặc giảm đi 1</a:t>
                      </a:r>
                    </a:p>
                  </a:txBody>
                  <a:tcPr marL="54864" marR="54864" marT="27432" marB="27432" anchor="ctr"/>
                </a:tc>
                <a:tc>
                  <a:txBody>
                    <a:bodyPr/>
                    <a:lstStyle/>
                    <a:p>
                      <a:r>
                        <a:rPr sz="1000" b="0">
                          <a:latin typeface="Consolas"/>
                          <a:ea typeface="Consolas"/>
                          <a:cs typeface="Consolas"/>
                        </a:rPr>
                        <a:t>$i++</a:t>
                      </a:r>
                    </a:p>
                  </a:txBody>
                  <a:tcPr marL="54864" marR="54864" marT="27432" marB="27432" anchor="ctr"/>
                </a:tc>
                <a:extLst>
                  <a:ext uri="{0D108BD9-81ED-4DB2-BD59-A6C34878D82A}">
                    <a16:rowId xmlns:a16="http://schemas.microsoft.com/office/drawing/2014/main" val="10005"/>
                  </a:ext>
                </a:extLst>
              </a:tr>
              <a:tr h="384048">
                <a:tc>
                  <a:txBody>
                    <a:bodyPr/>
                    <a:lstStyle/>
                    <a:p>
                      <a:r>
                        <a:rPr sz="1000" b="0"/>
                        <a:t>So sánh</a:t>
                      </a:r>
                    </a:p>
                  </a:txBody>
                  <a:tcPr marL="54864" marR="54864" marT="27432" marB="27432" anchor="ctr"/>
                </a:tc>
                <a:tc>
                  <a:txBody>
                    <a:bodyPr/>
                    <a:lstStyle/>
                    <a:p>
                      <a:r>
                        <a:rPr sz="1000" b="0">
                          <a:latin typeface="Consolas"/>
                          <a:ea typeface="Consolas"/>
                          <a:cs typeface="Consolas"/>
                        </a:rPr>
                        <a:t>==</a:t>
                      </a:r>
                    </a:p>
                  </a:txBody>
                  <a:tcPr marL="54864" marR="54864" marT="27432" marB="27432" anchor="ctr"/>
                </a:tc>
                <a:tc>
                  <a:txBody>
                    <a:bodyPr/>
                    <a:lstStyle/>
                    <a:p>
                      <a:r>
                        <a:rPr sz="1000" b="0"/>
                        <a:t>Bằng nhau về </a:t>
                      </a:r>
                      <a:r>
                        <a:rPr sz="1000" b="1"/>
                        <a:t>giá trị</a:t>
                      </a:r>
                    </a:p>
                  </a:txBody>
                  <a:tcPr marL="54864" marR="54864" marT="27432" marB="27432" anchor="ctr"/>
                </a:tc>
                <a:tc>
                  <a:txBody>
                    <a:bodyPr/>
                    <a:lstStyle/>
                    <a:p>
                      <a:r>
                        <a:rPr sz="1000" b="0">
                          <a:latin typeface="Consolas"/>
                          <a:ea typeface="Consolas"/>
                          <a:cs typeface="Consolas"/>
                        </a:rPr>
                        <a:t>"5" == 5</a:t>
                      </a:r>
                      <a:r>
                        <a:rPr sz="1000" b="0"/>
                        <a:t> ra </a:t>
                      </a:r>
                      <a:r>
                        <a:rPr sz="1000" b="0">
                          <a:latin typeface="Consolas"/>
                          <a:ea typeface="Consolas"/>
                          <a:cs typeface="Consolas"/>
                        </a:rPr>
                        <a:t>true</a:t>
                      </a:r>
                    </a:p>
                  </a:txBody>
                  <a:tcPr marL="54864" marR="54864" marT="27432" marB="27432" anchor="ctr"/>
                </a:tc>
                <a:extLst>
                  <a:ext uri="{0D108BD9-81ED-4DB2-BD59-A6C34878D82A}">
                    <a16:rowId xmlns:a16="http://schemas.microsoft.com/office/drawing/2014/main" val="10006"/>
                  </a:ext>
                </a:extLst>
              </a:tr>
              <a:tr h="384048">
                <a:tc>
                  <a:txBody>
                    <a:bodyPr/>
                    <a:lstStyle/>
                    <a:p>
                      <a:r>
                        <a:rPr sz="1000" b="0"/>
                        <a:t>So sánh</a:t>
                      </a:r>
                    </a:p>
                  </a:txBody>
                  <a:tcPr marL="54864" marR="54864" marT="27432" marB="27432" anchor="ctr"/>
                </a:tc>
                <a:tc>
                  <a:txBody>
                    <a:bodyPr/>
                    <a:lstStyle/>
                    <a:p>
                      <a:r>
                        <a:rPr sz="1000" b="0">
                          <a:latin typeface="Consolas"/>
                          <a:ea typeface="Consolas"/>
                          <a:cs typeface="Consolas"/>
                        </a:rPr>
                        <a:t>===</a:t>
                      </a:r>
                    </a:p>
                  </a:txBody>
                  <a:tcPr marL="54864" marR="54864" marT="27432" marB="27432" anchor="ctr"/>
                </a:tc>
                <a:tc>
                  <a:txBody>
                    <a:bodyPr/>
                    <a:lstStyle/>
                    <a:p>
                      <a:r>
                        <a:rPr sz="1000" b="0"/>
                        <a:t>Bằng nhau cả </a:t>
                      </a:r>
                      <a:r>
                        <a:rPr sz="1000" b="1"/>
                        <a:t>giá trị và kiểu</a:t>
                      </a:r>
                    </a:p>
                  </a:txBody>
                  <a:tcPr marL="54864" marR="54864" marT="27432" marB="27432" anchor="ctr"/>
                </a:tc>
                <a:tc>
                  <a:txBody>
                    <a:bodyPr/>
                    <a:lstStyle/>
                    <a:p>
                      <a:r>
                        <a:rPr sz="1000" b="0">
                          <a:latin typeface="Consolas"/>
                          <a:ea typeface="Consolas"/>
                          <a:cs typeface="Consolas"/>
                        </a:rPr>
                        <a:t>"5" === 5</a:t>
                      </a:r>
                      <a:r>
                        <a:rPr sz="1000" b="0"/>
                        <a:t> ra </a:t>
                      </a:r>
                      <a:r>
                        <a:rPr sz="1000" b="0">
                          <a:latin typeface="Consolas"/>
                          <a:ea typeface="Consolas"/>
                          <a:cs typeface="Consolas"/>
                        </a:rPr>
                        <a:t>false</a:t>
                      </a:r>
                    </a:p>
                  </a:txBody>
                  <a:tcPr marL="54864" marR="54864" marT="27432" marB="27432" anchor="ctr"/>
                </a:tc>
                <a:extLst>
                  <a:ext uri="{0D108BD9-81ED-4DB2-BD59-A6C34878D82A}">
                    <a16:rowId xmlns:a16="http://schemas.microsoft.com/office/drawing/2014/main" val="10007"/>
                  </a:ext>
                </a:extLst>
              </a:tr>
              <a:tr h="384048">
                <a:tc>
                  <a:txBody>
                    <a:bodyPr/>
                    <a:lstStyle/>
                    <a:p>
                      <a:r>
                        <a:rPr sz="1000" b="0"/>
                        <a:t>So sánh</a:t>
                      </a:r>
                    </a:p>
                  </a:txBody>
                  <a:tcPr marL="54864" marR="54864" marT="27432" marB="27432" anchor="ctr"/>
                </a:tc>
                <a:tc>
                  <a:txBody>
                    <a:bodyPr/>
                    <a:lstStyle/>
                    <a:p>
                      <a:r>
                        <a:rPr sz="1000" b="0">
                          <a:latin typeface="Consolas"/>
                          <a:ea typeface="Consolas"/>
                          <a:cs typeface="Consolas"/>
                        </a:rPr>
                        <a:t>!=</a:t>
                      </a:r>
                      <a:r>
                        <a:rPr sz="1000" b="0"/>
                        <a:t> </a:t>
                      </a:r>
                      <a:r>
                        <a:rPr sz="1000" b="0">
                          <a:latin typeface="Consolas"/>
                          <a:ea typeface="Consolas"/>
                          <a:cs typeface="Consolas"/>
                        </a:rPr>
                        <a:t>!==</a:t>
                      </a:r>
                    </a:p>
                  </a:txBody>
                  <a:tcPr marL="54864" marR="54864" marT="27432" marB="27432" anchor="ctr"/>
                </a:tc>
                <a:tc>
                  <a:txBody>
                    <a:bodyPr/>
                    <a:lstStyle/>
                    <a:p>
                      <a:r>
                        <a:rPr sz="1000" b="0"/>
                        <a:t>Khác nhau — ngược lại của hai dòng trên</a:t>
                      </a:r>
                    </a:p>
                  </a:txBody>
                  <a:tcPr marL="54864" marR="54864" marT="27432" marB="27432" anchor="ctr"/>
                </a:tc>
                <a:tc>
                  <a:txBody>
                    <a:bodyPr/>
                    <a:lstStyle/>
                    <a:p>
                      <a:r>
                        <a:rPr sz="1000" b="0">
                          <a:latin typeface="Consolas"/>
                          <a:ea typeface="Consolas"/>
                          <a:cs typeface="Consolas"/>
                        </a:rPr>
                        <a:t>$a !== $b</a:t>
                      </a:r>
                    </a:p>
                  </a:txBody>
                  <a:tcPr marL="54864" marR="54864" marT="27432" marB="27432" anchor="ctr"/>
                </a:tc>
                <a:extLst>
                  <a:ext uri="{0D108BD9-81ED-4DB2-BD59-A6C34878D82A}">
                    <a16:rowId xmlns:a16="http://schemas.microsoft.com/office/drawing/2014/main" val="10008"/>
                  </a:ext>
                </a:extLst>
              </a:tr>
              <a:tr h="384048">
                <a:tc>
                  <a:txBody>
                    <a:bodyPr/>
                    <a:lstStyle/>
                    <a:p>
                      <a:r>
                        <a:rPr sz="1000" b="0"/>
                        <a:t>So sánh</a:t>
                      </a:r>
                    </a:p>
                  </a:txBody>
                  <a:tcPr marL="54864" marR="54864" marT="27432" marB="27432" anchor="ctr"/>
                </a:tc>
                <a:tc>
                  <a:txBody>
                    <a:bodyPr/>
                    <a:lstStyle/>
                    <a:p>
                      <a:r>
                        <a:rPr sz="1000" b="0">
                          <a:latin typeface="Consolas"/>
                          <a:ea typeface="Consolas"/>
                          <a:cs typeface="Consolas"/>
                        </a:rPr>
                        <a:t>&gt;</a:t>
                      </a:r>
                      <a:r>
                        <a:rPr sz="1000" b="0"/>
                        <a:t> </a:t>
                      </a:r>
                      <a:r>
                        <a:rPr sz="1000" b="0">
                          <a:latin typeface="Consolas"/>
                          <a:ea typeface="Consolas"/>
                          <a:cs typeface="Consolas"/>
                        </a:rPr>
                        <a:t>&lt;</a:t>
                      </a:r>
                      <a:r>
                        <a:rPr sz="1000" b="0"/>
                        <a:t> </a:t>
                      </a:r>
                      <a:r>
                        <a:rPr sz="1000" b="0">
                          <a:latin typeface="Consolas"/>
                          <a:ea typeface="Consolas"/>
                          <a:cs typeface="Consolas"/>
                        </a:rPr>
                        <a:t>&gt;=</a:t>
                      </a:r>
                      <a:r>
                        <a:rPr sz="1000" b="0"/>
                        <a:t> </a:t>
                      </a:r>
                      <a:r>
                        <a:rPr sz="1000" b="0">
                          <a:latin typeface="Consolas"/>
                          <a:ea typeface="Consolas"/>
                          <a:cs typeface="Consolas"/>
                        </a:rPr>
                        <a:t>&lt;=</a:t>
                      </a:r>
                    </a:p>
                  </a:txBody>
                  <a:tcPr marL="54864" marR="54864" marT="27432" marB="27432" anchor="ctr"/>
                </a:tc>
                <a:tc>
                  <a:txBody>
                    <a:bodyPr/>
                    <a:lstStyle/>
                    <a:p>
                      <a:r>
                        <a:rPr sz="1000" b="0"/>
                        <a:t>Lớn hơn, nhỏ hơn</a:t>
                      </a:r>
                    </a:p>
                  </a:txBody>
                  <a:tcPr marL="54864" marR="54864" marT="27432" marB="27432" anchor="ctr"/>
                </a:tc>
                <a:tc>
                  <a:txBody>
                    <a:bodyPr/>
                    <a:lstStyle/>
                    <a:p>
                      <a:r>
                        <a:rPr sz="1000" b="0">
                          <a:latin typeface="Consolas"/>
                          <a:ea typeface="Consolas"/>
                          <a:cs typeface="Consolas"/>
                        </a:rPr>
                        <a:t>$diem &gt;= 8</a:t>
                      </a:r>
                    </a:p>
                  </a:txBody>
                  <a:tcPr marL="54864" marR="54864" marT="27432" marB="27432" anchor="ctr"/>
                </a:tc>
                <a:extLst>
                  <a:ext uri="{0D108BD9-81ED-4DB2-BD59-A6C34878D82A}">
                    <a16:rowId xmlns:a16="http://schemas.microsoft.com/office/drawing/2014/main" val="10009"/>
                  </a:ext>
                </a:extLst>
              </a:tr>
              <a:tr h="384048">
                <a:tc>
                  <a:txBody>
                    <a:bodyPr/>
                    <a:lstStyle/>
                    <a:p>
                      <a:r>
                        <a:rPr sz="1000" b="0"/>
                        <a:t>Logic</a:t>
                      </a:r>
                    </a:p>
                  </a:txBody>
                  <a:tcPr marL="54864" marR="54864" marT="27432" marB="27432" anchor="ctr"/>
                </a:tc>
                <a:tc>
                  <a:txBody>
                    <a:bodyPr/>
                    <a:lstStyle/>
                    <a:p>
                      <a:r>
                        <a:rPr sz="1000" b="0">
                          <a:latin typeface="Consolas"/>
                          <a:ea typeface="Consolas"/>
                          <a:cs typeface="Consolas"/>
                        </a:rPr>
                        <a:t>&amp;&amp;</a:t>
                      </a:r>
                    </a:p>
                  </a:txBody>
                  <a:tcPr marL="54864" marR="54864" marT="27432" marB="27432" anchor="ctr"/>
                </a:tc>
                <a:tc>
                  <a:txBody>
                    <a:bodyPr/>
                    <a:lstStyle/>
                    <a:p>
                      <a:r>
                        <a:rPr sz="1000" b="0"/>
                        <a:t>VÀ — </a:t>
                      </a:r>
                      <a:r>
                        <a:rPr sz="1000" b="1"/>
                        <a:t>cả hai</a:t>
                      </a:r>
                      <a:r>
                        <a:rPr sz="1000" b="0"/>
                        <a:t> điều kiện đều đúng</a:t>
                      </a:r>
                    </a:p>
                  </a:txBody>
                  <a:tcPr marL="54864" marR="54864" marT="27432" marB="27432" anchor="ctr"/>
                </a:tc>
                <a:tc>
                  <a:txBody>
                    <a:bodyPr/>
                    <a:lstStyle/>
                    <a:p>
                      <a:r>
                        <a:rPr sz="1000" b="0">
                          <a:latin typeface="Consolas"/>
                          <a:ea typeface="Consolas"/>
                          <a:cs typeface="Consolas"/>
                        </a:rPr>
                        <a:t>$tuoi &gt;= 18 &amp;&amp; $coCMND</a:t>
                      </a:r>
                    </a:p>
                  </a:txBody>
                  <a:tcPr marL="54864" marR="54864" marT="27432" marB="27432" anchor="ctr"/>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2.2. Toán tử &amp; rẽ nhánh (2/5)</a:t>
            </a:r>
          </a:p>
        </p:txBody>
      </p:sp>
      <p:graphicFrame>
        <p:nvGraphicFramePr>
          <p:cNvPr id="3" name="Table 2"/>
          <p:cNvGraphicFramePr>
            <a:graphicFrameLocks noGrp="1"/>
          </p:cNvGraphicFramePr>
          <p:nvPr/>
        </p:nvGraphicFramePr>
        <p:xfrm>
          <a:off x="457200" y="1371600"/>
          <a:ext cx="8229600" cy="1670304"/>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84048">
                <a:tc>
                  <a:txBody>
                    <a:bodyPr/>
                    <a:lstStyle/>
                    <a:p>
                      <a:r>
                        <a:rPr sz="1300" b="1">
                          <a:solidFill>
                            <a:srgbClr val="FFFFFF"/>
                          </a:solidFill>
                        </a:rPr>
                        <a:t>Nhóm</a:t>
                      </a:r>
                    </a:p>
                  </a:txBody>
                  <a:tcPr marL="54864" marR="54864" marT="27432" marB="27432" anchor="ctr"/>
                </a:tc>
                <a:tc>
                  <a:txBody>
                    <a:bodyPr/>
                    <a:lstStyle/>
                    <a:p>
                      <a:r>
                        <a:rPr sz="1300" b="1">
                          <a:solidFill>
                            <a:srgbClr val="FFFFFF"/>
                          </a:solidFill>
                        </a:rPr>
                        <a:t>Toán tử</a:t>
                      </a:r>
                    </a:p>
                  </a:txBody>
                  <a:tcPr marL="54864" marR="54864" marT="27432" marB="27432" anchor="ctr"/>
                </a:tc>
                <a:tc>
                  <a:txBody>
                    <a:bodyPr/>
                    <a:lstStyle/>
                    <a:p>
                      <a:r>
                        <a:rPr sz="1300" b="1">
                          <a:solidFill>
                            <a:srgbClr val="FFFFFF"/>
                          </a:solidFill>
                        </a:rPr>
                        <a:t>Ý nghĩa</a:t>
                      </a:r>
                    </a:p>
                  </a:txBody>
                  <a:tcPr marL="54864" marR="54864" marT="27432" marB="27432" anchor="ctr"/>
                </a:tc>
                <a:tc>
                  <a:txBody>
                    <a:bodyPr/>
                    <a:lstStyle/>
                    <a:p>
                      <a:r>
                        <a:rPr sz="1300" b="1">
                          <a:solidFill>
                            <a:srgbClr val="FFFFFF"/>
                          </a:solidFill>
                        </a:rPr>
                        <a:t>Ví dụ</a:t>
                      </a:r>
                    </a:p>
                  </a:txBody>
                  <a:tcPr marL="54864" marR="54864" marT="27432" marB="27432" anchor="ctr"/>
                </a:tc>
                <a:extLst>
                  <a:ext uri="{0D108BD9-81ED-4DB2-BD59-A6C34878D82A}">
                    <a16:rowId xmlns:a16="http://schemas.microsoft.com/office/drawing/2014/main" val="10000"/>
                  </a:ext>
                </a:extLst>
              </a:tr>
              <a:tr h="384048">
                <a:tc>
                  <a:txBody>
                    <a:bodyPr/>
                    <a:lstStyle/>
                    <a:p>
                      <a:r>
                        <a:rPr sz="1300" b="0"/>
                        <a:t>Logic</a:t>
                      </a:r>
                    </a:p>
                  </a:txBody>
                  <a:tcPr marL="54864" marR="54864" marT="27432" marB="27432" anchor="ctr"/>
                </a:tc>
                <a:tc>
                  <a:txBody>
                    <a:bodyPr/>
                    <a:lstStyle/>
                    <a:p>
                      <a:r>
                        <a:rPr sz="1300" b="0">
                          <a:latin typeface="Consolas"/>
                          <a:ea typeface="Consolas"/>
                          <a:cs typeface="Consolas"/>
                        </a:rPr>
                        <a:t>||</a:t>
                      </a:r>
                    </a:p>
                  </a:txBody>
                  <a:tcPr marL="54864" marR="54864" marT="27432" marB="27432" anchor="ctr"/>
                </a:tc>
                <a:tc>
                  <a:txBody>
                    <a:bodyPr/>
                    <a:lstStyle/>
                    <a:p>
                      <a:r>
                        <a:rPr sz="1300" b="0"/>
                        <a:t>HOẶC — </a:t>
                      </a:r>
                      <a:r>
                        <a:rPr sz="1300" b="1"/>
                        <a:t>ít nhất một</a:t>
                      </a:r>
                      <a:r>
                        <a:rPr sz="1300" b="0"/>
                        <a:t> điều kiện đúng</a:t>
                      </a:r>
                    </a:p>
                  </a:txBody>
                  <a:tcPr marL="54864" marR="54864" marT="27432" marB="27432" anchor="ctr"/>
                </a:tc>
                <a:tc>
                  <a:txBody>
                    <a:bodyPr/>
                    <a:lstStyle/>
                    <a:p>
                      <a:r>
                        <a:rPr sz="1300" b="0">
                          <a:latin typeface="Consolas"/>
                          <a:ea typeface="Consolas"/>
                          <a:cs typeface="Consolas"/>
                        </a:rPr>
                        <a:t>$laAdmin || $laChuSoHuu</a:t>
                      </a:r>
                    </a:p>
                  </a:txBody>
                  <a:tcPr marL="54864" marR="54864" marT="27432" marB="27432" anchor="ctr"/>
                </a:tc>
                <a:extLst>
                  <a:ext uri="{0D108BD9-81ED-4DB2-BD59-A6C34878D82A}">
                    <a16:rowId xmlns:a16="http://schemas.microsoft.com/office/drawing/2014/main" val="10001"/>
                  </a:ext>
                </a:extLst>
              </a:tr>
              <a:tr h="384048">
                <a:tc>
                  <a:txBody>
                    <a:bodyPr/>
                    <a:lstStyle/>
                    <a:p>
                      <a:r>
                        <a:rPr sz="1300" b="0"/>
                        <a:t>Logic</a:t>
                      </a:r>
                    </a:p>
                  </a:txBody>
                  <a:tcPr marL="54864" marR="54864" marT="27432" marB="27432" anchor="ctr"/>
                </a:tc>
                <a:tc>
                  <a:txBody>
                    <a:bodyPr/>
                    <a:lstStyle/>
                    <a:p>
                      <a:r>
                        <a:rPr sz="1300" b="0">
                          <a:latin typeface="Consolas"/>
                          <a:ea typeface="Consolas"/>
                          <a:cs typeface="Consolas"/>
                        </a:rPr>
                        <a:t>!</a:t>
                      </a:r>
                    </a:p>
                  </a:txBody>
                  <a:tcPr marL="54864" marR="54864" marT="27432" marB="27432" anchor="ctr"/>
                </a:tc>
                <a:tc>
                  <a:txBody>
                    <a:bodyPr/>
                    <a:lstStyle/>
                    <a:p>
                      <a:r>
                        <a:rPr sz="1300" b="0"/>
                        <a:t>PHỦ ĐỊNH — đảo đúng thành sai</a:t>
                      </a:r>
                    </a:p>
                  </a:txBody>
                  <a:tcPr marL="54864" marR="54864" marT="27432" marB="27432" anchor="ctr"/>
                </a:tc>
                <a:tc>
                  <a:txBody>
                    <a:bodyPr/>
                    <a:lstStyle/>
                    <a:p>
                      <a:r>
                        <a:rPr sz="1300" b="0">
                          <a:latin typeface="Consolas"/>
                          <a:ea typeface="Consolas"/>
                          <a:cs typeface="Consolas"/>
                        </a:rPr>
                        <a:t>!$daDangNhap</a:t>
                      </a:r>
                    </a:p>
                  </a:txBody>
                  <a:tcPr marL="54864" marR="54864" marT="27432" marB="27432" anchor="ctr"/>
                </a:tc>
                <a:extLst>
                  <a:ext uri="{0D108BD9-81ED-4DB2-BD59-A6C34878D82A}">
                    <a16:rowId xmlns:a16="http://schemas.microsoft.com/office/drawing/2014/main" val="10002"/>
                  </a:ext>
                </a:extLst>
              </a:tr>
              <a:tr h="384048">
                <a:tc>
                  <a:txBody>
                    <a:bodyPr/>
                    <a:lstStyle/>
                    <a:p>
                      <a:r>
                        <a:rPr sz="1300" b="0"/>
                        <a:t>Chuỗi</a:t>
                      </a:r>
                    </a:p>
                  </a:txBody>
                  <a:tcPr marL="54864" marR="54864" marT="27432" marB="27432" anchor="ctr"/>
                </a:tc>
                <a:tc>
                  <a:txBody>
                    <a:bodyPr/>
                    <a:lstStyle/>
                    <a:p>
                      <a:r>
                        <a:rPr sz="1300" b="0">
                          <a:latin typeface="Consolas"/>
                          <a:ea typeface="Consolas"/>
                          <a:cs typeface="Consolas"/>
                        </a:rPr>
                        <a:t>.</a:t>
                      </a:r>
                    </a:p>
                  </a:txBody>
                  <a:tcPr marL="54864" marR="54864" marT="27432" marB="27432" anchor="ctr"/>
                </a:tc>
                <a:tc>
                  <a:txBody>
                    <a:bodyPr/>
                    <a:lstStyle/>
                    <a:p>
                      <a:r>
                        <a:rPr sz="1300" b="0"/>
                        <a:t>Nối hai chuỗi lại với nhau</a:t>
                      </a:r>
                    </a:p>
                  </a:txBody>
                  <a:tcPr marL="54864" marR="54864" marT="27432" marB="27432" anchor="ctr"/>
                </a:tc>
                <a:tc>
                  <a:txBody>
                    <a:bodyPr/>
                    <a:lstStyle/>
                    <a:p>
                      <a:r>
                        <a:rPr sz="1300" b="0">
                          <a:latin typeface="Consolas"/>
                          <a:ea typeface="Consolas"/>
                          <a:cs typeface="Consolas"/>
                        </a:rPr>
                        <a:t>"Xin" . " chào"</a:t>
                      </a:r>
                    </a:p>
                  </a:txBody>
                  <a:tcPr marL="54864" marR="54864" marT="27432" marB="27432"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2.2. Toán tử &amp; rẽ nhánh (3/5)</a:t>
            </a:r>
          </a:p>
        </p:txBody>
      </p:sp>
      <p:sp>
        <p:nvSpPr>
          <p:cNvPr id="3" name="TextBox 2"/>
          <p:cNvSpPr txBox="1"/>
          <p:nvPr/>
        </p:nvSpPr>
        <p:spPr>
          <a:xfrm>
            <a:off x="457200" y="1371600"/>
            <a:ext cx="8229600" cy="411480"/>
          </a:xfrm>
          <a:prstGeom prst="rect">
            <a:avLst/>
          </a:prstGeom>
          <a:noFill/>
        </p:spPr>
        <p:txBody>
          <a:bodyPr wrap="square">
            <a:spAutoFit/>
          </a:bodyPr>
          <a:lstStyle/>
          <a:p>
            <a:r>
              <a:rPr sz="1500" b="1"/>
              <a:t>Các cách rẽ nhánh:</a:t>
            </a:r>
          </a:p>
        </p:txBody>
      </p:sp>
      <p:graphicFrame>
        <p:nvGraphicFramePr>
          <p:cNvPr id="4" name="Table 3"/>
          <p:cNvGraphicFramePr>
            <a:graphicFrameLocks noGrp="1"/>
          </p:cNvGraphicFramePr>
          <p:nvPr/>
        </p:nvGraphicFramePr>
        <p:xfrm>
          <a:off x="457200" y="1847088"/>
          <a:ext cx="8229600" cy="2310384"/>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r>
                        <a:rPr sz="1100" b="1">
                          <a:solidFill>
                            <a:srgbClr val="FFFFFF"/>
                          </a:solidFill>
                        </a:rPr>
                        <a:t>Cấu trúc</a:t>
                      </a:r>
                    </a:p>
                  </a:txBody>
                  <a:tcPr marL="54864" marR="54864" marT="27432" marB="27432" anchor="ctr"/>
                </a:tc>
                <a:tc>
                  <a:txBody>
                    <a:bodyPr/>
                    <a:lstStyle/>
                    <a:p>
                      <a:r>
                        <a:rPr sz="1100" b="1">
                          <a:solidFill>
                            <a:srgbClr val="FFFFFF"/>
                          </a:solidFill>
                        </a:rPr>
                        <a:t>Dùng khi</a:t>
                      </a:r>
                    </a:p>
                  </a:txBody>
                  <a:tcPr marL="54864" marR="54864" marT="27432" marB="27432" anchor="ctr"/>
                </a:tc>
                <a:tc>
                  <a:txBody>
                    <a:bodyPr/>
                    <a:lstStyle/>
                    <a:p>
                      <a:r>
                        <a:rPr sz="1100" b="1">
                          <a:solidFill>
                            <a:srgbClr val="FFFFFF"/>
                          </a:solidFill>
                        </a:rPr>
                        <a:t>Cần nhớ</a:t>
                      </a:r>
                    </a:p>
                  </a:txBody>
                  <a:tcPr marL="54864" marR="54864" marT="27432" marB="27432" anchor="ctr"/>
                </a:tc>
                <a:extLst>
                  <a:ext uri="{0D108BD9-81ED-4DB2-BD59-A6C34878D82A}">
                    <a16:rowId xmlns:a16="http://schemas.microsoft.com/office/drawing/2014/main" val="10000"/>
                  </a:ext>
                </a:extLst>
              </a:tr>
              <a:tr h="384048">
                <a:tc>
                  <a:txBody>
                    <a:bodyPr/>
                    <a:lstStyle/>
                    <a:p>
                      <a:r>
                        <a:rPr sz="1100" b="0">
                          <a:latin typeface="Consolas"/>
                          <a:ea typeface="Consolas"/>
                          <a:cs typeface="Consolas"/>
                        </a:rPr>
                        <a:t>if</a:t>
                      </a:r>
                    </a:p>
                  </a:txBody>
                  <a:tcPr marL="54864" marR="54864" marT="27432" marB="27432" anchor="ctr"/>
                </a:tc>
                <a:tc>
                  <a:txBody>
                    <a:bodyPr/>
                    <a:lstStyle/>
                    <a:p>
                      <a:r>
                        <a:rPr sz="1100" b="0"/>
                        <a:t>Chỉ làm gì đó khi điều kiện đúng</a:t>
                      </a:r>
                    </a:p>
                  </a:txBody>
                  <a:tcPr marL="54864" marR="54864" marT="27432" marB="27432" anchor="ctr"/>
                </a:tc>
                <a:tc>
                  <a:txBody>
                    <a:bodyPr/>
                    <a:lstStyle/>
                    <a:p>
                      <a:r>
                        <a:rPr sz="1100" b="0"/>
                        <a:t>Trường hợp đơn giản nhất</a:t>
                      </a:r>
                    </a:p>
                  </a:txBody>
                  <a:tcPr marL="54864" marR="54864" marT="27432" marB="27432" anchor="ctr"/>
                </a:tc>
                <a:extLst>
                  <a:ext uri="{0D108BD9-81ED-4DB2-BD59-A6C34878D82A}">
                    <a16:rowId xmlns:a16="http://schemas.microsoft.com/office/drawing/2014/main" val="10001"/>
                  </a:ext>
                </a:extLst>
              </a:tr>
              <a:tr h="384048">
                <a:tc>
                  <a:txBody>
                    <a:bodyPr/>
                    <a:lstStyle/>
                    <a:p>
                      <a:r>
                        <a:rPr sz="1100" b="0">
                          <a:latin typeface="Consolas"/>
                          <a:ea typeface="Consolas"/>
                          <a:cs typeface="Consolas"/>
                        </a:rPr>
                        <a:t>if ... else</a:t>
                      </a:r>
                    </a:p>
                  </a:txBody>
                  <a:tcPr marL="54864" marR="54864" marT="27432" marB="27432" anchor="ctr"/>
                </a:tc>
                <a:tc>
                  <a:txBody>
                    <a:bodyPr/>
                    <a:lstStyle/>
                    <a:p>
                      <a:r>
                        <a:rPr sz="1100" b="0"/>
                        <a:t>Hai hướng: đúng làm A, sai làm B</a:t>
                      </a:r>
                    </a:p>
                  </a:txBody>
                  <a:tcPr marL="54864" marR="54864" marT="27432" marB="27432" anchor="ctr"/>
                </a:tc>
                <a:tc>
                  <a:txBody>
                    <a:bodyPr/>
                    <a:lstStyle/>
                    <a:p>
                      <a:r>
                        <a:rPr sz="1100" b="0"/>
                        <a:t>Luôn chạy đúng 1 trong 2 nhánh</a:t>
                      </a:r>
                    </a:p>
                  </a:txBody>
                  <a:tcPr marL="54864" marR="54864" marT="27432" marB="27432" anchor="ctr"/>
                </a:tc>
                <a:extLst>
                  <a:ext uri="{0D108BD9-81ED-4DB2-BD59-A6C34878D82A}">
                    <a16:rowId xmlns:a16="http://schemas.microsoft.com/office/drawing/2014/main" val="10002"/>
                  </a:ext>
                </a:extLst>
              </a:tr>
              <a:tr h="384048">
                <a:tc>
                  <a:txBody>
                    <a:bodyPr/>
                    <a:lstStyle/>
                    <a:p>
                      <a:r>
                        <a:rPr sz="1100" b="0">
                          <a:latin typeface="Consolas"/>
                          <a:ea typeface="Consolas"/>
                          <a:cs typeface="Consolas"/>
                        </a:rPr>
                        <a:t>if ... elseif ... else</a:t>
                      </a:r>
                    </a:p>
                  </a:txBody>
                  <a:tcPr marL="54864" marR="54864" marT="27432" marB="27432" anchor="ctr"/>
                </a:tc>
                <a:tc>
                  <a:txBody>
                    <a:bodyPr/>
                    <a:lstStyle/>
                    <a:p>
                      <a:r>
                        <a:rPr sz="1100" b="0"/>
                        <a:t>Nhiều mức, xét theo </a:t>
                      </a:r>
                      <a:r>
                        <a:rPr sz="1100" b="1"/>
                        <a:t>khoảng giá trị</a:t>
                      </a:r>
                    </a:p>
                  </a:txBody>
                  <a:tcPr marL="54864" marR="54864" marT="27432" marB="27432" anchor="ctr"/>
                </a:tc>
                <a:tc>
                  <a:txBody>
                    <a:bodyPr/>
                    <a:lstStyle/>
                    <a:p>
                      <a:r>
                        <a:rPr sz="1100" b="0"/>
                        <a:t>Xếp loại điểm, bậc giá</a:t>
                      </a:r>
                    </a:p>
                  </a:txBody>
                  <a:tcPr marL="54864" marR="54864" marT="27432" marB="27432" anchor="ctr"/>
                </a:tc>
                <a:extLst>
                  <a:ext uri="{0D108BD9-81ED-4DB2-BD59-A6C34878D82A}">
                    <a16:rowId xmlns:a16="http://schemas.microsoft.com/office/drawing/2014/main" val="10003"/>
                  </a:ext>
                </a:extLst>
              </a:tr>
              <a:tr h="384048">
                <a:tc>
                  <a:txBody>
                    <a:bodyPr/>
                    <a:lstStyle/>
                    <a:p>
                      <a:r>
                        <a:rPr sz="1100" b="0">
                          <a:latin typeface="Consolas"/>
                          <a:ea typeface="Consolas"/>
                          <a:cs typeface="Consolas"/>
                        </a:rPr>
                        <a:t>switch</a:t>
                      </a:r>
                    </a:p>
                  </a:txBody>
                  <a:tcPr marL="54864" marR="54864" marT="27432" marB="27432" anchor="ctr"/>
                </a:tc>
                <a:tc>
                  <a:txBody>
                    <a:bodyPr/>
                    <a:lstStyle/>
                    <a:p>
                      <a:r>
                        <a:rPr sz="1100" b="0"/>
                        <a:t>So sánh </a:t>
                      </a:r>
                      <a:r>
                        <a:rPr sz="1100" b="1"/>
                        <a:t>một biến</a:t>
                      </a:r>
                      <a:r>
                        <a:rPr sz="1100" b="0"/>
                        <a:t> với nhiều giá trị </a:t>
                      </a:r>
                      <a:r>
                        <a:rPr sz="1100" b="1"/>
                        <a:t>cố định</a:t>
                      </a:r>
                    </a:p>
                  </a:txBody>
                  <a:tcPr marL="54864" marR="54864" marT="27432" marB="27432" anchor="ctr"/>
                </a:tc>
                <a:tc>
                  <a:txBody>
                    <a:bodyPr/>
                    <a:lstStyle/>
                    <a:p>
                      <a:r>
                        <a:rPr sz="1100" b="0"/>
                        <a:t>Nhớ </a:t>
                      </a:r>
                      <a:r>
                        <a:rPr sz="1100" b="0">
                          <a:latin typeface="Consolas"/>
                          <a:ea typeface="Consolas"/>
                          <a:cs typeface="Consolas"/>
                        </a:rPr>
                        <a:t>break</a:t>
                      </a:r>
                      <a:r>
                        <a:rPr sz="1100" b="0"/>
                        <a:t>, thiếu là chạy tràn xuống dưới</a:t>
                      </a:r>
                    </a:p>
                  </a:txBody>
                  <a:tcPr marL="54864" marR="54864" marT="27432" marB="27432" anchor="ctr"/>
                </a:tc>
                <a:extLst>
                  <a:ext uri="{0D108BD9-81ED-4DB2-BD59-A6C34878D82A}">
                    <a16:rowId xmlns:a16="http://schemas.microsoft.com/office/drawing/2014/main" val="10004"/>
                  </a:ext>
                </a:extLst>
              </a:tr>
              <a:tr h="384048">
                <a:tc>
                  <a:txBody>
                    <a:bodyPr/>
                    <a:lstStyle/>
                    <a:p>
                      <a:r>
                        <a:rPr sz="1100" b="0">
                          <a:latin typeface="Consolas"/>
                          <a:ea typeface="Consolas"/>
                          <a:cs typeface="Consolas"/>
                        </a:rPr>
                        <a:t>? :</a:t>
                      </a:r>
                      <a:r>
                        <a:rPr sz="1100" b="0"/>
                        <a:t> (toán tử ba ngôi)</a:t>
                      </a:r>
                    </a:p>
                  </a:txBody>
                  <a:tcPr marL="54864" marR="54864" marT="27432" marB="27432" anchor="ctr"/>
                </a:tc>
                <a:tc>
                  <a:txBody>
                    <a:bodyPr/>
                    <a:lstStyle/>
                    <a:p>
                      <a:r>
                        <a:rPr sz="1100" b="0"/>
                        <a:t>Gán nhanh một trong hai giá trị</a:t>
                      </a:r>
                    </a:p>
                  </a:txBody>
                  <a:tcPr marL="54864" marR="54864" marT="27432" marB="27432" anchor="ctr"/>
                </a:tc>
                <a:tc>
                  <a:txBody>
                    <a:bodyPr/>
                    <a:lstStyle/>
                    <a:p>
                      <a:r>
                        <a:rPr sz="1100" b="0">
                          <a:latin typeface="Consolas"/>
                          <a:ea typeface="Consolas"/>
                          <a:cs typeface="Consolas"/>
                        </a:rPr>
                        <a:t>$loai = $tuoi &gt;= 18 ? "lớn" : "nhỏ"</a:t>
                      </a:r>
                    </a:p>
                  </a:txBody>
                  <a:tcPr marL="54864" marR="54864" marT="27432" marB="27432"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2.2. Toán tử &amp; rẽ nhánh (4/5)</a:t>
            </a:r>
          </a:p>
        </p:txBody>
      </p:sp>
      <p:sp>
        <p:nvSpPr>
          <p:cNvPr id="3" name="TextBox 2"/>
          <p:cNvSpPr txBox="1"/>
          <p:nvPr/>
        </p:nvSpPr>
        <p:spPr>
          <a:xfrm>
            <a:off x="365760" y="1188720"/>
            <a:ext cx="8412480" cy="435864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000">
                <a:solidFill>
                  <a:srgbClr val="1A1A1A"/>
                </a:solidFill>
                <a:latin typeface="Consolas"/>
                <a:ea typeface="Consolas"/>
                <a:cs typeface="Consolas"/>
              </a:rPr>
              <a:t>&lt;?php</a:t>
            </a:r>
          </a:p>
          <a:p>
            <a:pPr>
              <a:lnSpc>
                <a:spcPct val="100000"/>
              </a:lnSpc>
              <a:spcAft>
                <a:spcPts val="0"/>
              </a:spcAft>
            </a:pPr>
            <a:r>
              <a:rPr sz="1000">
                <a:solidFill>
                  <a:srgbClr val="1A1A1A"/>
                </a:solidFill>
                <a:latin typeface="Consolas"/>
                <a:ea typeface="Consolas"/>
                <a:cs typeface="Consolas"/>
              </a:rPr>
              <a:t>    $diem = 7.5;</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if ($diem &gt;= 8) {</a:t>
            </a:r>
          </a:p>
          <a:p>
            <a:pPr>
              <a:lnSpc>
                <a:spcPct val="100000"/>
              </a:lnSpc>
              <a:spcAft>
                <a:spcPts val="0"/>
              </a:spcAft>
            </a:pPr>
            <a:r>
              <a:rPr sz="1000">
                <a:solidFill>
                  <a:srgbClr val="1A1A1A"/>
                </a:solidFill>
                <a:latin typeface="Consolas"/>
                <a:ea typeface="Consolas"/>
                <a:cs typeface="Consolas"/>
              </a:rPr>
              <a:t>        echo "Giỏi";</a:t>
            </a:r>
          </a:p>
          <a:p>
            <a:pPr>
              <a:lnSpc>
                <a:spcPct val="100000"/>
              </a:lnSpc>
              <a:spcAft>
                <a:spcPts val="0"/>
              </a:spcAft>
            </a:pPr>
            <a:r>
              <a:rPr sz="1000">
                <a:solidFill>
                  <a:srgbClr val="1A1A1A"/>
                </a:solidFill>
                <a:latin typeface="Consolas"/>
                <a:ea typeface="Consolas"/>
                <a:cs typeface="Consolas"/>
              </a:rPr>
              <a:t>    } elseif ($diem &gt;= 6.5) {</a:t>
            </a:r>
          </a:p>
          <a:p>
            <a:pPr>
              <a:lnSpc>
                <a:spcPct val="100000"/>
              </a:lnSpc>
              <a:spcAft>
                <a:spcPts val="0"/>
              </a:spcAft>
            </a:pPr>
            <a:r>
              <a:rPr sz="1000">
                <a:solidFill>
                  <a:srgbClr val="1A1A1A"/>
                </a:solidFill>
                <a:latin typeface="Consolas"/>
                <a:ea typeface="Consolas"/>
                <a:cs typeface="Consolas"/>
              </a:rPr>
              <a:t>        echo "Khá";</a:t>
            </a:r>
          </a:p>
          <a:p>
            <a:pPr>
              <a:lnSpc>
                <a:spcPct val="100000"/>
              </a:lnSpc>
              <a:spcAft>
                <a:spcPts val="0"/>
              </a:spcAft>
            </a:pPr>
            <a:r>
              <a:rPr sz="1000">
                <a:solidFill>
                  <a:srgbClr val="1A1A1A"/>
                </a:solidFill>
                <a:latin typeface="Consolas"/>
                <a:ea typeface="Consolas"/>
                <a:cs typeface="Consolas"/>
              </a:rPr>
              <a:t>    } elseif ($diem &gt;= 5) {</a:t>
            </a:r>
          </a:p>
          <a:p>
            <a:pPr>
              <a:lnSpc>
                <a:spcPct val="100000"/>
              </a:lnSpc>
              <a:spcAft>
                <a:spcPts val="0"/>
              </a:spcAft>
            </a:pPr>
            <a:r>
              <a:rPr sz="1000">
                <a:solidFill>
                  <a:srgbClr val="1A1A1A"/>
                </a:solidFill>
                <a:latin typeface="Consolas"/>
                <a:ea typeface="Consolas"/>
                <a:cs typeface="Consolas"/>
              </a:rPr>
              <a:t>        echo "Trung bình";</a:t>
            </a:r>
          </a:p>
          <a:p>
            <a:pPr>
              <a:lnSpc>
                <a:spcPct val="100000"/>
              </a:lnSpc>
              <a:spcAft>
                <a:spcPts val="0"/>
              </a:spcAft>
            </a:pPr>
            <a:r>
              <a:rPr sz="1000">
                <a:solidFill>
                  <a:srgbClr val="1A1A1A"/>
                </a:solidFill>
                <a:latin typeface="Consolas"/>
                <a:ea typeface="Consolas"/>
                <a:cs typeface="Consolas"/>
              </a:rPr>
              <a:t>    } else {</a:t>
            </a:r>
          </a:p>
          <a:p>
            <a:pPr>
              <a:lnSpc>
                <a:spcPct val="100000"/>
              </a:lnSpc>
              <a:spcAft>
                <a:spcPts val="0"/>
              </a:spcAft>
            </a:pPr>
            <a:r>
              <a:rPr sz="1000">
                <a:solidFill>
                  <a:srgbClr val="1A1A1A"/>
                </a:solidFill>
                <a:latin typeface="Consolas"/>
                <a:ea typeface="Consolas"/>
                <a:cs typeface="Consolas"/>
              </a:rPr>
              <a:t>        echo "Chưa đạt";</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4A804A"/>
                </a:solidFill>
                <a:latin typeface="Consolas"/>
                <a:ea typeface="Consolas"/>
                <a:cs typeface="Consolas"/>
              </a:rPr>
              <a:t>    // switch: dung khi so sanh 1 bien voi nhieu gia tri co dinh</a:t>
            </a:r>
          </a:p>
          <a:p>
            <a:pPr>
              <a:lnSpc>
                <a:spcPct val="100000"/>
              </a:lnSpc>
              <a:spcAft>
                <a:spcPts val="0"/>
              </a:spcAft>
            </a:pPr>
            <a:r>
              <a:rPr sz="1000">
                <a:solidFill>
                  <a:srgbClr val="1A1A1A"/>
                </a:solidFill>
                <a:latin typeface="Consolas"/>
                <a:ea typeface="Consolas"/>
                <a:cs typeface="Consolas"/>
              </a:rPr>
              <a:t>    $loai = "sach";</a:t>
            </a:r>
          </a:p>
          <a:p>
            <a:pPr>
              <a:lnSpc>
                <a:spcPct val="100000"/>
              </a:lnSpc>
              <a:spcAft>
                <a:spcPts val="0"/>
              </a:spcAft>
            </a:pPr>
            <a:r>
              <a:rPr sz="1000">
                <a:solidFill>
                  <a:srgbClr val="1A1A1A"/>
                </a:solidFill>
                <a:latin typeface="Consolas"/>
                <a:ea typeface="Consolas"/>
                <a:cs typeface="Consolas"/>
              </a:rPr>
              <a:t>    switch ($loai) {</a:t>
            </a:r>
          </a:p>
          <a:p>
            <a:pPr>
              <a:lnSpc>
                <a:spcPct val="100000"/>
              </a:lnSpc>
              <a:spcAft>
                <a:spcPts val="0"/>
              </a:spcAft>
            </a:pPr>
            <a:r>
              <a:rPr sz="1000">
                <a:solidFill>
                  <a:srgbClr val="1A1A1A"/>
                </a:solidFill>
                <a:latin typeface="Consolas"/>
                <a:ea typeface="Consolas"/>
                <a:cs typeface="Consolas"/>
              </a:rPr>
              <a:t>        case "sach":</a:t>
            </a:r>
          </a:p>
          <a:p>
            <a:pPr>
              <a:lnSpc>
                <a:spcPct val="100000"/>
              </a:lnSpc>
              <a:spcAft>
                <a:spcPts val="0"/>
              </a:spcAft>
            </a:pPr>
            <a:r>
              <a:rPr sz="1000">
                <a:solidFill>
                  <a:srgbClr val="1A1A1A"/>
                </a:solidFill>
                <a:latin typeface="Consolas"/>
                <a:ea typeface="Consolas"/>
                <a:cs typeface="Consolas"/>
              </a:rPr>
              <a:t>            echo "Danh mục: Sách"; break;</a:t>
            </a:r>
          </a:p>
          <a:p>
            <a:pPr>
              <a:lnSpc>
                <a:spcPct val="100000"/>
              </a:lnSpc>
              <a:spcAft>
                <a:spcPts val="0"/>
              </a:spcAft>
            </a:pPr>
            <a:r>
              <a:rPr sz="1000">
                <a:solidFill>
                  <a:srgbClr val="1A1A1A"/>
                </a:solidFill>
                <a:latin typeface="Consolas"/>
                <a:ea typeface="Consolas"/>
                <a:cs typeface="Consolas"/>
              </a:rPr>
              <a:t>        case "but":</a:t>
            </a:r>
          </a:p>
          <a:p>
            <a:pPr>
              <a:lnSpc>
                <a:spcPct val="100000"/>
              </a:lnSpc>
              <a:spcAft>
                <a:spcPts val="0"/>
              </a:spcAft>
            </a:pPr>
            <a:r>
              <a:rPr sz="1000">
                <a:solidFill>
                  <a:srgbClr val="1A1A1A"/>
                </a:solidFill>
                <a:latin typeface="Consolas"/>
                <a:ea typeface="Consolas"/>
                <a:cs typeface="Consolas"/>
              </a:rPr>
              <a:t>            echo "Danh mục: Bút";  break;</a:t>
            </a:r>
          </a:p>
          <a:p>
            <a:pPr>
              <a:lnSpc>
                <a:spcPct val="100000"/>
              </a:lnSpc>
              <a:spcAft>
                <a:spcPts val="0"/>
              </a:spcAft>
            </a:pPr>
            <a:r>
              <a:rPr sz="1000">
                <a:solidFill>
                  <a:srgbClr val="1A1A1A"/>
                </a:solidFill>
                <a:latin typeface="Consolas"/>
                <a:ea typeface="Consolas"/>
                <a:cs typeface="Consolas"/>
              </a:rPr>
              <a:t>        default:</a:t>
            </a:r>
          </a:p>
          <a:p>
            <a:pPr>
              <a:lnSpc>
                <a:spcPct val="100000"/>
              </a:lnSpc>
              <a:spcAft>
                <a:spcPts val="0"/>
              </a:spcAft>
            </a:pPr>
            <a:r>
              <a:rPr sz="1000">
                <a:solidFill>
                  <a:srgbClr val="1A1A1A"/>
                </a:solidFill>
                <a:latin typeface="Consolas"/>
                <a:ea typeface="Consolas"/>
                <a:cs typeface="Consolas"/>
              </a:rPr>
              <a:t>            echo "Danh mục khác";</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?&gt;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2.2. Toán tử &amp; rẽ nhánh (5/5)</a:t>
            </a:r>
          </a:p>
        </p:txBody>
      </p:sp>
      <p:sp>
        <p:nvSpPr>
          <p:cNvPr id="3" name="Content Placeholder 2"/>
          <p:cNvSpPr>
            <a:spLocks noGrp="1"/>
          </p:cNvSpPr>
          <p:nvPr>
            <p:ph idx="1"/>
          </p:nvPr>
        </p:nvSpPr>
        <p:spPr/>
        <p:txBody>
          <a:bodyPr wrap="square"/>
          <a:lstStyle/>
          <a:p>
            <a:pPr>
              <a:spcBef>
                <a:spcPts val="800"/>
              </a:spcBef>
              <a:spcAft>
                <a:spcPts val="600"/>
              </a:spcAft>
            </a:pPr>
            <a:r>
              <a:rPr sz="1900" b="1" i="1">
                <a:solidFill>
                  <a:srgbClr val="666666"/>
                </a:solidFill>
              </a:rPr>
              <a:t>Lưu ý `==` và `===`:</a:t>
            </a:r>
            <a:r>
              <a:rPr sz="1900" b="0" i="1">
                <a:solidFill>
                  <a:srgbClr val="666666"/>
                </a:solidFill>
              </a:rPr>
              <a:t> </a:t>
            </a:r>
            <a:r>
              <a:rPr sz="1900" b="0" i="1">
                <a:solidFill>
                  <a:srgbClr val="666666"/>
                </a:solidFill>
                <a:latin typeface="Consolas"/>
                <a:ea typeface="Consolas"/>
                <a:cs typeface="Consolas"/>
              </a:rPr>
              <a:t>"5" == 5</a:t>
            </a:r>
            <a:r>
              <a:rPr sz="1900" b="0" i="1">
                <a:solidFill>
                  <a:srgbClr val="666666"/>
                </a:solidFill>
              </a:rPr>
              <a:t> là </a:t>
            </a:r>
            <a:r>
              <a:rPr sz="1900" b="0" i="1">
                <a:solidFill>
                  <a:srgbClr val="666666"/>
                </a:solidFill>
                <a:latin typeface="Consolas"/>
                <a:ea typeface="Consolas"/>
                <a:cs typeface="Consolas"/>
              </a:rPr>
              <a:t>true</a:t>
            </a:r>
            <a:r>
              <a:rPr sz="1900" b="0" i="1">
                <a:solidFill>
                  <a:srgbClr val="666666"/>
                </a:solidFill>
              </a:rPr>
              <a:t> (so sánh giá trị), nhưng </a:t>
            </a:r>
            <a:r>
              <a:rPr sz="1900" b="0" i="1">
                <a:solidFill>
                  <a:srgbClr val="666666"/>
                </a:solidFill>
                <a:latin typeface="Consolas"/>
                <a:ea typeface="Consolas"/>
                <a:cs typeface="Consolas"/>
              </a:rPr>
              <a:t>"5" === 5</a:t>
            </a:r>
            <a:r>
              <a:rPr sz="1900" b="0" i="1">
                <a:solidFill>
                  <a:srgbClr val="666666"/>
                </a:solidFill>
              </a:rPr>
              <a:t> là </a:t>
            </a:r>
            <a:r>
              <a:rPr sz="1900" b="0" i="1">
                <a:solidFill>
                  <a:srgbClr val="666666"/>
                </a:solidFill>
                <a:latin typeface="Consolas"/>
                <a:ea typeface="Consolas"/>
                <a:cs typeface="Consolas"/>
              </a:rPr>
              <a:t>false</a:t>
            </a:r>
            <a:r>
              <a:rPr sz="1900" b="0" i="1">
                <a:solidFill>
                  <a:srgbClr val="666666"/>
                </a:solidFill>
              </a:rPr>
              <a:t> (so sánh cả kiểu). Trong khóa này </a:t>
            </a:r>
            <a:r>
              <a:rPr sz="1900" b="1" i="1">
                <a:solidFill>
                  <a:srgbClr val="666666"/>
                </a:solidFill>
              </a:rPr>
              <a:t>luôn ưu tiên `===`</a:t>
            </a:r>
            <a:r>
              <a:rPr sz="1900" b="0" i="1">
                <a:solidFill>
                  <a:srgbClr val="666666"/>
                </a:solidFill>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2.3. Vòng lặp (1/7)</a:t>
            </a:r>
          </a:p>
        </p:txBody>
      </p:sp>
      <p:sp>
        <p:nvSpPr>
          <p:cNvPr id="3" name="TextBox 2"/>
          <p:cNvSpPr txBox="1"/>
          <p:nvPr/>
        </p:nvSpPr>
        <p:spPr>
          <a:xfrm>
            <a:off x="457200" y="1371600"/>
            <a:ext cx="8229600" cy="411480"/>
          </a:xfrm>
          <a:prstGeom prst="rect">
            <a:avLst/>
          </a:prstGeom>
          <a:noFill/>
        </p:spPr>
        <p:txBody>
          <a:bodyPr wrap="square">
            <a:spAutoFit/>
          </a:bodyPr>
          <a:lstStyle/>
          <a:p>
            <a:r>
              <a:rPr sz="1500" b="0"/>
              <a:t>Ba kiểu vòng lặp, chọn theo tình huống:</a:t>
            </a:r>
          </a:p>
        </p:txBody>
      </p:sp>
      <p:graphicFrame>
        <p:nvGraphicFramePr>
          <p:cNvPr id="4" name="Table 3"/>
          <p:cNvGraphicFramePr>
            <a:graphicFrameLocks noGrp="1"/>
          </p:cNvGraphicFramePr>
          <p:nvPr/>
        </p:nvGraphicFramePr>
        <p:xfrm>
          <a:off x="457200" y="1847088"/>
          <a:ext cx="8229600" cy="154228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r>
                        <a:rPr sz="1100" b="1">
                          <a:solidFill>
                            <a:srgbClr val="FFFFFF"/>
                          </a:solidFill>
                        </a:rPr>
                        <a:t>Vòng lặp</a:t>
                      </a:r>
                    </a:p>
                  </a:txBody>
                  <a:tcPr marL="54864" marR="54864" marT="27432" marB="27432" anchor="ctr"/>
                </a:tc>
                <a:tc>
                  <a:txBody>
                    <a:bodyPr/>
                    <a:lstStyle/>
                    <a:p>
                      <a:r>
                        <a:rPr sz="1100" b="1">
                          <a:solidFill>
                            <a:srgbClr val="FFFFFF"/>
                          </a:solidFill>
                        </a:rPr>
                        <a:t>Dùng khi</a:t>
                      </a:r>
                    </a:p>
                  </a:txBody>
                  <a:tcPr marL="54864" marR="54864" marT="27432" marB="27432" anchor="ctr"/>
                </a:tc>
                <a:tc>
                  <a:txBody>
                    <a:bodyPr/>
                    <a:lstStyle/>
                    <a:p>
                      <a:r>
                        <a:rPr sz="1100" b="1">
                          <a:solidFill>
                            <a:srgbClr val="FFFFFF"/>
                          </a:solidFill>
                        </a:rPr>
                        <a:t>Ví dụ điển hình</a:t>
                      </a:r>
                    </a:p>
                  </a:txBody>
                  <a:tcPr marL="54864" marR="54864" marT="27432" marB="27432" anchor="ctr"/>
                </a:tc>
                <a:extLst>
                  <a:ext uri="{0D108BD9-81ED-4DB2-BD59-A6C34878D82A}">
                    <a16:rowId xmlns:a16="http://schemas.microsoft.com/office/drawing/2014/main" val="10000"/>
                  </a:ext>
                </a:extLst>
              </a:tr>
              <a:tr h="384048">
                <a:tc>
                  <a:txBody>
                    <a:bodyPr/>
                    <a:lstStyle/>
                    <a:p>
                      <a:r>
                        <a:rPr sz="1100" b="0">
                          <a:latin typeface="Consolas"/>
                          <a:ea typeface="Consolas"/>
                          <a:cs typeface="Consolas"/>
                        </a:rPr>
                        <a:t>for</a:t>
                      </a:r>
                    </a:p>
                  </a:txBody>
                  <a:tcPr marL="54864" marR="54864" marT="27432" marB="27432" anchor="ctr"/>
                </a:tc>
                <a:tc>
                  <a:txBody>
                    <a:bodyPr/>
                    <a:lstStyle/>
                    <a:p>
                      <a:r>
                        <a:rPr sz="1100" b="1"/>
                        <a:t>Biết trước</a:t>
                      </a:r>
                      <a:r>
                        <a:rPr sz="1100" b="0"/>
                        <a:t> số lần lặp</a:t>
                      </a:r>
                    </a:p>
                  </a:txBody>
                  <a:tcPr marL="54864" marR="54864" marT="27432" marB="27432" anchor="ctr"/>
                </a:tc>
                <a:tc>
                  <a:txBody>
                    <a:bodyPr/>
                    <a:lstStyle/>
                    <a:p>
                      <a:r>
                        <a:rPr sz="1100" b="0"/>
                        <a:t>In số từ 1 đến 100, in bảng cửu chương</a:t>
                      </a:r>
                    </a:p>
                  </a:txBody>
                  <a:tcPr marL="54864" marR="54864" marT="27432" marB="27432" anchor="ctr"/>
                </a:tc>
                <a:extLst>
                  <a:ext uri="{0D108BD9-81ED-4DB2-BD59-A6C34878D82A}">
                    <a16:rowId xmlns:a16="http://schemas.microsoft.com/office/drawing/2014/main" val="10001"/>
                  </a:ext>
                </a:extLst>
              </a:tr>
              <a:tr h="384048">
                <a:tc>
                  <a:txBody>
                    <a:bodyPr/>
                    <a:lstStyle/>
                    <a:p>
                      <a:r>
                        <a:rPr sz="1100" b="0">
                          <a:latin typeface="Consolas"/>
                          <a:ea typeface="Consolas"/>
                          <a:cs typeface="Consolas"/>
                        </a:rPr>
                        <a:t>while</a:t>
                      </a:r>
                    </a:p>
                  </a:txBody>
                  <a:tcPr marL="54864" marR="54864" marT="27432" marB="27432" anchor="ctr"/>
                </a:tc>
                <a:tc>
                  <a:txBody>
                    <a:bodyPr/>
                    <a:lstStyle/>
                    <a:p>
                      <a:r>
                        <a:rPr sz="1100" b="0"/>
                        <a:t>Lặp </a:t>
                      </a:r>
                      <a:r>
                        <a:rPr sz="1100" b="1"/>
                        <a:t>chừng nào</a:t>
                      </a:r>
                      <a:r>
                        <a:rPr sz="1100" b="0"/>
                        <a:t> điều kiện còn đúng, chưa biết mấy lần</a:t>
                      </a:r>
                    </a:p>
                  </a:txBody>
                  <a:tcPr marL="54864" marR="54864" marT="27432" marB="27432" anchor="ctr"/>
                </a:tc>
                <a:tc>
                  <a:txBody>
                    <a:bodyPr/>
                    <a:lstStyle/>
                    <a:p>
                      <a:r>
                        <a:rPr sz="1100" b="0"/>
                        <a:t>Đọc dữ liệu đến khi hết</a:t>
                      </a:r>
                    </a:p>
                  </a:txBody>
                  <a:tcPr marL="54864" marR="54864" marT="27432" marB="27432" anchor="ctr"/>
                </a:tc>
                <a:extLst>
                  <a:ext uri="{0D108BD9-81ED-4DB2-BD59-A6C34878D82A}">
                    <a16:rowId xmlns:a16="http://schemas.microsoft.com/office/drawing/2014/main" val="10002"/>
                  </a:ext>
                </a:extLst>
              </a:tr>
              <a:tr h="384048">
                <a:tc>
                  <a:txBody>
                    <a:bodyPr/>
                    <a:lstStyle/>
                    <a:p>
                      <a:r>
                        <a:rPr sz="1100" b="0">
                          <a:latin typeface="Consolas"/>
                          <a:ea typeface="Consolas"/>
                          <a:cs typeface="Consolas"/>
                        </a:rPr>
                        <a:t>foreach</a:t>
                      </a:r>
                    </a:p>
                  </a:txBody>
                  <a:tcPr marL="54864" marR="54864" marT="27432" marB="27432" anchor="ctr"/>
                </a:tc>
                <a:tc>
                  <a:txBody>
                    <a:bodyPr/>
                    <a:lstStyle/>
                    <a:p>
                      <a:r>
                        <a:rPr sz="1100" b="0"/>
                        <a:t>Duyệt </a:t>
                      </a:r>
                      <a:r>
                        <a:rPr sz="1100" b="1"/>
                        <a:t>từng phần tử</a:t>
                      </a:r>
                      <a:r>
                        <a:rPr sz="1100" b="0"/>
                        <a:t> của một mảng</a:t>
                      </a:r>
                    </a:p>
                  </a:txBody>
                  <a:tcPr marL="54864" marR="54864" marT="27432" marB="27432" anchor="ctr"/>
                </a:tc>
                <a:tc>
                  <a:txBody>
                    <a:bodyPr/>
                    <a:lstStyle/>
                    <a:p>
                      <a:r>
                        <a:rPr sz="1100" b="0"/>
                        <a:t>In danh sách sản phẩm lấy từ CSDL</a:t>
                      </a:r>
                    </a:p>
                  </a:txBody>
                  <a:tcPr marL="54864" marR="54864" marT="27432" marB="27432"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2.3. Vòng lặp (2/7)</a:t>
            </a:r>
          </a:p>
        </p:txBody>
      </p:sp>
      <p:sp>
        <p:nvSpPr>
          <p:cNvPr id="3" name="TextBox 2"/>
          <p:cNvSpPr txBox="1"/>
          <p:nvPr/>
        </p:nvSpPr>
        <p:spPr>
          <a:xfrm>
            <a:off x="457200" y="1188720"/>
            <a:ext cx="8229600" cy="411480"/>
          </a:xfrm>
          <a:prstGeom prst="rect">
            <a:avLst/>
          </a:prstGeom>
          <a:noFill/>
        </p:spPr>
        <p:txBody>
          <a:bodyPr wrap="square">
            <a:spAutoFit/>
          </a:bodyPr>
          <a:lstStyle/>
          <a:p>
            <a:r>
              <a:rPr sz="1500" b="1"/>
              <a:t>Vòng lặp `for`</a:t>
            </a:r>
            <a:r>
              <a:rPr sz="1500" b="0"/>
              <a:t> — trong ngoặc có 3 phần, ngăn nhau bởi dấu chấm phẩy:</a:t>
            </a:r>
          </a:p>
        </p:txBody>
      </p:sp>
      <p:sp>
        <p:nvSpPr>
          <p:cNvPr id="4" name="TextBox 3"/>
          <p:cNvSpPr txBox="1"/>
          <p:nvPr/>
        </p:nvSpPr>
        <p:spPr>
          <a:xfrm>
            <a:off x="365760" y="1664208"/>
            <a:ext cx="8412480" cy="750824"/>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400">
                <a:solidFill>
                  <a:srgbClr val="1A1A1A"/>
                </a:solidFill>
                <a:latin typeface="Consolas"/>
                <a:ea typeface="Consolas"/>
                <a:cs typeface="Consolas"/>
              </a:rPr>
              <a:t>for ( khởi tạo ; điều kiện dừng ; bước nhảy ) { ... }</a:t>
            </a:r>
          </a:p>
          <a:p>
            <a:pPr>
              <a:lnSpc>
                <a:spcPct val="100000"/>
              </a:lnSpc>
              <a:spcAft>
                <a:spcPts val="0"/>
              </a:spcAft>
            </a:pPr>
            <a:r>
              <a:rPr sz="1400">
                <a:solidFill>
                  <a:srgbClr val="1A1A1A"/>
                </a:solidFill>
                <a:latin typeface="Consolas"/>
                <a:ea typeface="Consolas"/>
                <a:cs typeface="Consolas"/>
              </a:rPr>
              <a:t>        $i = 1      $i &lt;= 5          $i++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2.3. Vòng lặp (3/7)</a:t>
            </a:r>
          </a:p>
        </p:txBody>
      </p:sp>
      <p:sp>
        <p:nvSpPr>
          <p:cNvPr id="3" name="Content Placeholder 2"/>
          <p:cNvSpPr>
            <a:spLocks noGrp="1"/>
          </p:cNvSpPr>
          <p:nvPr>
            <p:ph idx="1"/>
          </p:nvPr>
        </p:nvSpPr>
        <p:spPr/>
        <p:txBody>
          <a:bodyPr wrap="square"/>
          <a:lstStyle/>
          <a:p>
            <a:pPr>
              <a:spcAft>
                <a:spcPts val="600"/>
              </a:spcAft>
            </a:pPr>
            <a:r>
              <a:rPr sz="2000" b="1"/>
              <a:t>Khởi tạo</a:t>
            </a:r>
            <a:r>
              <a:rPr sz="2000" b="0"/>
              <a:t> chạy đúng </a:t>
            </a:r>
            <a:r>
              <a:rPr sz="2000" b="1"/>
              <a:t>một lần</a:t>
            </a:r>
            <a:r>
              <a:rPr sz="2000" b="0"/>
              <a:t>, trước khi vào vòng lặp.</a:t>
            </a:r>
          </a:p>
          <a:p>
            <a:pPr>
              <a:spcAft>
                <a:spcPts val="600"/>
              </a:spcAft>
            </a:pPr>
            <a:r>
              <a:rPr sz="2000" b="1"/>
              <a:t>Điều kiện</a:t>
            </a:r>
            <a:r>
              <a:rPr sz="2000" b="0"/>
              <a:t> được kiểm tra </a:t>
            </a:r>
            <a:r>
              <a:rPr sz="2000" b="1"/>
              <a:t>trước mỗi vòng</a:t>
            </a:r>
            <a:r>
              <a:rPr sz="2000" b="0"/>
              <a:t>; sai là thoát ngay.</a:t>
            </a:r>
          </a:p>
          <a:p>
            <a:pPr>
              <a:spcAft>
                <a:spcPts val="600"/>
              </a:spcAft>
            </a:pPr>
            <a:r>
              <a:rPr sz="2000" b="1"/>
              <a:t>Bước nhảy</a:t>
            </a:r>
            <a:r>
              <a:rPr sz="2000" b="0"/>
              <a:t> chạy </a:t>
            </a:r>
            <a:r>
              <a:rPr sz="2000" b="1"/>
              <a:t>sau mỗi vòng</a:t>
            </a:r>
            <a:r>
              <a:rPr sz="2000" b="0"/>
              <a:t>, thường là </a:t>
            </a:r>
            <a:r>
              <a:rPr sz="2000" b="0">
                <a:latin typeface="Consolas"/>
                <a:ea typeface="Consolas"/>
                <a:cs typeface="Consolas"/>
              </a:rPr>
              <a:t>$i++</a:t>
            </a:r>
            <a:r>
              <a:rPr sz="2000" b="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2.3. Vòng lặp (4/7)</a:t>
            </a:r>
          </a:p>
        </p:txBody>
      </p:sp>
      <p:sp>
        <p:nvSpPr>
          <p:cNvPr id="3" name="TextBox 2"/>
          <p:cNvSpPr txBox="1"/>
          <p:nvPr/>
        </p:nvSpPr>
        <p:spPr>
          <a:xfrm>
            <a:off x="365760" y="1188720"/>
            <a:ext cx="8412480" cy="435864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000">
                <a:solidFill>
                  <a:srgbClr val="1A1A1A"/>
                </a:solidFill>
                <a:latin typeface="Consolas"/>
                <a:ea typeface="Consolas"/>
                <a:cs typeface="Consolas"/>
              </a:rPr>
              <a:t>&lt;?php</a:t>
            </a:r>
          </a:p>
          <a:p>
            <a:pPr>
              <a:lnSpc>
                <a:spcPct val="100000"/>
              </a:lnSpc>
              <a:spcAft>
                <a:spcPts val="0"/>
              </a:spcAft>
            </a:pPr>
            <a:r>
              <a:rPr sz="1000">
                <a:solidFill>
                  <a:srgbClr val="4A804A"/>
                </a:solidFill>
                <a:latin typeface="Consolas"/>
                <a:ea typeface="Consolas"/>
                <a:cs typeface="Consolas"/>
              </a:rPr>
              <a:t>    // for: biet truoc so lan lap</a:t>
            </a:r>
          </a:p>
          <a:p>
            <a:pPr>
              <a:lnSpc>
                <a:spcPct val="100000"/>
              </a:lnSpc>
              <a:spcAft>
                <a:spcPts val="0"/>
              </a:spcAft>
            </a:pPr>
            <a:r>
              <a:rPr sz="1000">
                <a:solidFill>
                  <a:srgbClr val="1A1A1A"/>
                </a:solidFill>
                <a:latin typeface="Consolas"/>
                <a:ea typeface="Consolas"/>
                <a:cs typeface="Consolas"/>
              </a:rPr>
              <a:t>    for ($i = 1; $i &lt;= 5; $i++) {</a:t>
            </a:r>
          </a:p>
          <a:p>
            <a:pPr>
              <a:lnSpc>
                <a:spcPct val="100000"/>
              </a:lnSpc>
              <a:spcAft>
                <a:spcPts val="0"/>
              </a:spcAft>
            </a:pPr>
            <a:r>
              <a:rPr sz="1000">
                <a:solidFill>
                  <a:srgbClr val="1A1A1A"/>
                </a:solidFill>
                <a:latin typeface="Consolas"/>
                <a:ea typeface="Consolas"/>
                <a:cs typeface="Consolas"/>
              </a:rPr>
              <a:t>        echo "Dòng $i &lt;br&gt;";</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4A804A"/>
                </a:solidFill>
                <a:latin typeface="Consolas"/>
                <a:ea typeface="Consolas"/>
                <a:cs typeface="Consolas"/>
              </a:rPr>
              <a:t>    // for dem nguoc: buoc nhay la $i--</a:t>
            </a:r>
          </a:p>
          <a:p>
            <a:pPr>
              <a:lnSpc>
                <a:spcPct val="100000"/>
              </a:lnSpc>
              <a:spcAft>
                <a:spcPts val="0"/>
              </a:spcAft>
            </a:pPr>
            <a:r>
              <a:rPr sz="1000">
                <a:solidFill>
                  <a:srgbClr val="1A1A1A"/>
                </a:solidFill>
                <a:latin typeface="Consolas"/>
                <a:ea typeface="Consolas"/>
                <a:cs typeface="Consolas"/>
              </a:rPr>
              <a:t>    for ($i = 5; $i &gt;= 1; $i--) {</a:t>
            </a:r>
          </a:p>
          <a:p>
            <a:pPr>
              <a:lnSpc>
                <a:spcPct val="100000"/>
              </a:lnSpc>
              <a:spcAft>
                <a:spcPts val="0"/>
              </a:spcAft>
            </a:pPr>
            <a:r>
              <a:rPr sz="1000">
                <a:solidFill>
                  <a:srgbClr val="1A1A1A"/>
                </a:solidFill>
                <a:latin typeface="Consolas"/>
                <a:ea typeface="Consolas"/>
                <a:cs typeface="Consolas"/>
              </a:rPr>
              <a:t>        echo "Đếm ngược: $i &lt;br&gt;";</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4A804A"/>
                </a:solidFill>
                <a:latin typeface="Consolas"/>
                <a:ea typeface="Consolas"/>
                <a:cs typeface="Consolas"/>
              </a:rPr>
              <a:t>    // for buoc nhay 2 - chi in so le</a:t>
            </a:r>
          </a:p>
          <a:p>
            <a:pPr>
              <a:lnSpc>
                <a:spcPct val="100000"/>
              </a:lnSpc>
              <a:spcAft>
                <a:spcPts val="0"/>
              </a:spcAft>
            </a:pPr>
            <a:r>
              <a:rPr sz="1000">
                <a:solidFill>
                  <a:srgbClr val="1A1A1A"/>
                </a:solidFill>
                <a:latin typeface="Consolas"/>
                <a:ea typeface="Consolas"/>
                <a:cs typeface="Consolas"/>
              </a:rPr>
              <a:t>    for ($i = 1; $i &lt;= 9; $i += 2) {</a:t>
            </a:r>
          </a:p>
          <a:p>
            <a:pPr>
              <a:lnSpc>
                <a:spcPct val="100000"/>
              </a:lnSpc>
              <a:spcAft>
                <a:spcPts val="0"/>
              </a:spcAft>
            </a:pPr>
            <a:r>
              <a:rPr sz="1000">
                <a:solidFill>
                  <a:srgbClr val="1A1A1A"/>
                </a:solidFill>
                <a:latin typeface="Consolas"/>
                <a:ea typeface="Consolas"/>
                <a:cs typeface="Consolas"/>
              </a:rPr>
              <a:t>        echo "$i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echo "&lt;br&gt;";</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4A804A"/>
                </a:solidFill>
                <a:latin typeface="Consolas"/>
                <a:ea typeface="Consolas"/>
                <a:cs typeface="Consolas"/>
              </a:rPr>
              <a:t>    // for long nhau - in bang cuu chuong (bai tap ve nha dung cach nay)</a:t>
            </a:r>
          </a:p>
          <a:p>
            <a:pPr>
              <a:lnSpc>
                <a:spcPct val="100000"/>
              </a:lnSpc>
              <a:spcAft>
                <a:spcPts val="0"/>
              </a:spcAft>
            </a:pPr>
            <a:r>
              <a:rPr sz="1000">
                <a:solidFill>
                  <a:srgbClr val="1A1A1A"/>
                </a:solidFill>
                <a:latin typeface="Consolas"/>
                <a:ea typeface="Consolas"/>
                <a:cs typeface="Consolas"/>
              </a:rPr>
              <a:t>    for ($bang = 2; $bang &lt;= 4; $bang++) {</a:t>
            </a:r>
          </a:p>
          <a:p>
            <a:pPr>
              <a:lnSpc>
                <a:spcPct val="100000"/>
              </a:lnSpc>
              <a:spcAft>
                <a:spcPts val="0"/>
              </a:spcAft>
            </a:pPr>
            <a:r>
              <a:rPr sz="1000">
                <a:solidFill>
                  <a:srgbClr val="1A1A1A"/>
                </a:solidFill>
                <a:latin typeface="Consolas"/>
                <a:ea typeface="Consolas"/>
                <a:cs typeface="Consolas"/>
              </a:rPr>
              <a:t>        for ($nhan = 1; $nhan &lt;= 3; $nhan++) {</a:t>
            </a:r>
          </a:p>
          <a:p>
            <a:pPr>
              <a:lnSpc>
                <a:spcPct val="100000"/>
              </a:lnSpc>
              <a:spcAft>
                <a:spcPts val="0"/>
              </a:spcAft>
            </a:pPr>
            <a:r>
              <a:rPr sz="1000">
                <a:solidFill>
                  <a:srgbClr val="1A1A1A"/>
                </a:solidFill>
                <a:latin typeface="Consolas"/>
                <a:ea typeface="Consolas"/>
                <a:cs typeface="Consolas"/>
              </a:rPr>
              <a:t>            echo "$bang x $nhan = " . ($bang * $nhan) . " &amp;nbsp;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echo "&lt;br&gt;";</a:t>
            </a:r>
          </a:p>
          <a:p>
            <a:pPr>
              <a:lnSpc>
                <a:spcPct val="100000"/>
              </a:lnSpc>
              <a:spcAft>
                <a:spcPts val="0"/>
              </a:spcAft>
            </a:pPr>
            <a:r>
              <a:rPr sz="1000">
                <a:solidFill>
                  <a:srgbClr val="1A1A1A"/>
                </a:solidFill>
                <a:latin typeface="Consolas"/>
                <a:ea typeface="Consolas"/>
                <a:cs typeface="Consolas"/>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2.3. Vòng lặp (5/7)</a:t>
            </a:r>
          </a:p>
        </p:txBody>
      </p:sp>
      <p:sp>
        <p:nvSpPr>
          <p:cNvPr id="3" name="TextBox 2"/>
          <p:cNvSpPr txBox="1"/>
          <p:nvPr/>
        </p:nvSpPr>
        <p:spPr>
          <a:xfrm>
            <a:off x="365760" y="1188720"/>
            <a:ext cx="8412480" cy="73152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400">
                <a:solidFill>
                  <a:srgbClr val="1A1A1A"/>
                </a:solidFill>
                <a:latin typeface="Consolas"/>
                <a:ea typeface="Consolas"/>
                <a:cs typeface="Consolas"/>
              </a:rPr>
              <a:t>?&gt;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2.3. Vòng lặp (6/7)</a:t>
            </a:r>
          </a:p>
        </p:txBody>
      </p:sp>
      <p:sp>
        <p:nvSpPr>
          <p:cNvPr id="3" name="TextBox 2"/>
          <p:cNvSpPr txBox="1"/>
          <p:nvPr/>
        </p:nvSpPr>
        <p:spPr>
          <a:xfrm>
            <a:off x="365760" y="1188720"/>
            <a:ext cx="8412480" cy="3133344"/>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200">
                <a:solidFill>
                  <a:srgbClr val="1A1A1A"/>
                </a:solidFill>
                <a:latin typeface="Consolas"/>
                <a:ea typeface="Consolas"/>
                <a:cs typeface="Consolas"/>
              </a:rPr>
              <a:t>&lt;?php</a:t>
            </a:r>
          </a:p>
          <a:p>
            <a:pPr>
              <a:lnSpc>
                <a:spcPct val="100000"/>
              </a:lnSpc>
              <a:spcAft>
                <a:spcPts val="0"/>
              </a:spcAft>
            </a:pPr>
            <a:r>
              <a:rPr sz="1200">
                <a:solidFill>
                  <a:srgbClr val="4A804A"/>
                </a:solidFill>
                <a:latin typeface="Consolas"/>
                <a:ea typeface="Consolas"/>
                <a:cs typeface="Consolas"/>
              </a:rPr>
              <a:t>    // while: lap khi dieu kien con dung</a:t>
            </a:r>
          </a:p>
          <a:p>
            <a:pPr>
              <a:lnSpc>
                <a:spcPct val="100000"/>
              </a:lnSpc>
              <a:spcAft>
                <a:spcPts val="0"/>
              </a:spcAft>
            </a:pPr>
            <a:r>
              <a:rPr sz="1200">
                <a:solidFill>
                  <a:srgbClr val="1A1A1A"/>
                </a:solidFill>
                <a:latin typeface="Consolas"/>
                <a:ea typeface="Consolas"/>
                <a:cs typeface="Consolas"/>
              </a:rPr>
              <a:t>    $n = 3;</a:t>
            </a:r>
          </a:p>
          <a:p>
            <a:pPr>
              <a:lnSpc>
                <a:spcPct val="100000"/>
              </a:lnSpc>
              <a:spcAft>
                <a:spcPts val="0"/>
              </a:spcAft>
            </a:pPr>
            <a:r>
              <a:rPr sz="1200">
                <a:solidFill>
                  <a:srgbClr val="1A1A1A"/>
                </a:solidFill>
                <a:latin typeface="Consolas"/>
                <a:ea typeface="Consolas"/>
                <a:cs typeface="Consolas"/>
              </a:rPr>
              <a:t>    while ($n &gt; 0) {</a:t>
            </a:r>
          </a:p>
          <a:p>
            <a:pPr>
              <a:lnSpc>
                <a:spcPct val="100000"/>
              </a:lnSpc>
              <a:spcAft>
                <a:spcPts val="0"/>
              </a:spcAft>
            </a:pPr>
            <a:r>
              <a:rPr sz="1200">
                <a:solidFill>
                  <a:srgbClr val="1A1A1A"/>
                </a:solidFill>
                <a:latin typeface="Consolas"/>
                <a:ea typeface="Consolas"/>
                <a:cs typeface="Consolas"/>
              </a:rPr>
              <a:t>        echo "Đếm ngược: $n &lt;br&gt;";</a:t>
            </a:r>
          </a:p>
          <a:p>
            <a:pPr>
              <a:lnSpc>
                <a:spcPct val="100000"/>
              </a:lnSpc>
              <a:spcAft>
                <a:spcPts val="0"/>
              </a:spcAft>
            </a:pPr>
            <a:r>
              <a:rPr sz="1200">
                <a:solidFill>
                  <a:srgbClr val="1A1A1A"/>
                </a:solidFill>
                <a:latin typeface="Consolas"/>
                <a:ea typeface="Consolas"/>
                <a:cs typeface="Consolas"/>
              </a:rPr>
              <a:t>        $n--;</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4A804A"/>
                </a:solidFill>
                <a:latin typeface="Consolas"/>
                <a:ea typeface="Consolas"/>
                <a:cs typeface="Consolas"/>
              </a:rPr>
              <a:t>    // foreach: duyet mang - dung nhieu nhat khi lay du lieu tu CSDL</a:t>
            </a:r>
          </a:p>
          <a:p>
            <a:pPr>
              <a:lnSpc>
                <a:spcPct val="100000"/>
              </a:lnSpc>
              <a:spcAft>
                <a:spcPts val="0"/>
              </a:spcAft>
            </a:pPr>
            <a:r>
              <a:rPr sz="1200">
                <a:solidFill>
                  <a:srgbClr val="1A1A1A"/>
                </a:solidFill>
                <a:latin typeface="Consolas"/>
                <a:ea typeface="Consolas"/>
                <a:cs typeface="Consolas"/>
              </a:rPr>
              <a:t>    $danhSach = ["Bút bi", "Vở ô ly", "Thước kẻ"];</a:t>
            </a:r>
          </a:p>
          <a:p>
            <a:pPr>
              <a:lnSpc>
                <a:spcPct val="100000"/>
              </a:lnSpc>
              <a:spcAft>
                <a:spcPts val="0"/>
              </a:spcAft>
            </a:pPr>
            <a:r>
              <a:rPr sz="1200">
                <a:solidFill>
                  <a:srgbClr val="1A1A1A"/>
                </a:solidFill>
                <a:latin typeface="Consolas"/>
                <a:ea typeface="Consolas"/>
                <a:cs typeface="Consolas"/>
              </a:rPr>
              <a:t>    foreach ($danhSach as $sanPham) {</a:t>
            </a:r>
          </a:p>
          <a:p>
            <a:pPr>
              <a:lnSpc>
                <a:spcPct val="100000"/>
              </a:lnSpc>
              <a:spcAft>
                <a:spcPts val="0"/>
              </a:spcAft>
            </a:pPr>
            <a:r>
              <a:rPr sz="1200">
                <a:solidFill>
                  <a:srgbClr val="1A1A1A"/>
                </a:solidFill>
                <a:latin typeface="Consolas"/>
                <a:ea typeface="Consolas"/>
                <a:cs typeface="Consolas"/>
              </a:rPr>
              <a:t>        echo "- $sanPham &lt;br&gt;";</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1A1A1A"/>
                </a:solidFill>
                <a:latin typeface="Consolas"/>
                <a:ea typeface="Consolas"/>
                <a:cs typeface="Consolas"/>
              </a:rPr>
              <a:t>?&gt;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2.3. Vòng lặp (7/7)</a:t>
            </a:r>
          </a:p>
        </p:txBody>
      </p:sp>
      <p:sp>
        <p:nvSpPr>
          <p:cNvPr id="3" name="Content Placeholder 2"/>
          <p:cNvSpPr>
            <a:spLocks noGrp="1"/>
          </p:cNvSpPr>
          <p:nvPr>
            <p:ph idx="1"/>
          </p:nvPr>
        </p:nvSpPr>
        <p:spPr/>
        <p:txBody>
          <a:bodyPr wrap="square"/>
          <a:lstStyle/>
          <a:p>
            <a:pPr>
              <a:spcBef>
                <a:spcPts val="800"/>
              </a:spcBef>
              <a:spcAft>
                <a:spcPts val="600"/>
              </a:spcAft>
            </a:pPr>
            <a:r>
              <a:rPr sz="1900" b="1" i="1">
                <a:solidFill>
                  <a:srgbClr val="666666"/>
                </a:solidFill>
              </a:rPr>
              <a:t>Lỗi hay gặp:</a:t>
            </a:r>
            <a:r>
              <a:rPr sz="1900" b="0" i="1">
                <a:solidFill>
                  <a:srgbClr val="666666"/>
                </a:solidFill>
              </a:rPr>
              <a:t> quên </a:t>
            </a:r>
            <a:r>
              <a:rPr sz="1900" b="0" i="1">
                <a:solidFill>
                  <a:srgbClr val="666666"/>
                </a:solidFill>
                <a:latin typeface="Consolas"/>
                <a:ea typeface="Consolas"/>
                <a:cs typeface="Consolas"/>
              </a:rPr>
              <a:t>$n--</a:t>
            </a:r>
            <a:r>
              <a:rPr sz="1900" b="0" i="1">
                <a:solidFill>
                  <a:srgbClr val="666666"/>
                </a:solidFill>
              </a:rPr>
              <a:t> trong </a:t>
            </a:r>
            <a:r>
              <a:rPr sz="1900" b="0" i="1">
                <a:solidFill>
                  <a:srgbClr val="666666"/>
                </a:solidFill>
                <a:latin typeface="Consolas"/>
                <a:ea typeface="Consolas"/>
                <a:cs typeface="Consolas"/>
              </a:rPr>
              <a:t>while</a:t>
            </a:r>
            <a:r>
              <a:rPr sz="1900" b="0" i="1">
                <a:solidFill>
                  <a:srgbClr val="666666"/>
                </a:solidFill>
              </a:rPr>
              <a:t> thì vòng lặp chạy mãi mãi, trình duyệt treo. Với </a:t>
            </a:r>
            <a:r>
              <a:rPr sz="1900" b="0" i="1">
                <a:solidFill>
                  <a:srgbClr val="666666"/>
                </a:solidFill>
                <a:latin typeface="Consolas"/>
                <a:ea typeface="Consolas"/>
                <a:cs typeface="Consolas"/>
              </a:rPr>
              <a:t>for</a:t>
            </a:r>
            <a:r>
              <a:rPr sz="1900" b="0" i="1">
                <a:solidFill>
                  <a:srgbClr val="666666"/>
                </a:solidFill>
              </a:rPr>
              <a:t>, bước nhảy nằm ngay trên đầu nên khó quên hơn — đó là lý do khi đã biết trước số lần lặp thì luôn ưu tiên dùng </a:t>
            </a:r>
            <a:r>
              <a:rPr sz="1900" b="0" i="1">
                <a:solidFill>
                  <a:srgbClr val="666666"/>
                </a:solidFill>
                <a:latin typeface="Consolas"/>
                <a:ea typeface="Consolas"/>
                <a:cs typeface="Consolas"/>
              </a:rPr>
              <a:t>for</a:t>
            </a:r>
            <a:r>
              <a:rPr sz="1900" b="0" i="1">
                <a:solidFill>
                  <a:srgbClr val="666666"/>
                </a:solidFill>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2.4. Mảng (1/7)</a:t>
            </a:r>
          </a:p>
        </p:txBody>
      </p:sp>
      <p:sp>
        <p:nvSpPr>
          <p:cNvPr id="3" name="TextBox 2"/>
          <p:cNvSpPr txBox="1"/>
          <p:nvPr/>
        </p:nvSpPr>
        <p:spPr>
          <a:xfrm>
            <a:off x="365760" y="1188720"/>
            <a:ext cx="8412480" cy="435864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000">
                <a:solidFill>
                  <a:srgbClr val="1A1A1A"/>
                </a:solidFill>
                <a:latin typeface="Consolas"/>
                <a:ea typeface="Consolas"/>
                <a:cs typeface="Consolas"/>
              </a:rPr>
              <a:t>&lt;?php</a:t>
            </a:r>
          </a:p>
          <a:p>
            <a:pPr>
              <a:lnSpc>
                <a:spcPct val="100000"/>
              </a:lnSpc>
              <a:spcAft>
                <a:spcPts val="0"/>
              </a:spcAft>
            </a:pPr>
            <a:r>
              <a:rPr sz="1000">
                <a:solidFill>
                  <a:srgbClr val="4A804A"/>
                </a:solidFill>
                <a:latin typeface="Consolas"/>
                <a:ea typeface="Consolas"/>
                <a:cs typeface="Consolas"/>
              </a:rPr>
              <a:t>    // Mang chi so</a:t>
            </a:r>
          </a:p>
          <a:p>
            <a:pPr>
              <a:lnSpc>
                <a:spcPct val="100000"/>
              </a:lnSpc>
              <a:spcAft>
                <a:spcPts val="0"/>
              </a:spcAft>
            </a:pPr>
            <a:r>
              <a:rPr sz="1000">
                <a:solidFill>
                  <a:srgbClr val="1A1A1A"/>
                </a:solidFill>
                <a:latin typeface="Consolas"/>
                <a:ea typeface="Consolas"/>
                <a:cs typeface="Consolas"/>
              </a:rPr>
              <a:t>    $gia = [15000, 8000, 5000];</a:t>
            </a:r>
          </a:p>
          <a:p>
            <a:pPr>
              <a:lnSpc>
                <a:spcPct val="100000"/>
              </a:lnSpc>
              <a:spcAft>
                <a:spcPts val="0"/>
              </a:spcAft>
            </a:pPr>
            <a:r>
              <a:rPr sz="1000">
                <a:solidFill>
                  <a:srgbClr val="1A1A1A"/>
                </a:solidFill>
                <a:latin typeface="Consolas"/>
                <a:ea typeface="Consolas"/>
                <a:cs typeface="Consolas"/>
              </a:rPr>
              <a:t>    echo $gia[0];              // 15000</a:t>
            </a:r>
          </a:p>
          <a:p>
            <a:pPr>
              <a:lnSpc>
                <a:spcPct val="100000"/>
              </a:lnSpc>
              <a:spcAft>
                <a:spcPts val="0"/>
              </a:spcAft>
            </a:pPr>
            <a:r>
              <a:rPr sz="1000">
                <a:solidFill>
                  <a:srgbClr val="1A1A1A"/>
                </a:solidFill>
                <a:latin typeface="Consolas"/>
                <a:ea typeface="Consolas"/>
                <a:cs typeface="Consolas"/>
              </a:rPr>
              <a:t>    echo count($gia);          // 3</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4A804A"/>
                </a:solidFill>
                <a:latin typeface="Consolas"/>
                <a:ea typeface="Consolas"/>
                <a:cs typeface="Consolas"/>
              </a:rPr>
              <a:t>    // Mang ket hop (associative) - dang du lieu tra ve tu CSDL sau nay</a:t>
            </a:r>
          </a:p>
          <a:p>
            <a:pPr>
              <a:lnSpc>
                <a:spcPct val="100000"/>
              </a:lnSpc>
              <a:spcAft>
                <a:spcPts val="0"/>
              </a:spcAft>
            </a:pPr>
            <a:r>
              <a:rPr sz="1000">
                <a:solidFill>
                  <a:srgbClr val="1A1A1A"/>
                </a:solidFill>
                <a:latin typeface="Consolas"/>
                <a:ea typeface="Consolas"/>
                <a:cs typeface="Consolas"/>
              </a:rPr>
              <a:t>    $sanPham = [</a:t>
            </a:r>
          </a:p>
          <a:p>
            <a:pPr>
              <a:lnSpc>
                <a:spcPct val="100000"/>
              </a:lnSpc>
              <a:spcAft>
                <a:spcPts val="0"/>
              </a:spcAft>
            </a:pPr>
            <a:r>
              <a:rPr sz="1000">
                <a:solidFill>
                  <a:srgbClr val="1A1A1A"/>
                </a:solidFill>
                <a:latin typeface="Consolas"/>
                <a:ea typeface="Consolas"/>
                <a:cs typeface="Consolas"/>
              </a:rPr>
              <a:t>        "id"    =&gt; 1,</a:t>
            </a:r>
          </a:p>
          <a:p>
            <a:pPr>
              <a:lnSpc>
                <a:spcPct val="100000"/>
              </a:lnSpc>
              <a:spcAft>
                <a:spcPts val="0"/>
              </a:spcAft>
            </a:pPr>
            <a:r>
              <a:rPr sz="1000">
                <a:solidFill>
                  <a:srgbClr val="1A1A1A"/>
                </a:solidFill>
                <a:latin typeface="Consolas"/>
                <a:ea typeface="Consolas"/>
                <a:cs typeface="Consolas"/>
              </a:rPr>
              <a:t>        "ten"   =&gt; "Bút bi Thiên Long",</a:t>
            </a:r>
          </a:p>
          <a:p>
            <a:pPr>
              <a:lnSpc>
                <a:spcPct val="100000"/>
              </a:lnSpc>
              <a:spcAft>
                <a:spcPts val="0"/>
              </a:spcAft>
            </a:pPr>
            <a:r>
              <a:rPr sz="1000">
                <a:solidFill>
                  <a:srgbClr val="1A1A1A"/>
                </a:solidFill>
                <a:latin typeface="Consolas"/>
                <a:ea typeface="Consolas"/>
                <a:cs typeface="Consolas"/>
              </a:rPr>
              <a:t>        "gia"   =&gt; 5000</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echo $sanPham["ten"];</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4A804A"/>
                </a:solidFill>
                <a:latin typeface="Consolas"/>
                <a:ea typeface="Consolas"/>
                <a:cs typeface="Consolas"/>
              </a:rPr>
              <a:t>    // Mang long nhau (2 chieu) - mo phong 1 bang du lieu</a:t>
            </a:r>
          </a:p>
          <a:p>
            <a:pPr>
              <a:lnSpc>
                <a:spcPct val="100000"/>
              </a:lnSpc>
              <a:spcAft>
                <a:spcPts val="0"/>
              </a:spcAft>
            </a:pPr>
            <a:r>
              <a:rPr sz="1000">
                <a:solidFill>
                  <a:srgbClr val="1A1A1A"/>
                </a:solidFill>
                <a:latin typeface="Consolas"/>
                <a:ea typeface="Consolas"/>
                <a:cs typeface="Consolas"/>
              </a:rPr>
              <a:t>    $dsSanPham = [</a:t>
            </a:r>
          </a:p>
          <a:p>
            <a:pPr>
              <a:lnSpc>
                <a:spcPct val="100000"/>
              </a:lnSpc>
              <a:spcAft>
                <a:spcPts val="0"/>
              </a:spcAft>
            </a:pPr>
            <a:r>
              <a:rPr sz="1000">
                <a:solidFill>
                  <a:srgbClr val="1A1A1A"/>
                </a:solidFill>
                <a:latin typeface="Consolas"/>
                <a:ea typeface="Consolas"/>
                <a:cs typeface="Consolas"/>
              </a:rPr>
              <a:t>        ["id" =&gt; 1, "ten" =&gt; "Bút bi",   "gia" =&gt; 5000],</a:t>
            </a:r>
          </a:p>
          <a:p>
            <a:pPr>
              <a:lnSpc>
                <a:spcPct val="100000"/>
              </a:lnSpc>
              <a:spcAft>
                <a:spcPts val="0"/>
              </a:spcAft>
            </a:pPr>
            <a:r>
              <a:rPr sz="1000">
                <a:solidFill>
                  <a:srgbClr val="1A1A1A"/>
                </a:solidFill>
                <a:latin typeface="Consolas"/>
                <a:ea typeface="Consolas"/>
                <a:cs typeface="Consolas"/>
              </a:rPr>
              <a:t>        ["id" =&gt; 2, "ten" =&gt; "Vở ô ly",  "gia" =&gt; 8000],</a:t>
            </a:r>
          </a:p>
          <a:p>
            <a:pPr>
              <a:lnSpc>
                <a:spcPct val="100000"/>
              </a:lnSpc>
              <a:spcAft>
                <a:spcPts val="0"/>
              </a:spcAft>
            </a:pPr>
            <a:r>
              <a:rPr sz="1000">
                <a:solidFill>
                  <a:srgbClr val="1A1A1A"/>
                </a:solidFill>
                <a:latin typeface="Consolas"/>
                <a:ea typeface="Consolas"/>
                <a:cs typeface="Consolas"/>
              </a:rPr>
              <a:t>        ["id" =&gt; 3, "ten" =&gt; "Thước kẻ", "gia" =&gt; 3000]</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foreach ($dsSanPham as $sp) {</a:t>
            </a:r>
          </a:p>
          <a:p>
            <a:pPr>
              <a:lnSpc>
                <a:spcPct val="100000"/>
              </a:lnSpc>
              <a:spcAft>
                <a:spcPts val="0"/>
              </a:spcAft>
            </a:pPr>
            <a:r>
              <a:rPr sz="1000">
                <a:solidFill>
                  <a:srgbClr val="1A1A1A"/>
                </a:solidFill>
                <a:latin typeface="Consolas"/>
                <a:ea typeface="Consolas"/>
                <a:cs typeface="Consolas"/>
              </a:rPr>
              <a:t>        echo $sp["ten"] . " - " . number_format($sp["gia"]) . " đ &lt;br&gt;";</a:t>
            </a:r>
          </a:p>
          <a:p>
            <a:pPr>
              <a:lnSpc>
                <a:spcPct val="100000"/>
              </a:lnSpc>
              <a:spcAft>
                <a:spcPts val="0"/>
              </a:spcAft>
            </a:pPr>
            <a:r>
              <a:rPr sz="1000">
                <a:solidFill>
                  <a:srgbClr val="1A1A1A"/>
                </a:solidFill>
                <a:latin typeface="Consolas"/>
                <a:ea typeface="Consolas"/>
                <a:cs typeface="Consolas"/>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2.4. Mảng (2/7)</a:t>
            </a:r>
          </a:p>
        </p:txBody>
      </p:sp>
      <p:sp>
        <p:nvSpPr>
          <p:cNvPr id="3" name="TextBox 2"/>
          <p:cNvSpPr txBox="1"/>
          <p:nvPr/>
        </p:nvSpPr>
        <p:spPr>
          <a:xfrm>
            <a:off x="365760" y="1188720"/>
            <a:ext cx="8412480" cy="73152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400">
                <a:solidFill>
                  <a:srgbClr val="1A1A1A"/>
                </a:solidFill>
                <a:latin typeface="Consolas"/>
                <a:ea typeface="Consolas"/>
                <a:cs typeface="Consolas"/>
              </a:rPr>
              <a:t>?&gt;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2.4. Mảng (3/7)</a:t>
            </a:r>
          </a:p>
        </p:txBody>
      </p:sp>
      <p:sp>
        <p:nvSpPr>
          <p:cNvPr id="3" name="Content Placeholder 2"/>
          <p:cNvSpPr>
            <a:spLocks noGrp="1"/>
          </p:cNvSpPr>
          <p:nvPr>
            <p:ph idx="1"/>
          </p:nvPr>
        </p:nvSpPr>
        <p:spPr/>
        <p:txBody>
          <a:bodyPr wrap="square"/>
          <a:lstStyle/>
          <a:p>
            <a:pPr>
              <a:spcAft>
                <a:spcPts val="800"/>
              </a:spcAft>
            </a:pPr>
            <a:r>
              <a:rPr sz="2000" b="1"/>
              <a:t>Mảng nhiều chiều (từ 3 chiều trở lên).</a:t>
            </a:r>
            <a:r>
              <a:rPr sz="2000" b="0"/>
              <a:t> Mảng PHP lồng bao nhiêu tầng cũng được — mỗi tầng là thêm một cặp ngoặc vuông khi truy cập. Đây là cấu trúc của một danh mục cửa hàng thật: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2.4. Mảng (4/7)</a:t>
            </a:r>
          </a:p>
        </p:txBody>
      </p:sp>
      <p:sp>
        <p:nvSpPr>
          <p:cNvPr id="3" name="TextBox 2"/>
          <p:cNvSpPr txBox="1"/>
          <p:nvPr/>
        </p:nvSpPr>
        <p:spPr>
          <a:xfrm>
            <a:off x="365760" y="1188720"/>
            <a:ext cx="8412480" cy="435864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000">
                <a:solidFill>
                  <a:srgbClr val="1A1A1A"/>
                </a:solidFill>
                <a:latin typeface="Consolas"/>
                <a:ea typeface="Consolas"/>
                <a:cs typeface="Consolas"/>
              </a:rPr>
              <a:t>&lt;?php</a:t>
            </a:r>
          </a:p>
          <a:p>
            <a:pPr>
              <a:lnSpc>
                <a:spcPct val="100000"/>
              </a:lnSpc>
              <a:spcAft>
                <a:spcPts val="0"/>
              </a:spcAft>
            </a:pPr>
            <a:r>
              <a:rPr sz="1000">
                <a:solidFill>
                  <a:srgbClr val="4A804A"/>
                </a:solidFill>
                <a:latin typeface="Consolas"/>
                <a:ea typeface="Consolas"/>
                <a:cs typeface="Consolas"/>
              </a:rPr>
              <a:t>    // 3 chieu: nhom hang -&gt; danh muc -&gt; danh sach san pham</a:t>
            </a:r>
          </a:p>
          <a:p>
            <a:pPr>
              <a:lnSpc>
                <a:spcPct val="100000"/>
              </a:lnSpc>
              <a:spcAft>
                <a:spcPts val="0"/>
              </a:spcAft>
            </a:pPr>
            <a:r>
              <a:rPr sz="1000">
                <a:solidFill>
                  <a:srgbClr val="1A1A1A"/>
                </a:solidFill>
                <a:latin typeface="Consolas"/>
                <a:ea typeface="Consolas"/>
                <a:cs typeface="Consolas"/>
              </a:rPr>
              <a:t>    $cuaHang = [</a:t>
            </a:r>
          </a:p>
          <a:p>
            <a:pPr>
              <a:lnSpc>
                <a:spcPct val="100000"/>
              </a:lnSpc>
              <a:spcAft>
                <a:spcPts val="0"/>
              </a:spcAft>
            </a:pPr>
            <a:r>
              <a:rPr sz="1000">
                <a:solidFill>
                  <a:srgbClr val="1A1A1A"/>
                </a:solidFill>
                <a:latin typeface="Consolas"/>
                <a:ea typeface="Consolas"/>
                <a:cs typeface="Consolas"/>
              </a:rPr>
              <a:t>        "But viet" =&gt; [</a:t>
            </a:r>
          </a:p>
          <a:p>
            <a:pPr>
              <a:lnSpc>
                <a:spcPct val="100000"/>
              </a:lnSpc>
              <a:spcAft>
                <a:spcPts val="0"/>
              </a:spcAft>
            </a:pPr>
            <a:r>
              <a:rPr sz="1000">
                <a:solidFill>
                  <a:srgbClr val="1A1A1A"/>
                </a:solidFill>
                <a:latin typeface="Consolas"/>
                <a:ea typeface="Consolas"/>
                <a:cs typeface="Consolas"/>
              </a:rPr>
              <a:t>            "But bi"  =&gt; [</a:t>
            </a:r>
          </a:p>
          <a:p>
            <a:pPr>
              <a:lnSpc>
                <a:spcPct val="100000"/>
              </a:lnSpc>
              <a:spcAft>
                <a:spcPts val="0"/>
              </a:spcAft>
            </a:pPr>
            <a:r>
              <a:rPr sz="1000">
                <a:solidFill>
                  <a:srgbClr val="1A1A1A"/>
                </a:solidFill>
                <a:latin typeface="Consolas"/>
                <a:ea typeface="Consolas"/>
                <a:cs typeface="Consolas"/>
              </a:rPr>
              <a:t>                ["ten" =&gt; "Thiên Long TL-027", "gia" =&gt; 5000],</a:t>
            </a:r>
          </a:p>
          <a:p>
            <a:pPr>
              <a:lnSpc>
                <a:spcPct val="100000"/>
              </a:lnSpc>
              <a:spcAft>
                <a:spcPts val="0"/>
              </a:spcAft>
            </a:pPr>
            <a:r>
              <a:rPr sz="1000">
                <a:solidFill>
                  <a:srgbClr val="1A1A1A"/>
                </a:solidFill>
                <a:latin typeface="Consolas"/>
                <a:ea typeface="Consolas"/>
                <a:cs typeface="Consolas"/>
              </a:rPr>
              <a:t>                ["ten" =&gt; "Bến Nghé B-01",     "gia" =&gt; 4000]</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"But chi" =&gt; [</a:t>
            </a:r>
          </a:p>
          <a:p>
            <a:pPr>
              <a:lnSpc>
                <a:spcPct val="100000"/>
              </a:lnSpc>
              <a:spcAft>
                <a:spcPts val="0"/>
              </a:spcAft>
            </a:pPr>
            <a:r>
              <a:rPr sz="1000">
                <a:solidFill>
                  <a:srgbClr val="1A1A1A"/>
                </a:solidFill>
                <a:latin typeface="Consolas"/>
                <a:ea typeface="Consolas"/>
                <a:cs typeface="Consolas"/>
              </a:rPr>
              <a:t>                ["ten" =&gt; "Chì 2B Staedtler",  "gia" =&gt; 7000]</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"Vo giay"  =&gt; [</a:t>
            </a:r>
          </a:p>
          <a:p>
            <a:pPr>
              <a:lnSpc>
                <a:spcPct val="100000"/>
              </a:lnSpc>
              <a:spcAft>
                <a:spcPts val="0"/>
              </a:spcAft>
            </a:pPr>
            <a:r>
              <a:rPr sz="1000">
                <a:solidFill>
                  <a:srgbClr val="1A1A1A"/>
                </a:solidFill>
                <a:latin typeface="Consolas"/>
                <a:ea typeface="Consolas"/>
                <a:cs typeface="Consolas"/>
              </a:rPr>
              <a:t>            "Vo o ly" =&gt; [</a:t>
            </a:r>
          </a:p>
          <a:p>
            <a:pPr>
              <a:lnSpc>
                <a:spcPct val="100000"/>
              </a:lnSpc>
              <a:spcAft>
                <a:spcPts val="0"/>
              </a:spcAft>
            </a:pPr>
            <a:r>
              <a:rPr sz="1000">
                <a:solidFill>
                  <a:srgbClr val="1A1A1A"/>
                </a:solidFill>
                <a:latin typeface="Consolas"/>
                <a:ea typeface="Consolas"/>
                <a:cs typeface="Consolas"/>
              </a:rPr>
              <a:t>                ["ten" =&gt; "Vở Hồng Hà 96 trang", "gia" =&gt; 8000],</a:t>
            </a:r>
          </a:p>
          <a:p>
            <a:pPr>
              <a:lnSpc>
                <a:spcPct val="100000"/>
              </a:lnSpc>
              <a:spcAft>
                <a:spcPts val="0"/>
              </a:spcAft>
            </a:pPr>
            <a:r>
              <a:rPr sz="1000">
                <a:solidFill>
                  <a:srgbClr val="1A1A1A"/>
                </a:solidFill>
                <a:latin typeface="Consolas"/>
                <a:ea typeface="Consolas"/>
                <a:cs typeface="Consolas"/>
              </a:rPr>
              <a:t>                ["ten" =&gt; "Vở Campus 120 trang", "gia" =&gt; 15000]</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4A804A"/>
                </a:solidFill>
                <a:latin typeface="Consolas"/>
                <a:ea typeface="Consolas"/>
                <a:cs typeface="Consolas"/>
              </a:rPr>
              <a:t>    // Lay 1 gia tri o tang sau nhat: moi tang them 1 cap ngoac vuong</a:t>
            </a:r>
          </a:p>
          <a:p>
            <a:pPr>
              <a:lnSpc>
                <a:spcPct val="100000"/>
              </a:lnSpc>
              <a:spcAft>
                <a:spcPts val="0"/>
              </a:spcAft>
            </a:pPr>
            <a:r>
              <a:rPr sz="1000">
                <a:solidFill>
                  <a:srgbClr val="1A1A1A"/>
                </a:solidFill>
                <a:latin typeface="Consolas"/>
                <a:ea typeface="Consolas"/>
                <a:cs typeface="Consolas"/>
              </a:rPr>
              <a:t>    echo $cuaHang["But viet"]["But bi"][0]["ten"];   // Thiên Long TL-027</a:t>
            </a:r>
          </a:p>
          <a:p>
            <a:pPr>
              <a:lnSpc>
                <a:spcPct val="100000"/>
              </a:lnSpc>
              <a:spcAft>
                <a:spcPts val="0"/>
              </a:spcAft>
            </a:pPr>
            <a:r>
              <a:rPr sz="1000">
                <a:solidFill>
                  <a:srgbClr val="1A1A1A"/>
                </a:solidFill>
                <a:latin typeface="Consolas"/>
                <a:ea typeface="Consolas"/>
                <a:cs typeface="Consolas"/>
              </a:rPr>
              <a:t>    echo $cuaHang["But viet"]["But bi"][0]["gia"];   // 5000</a:t>
            </a:r>
          </a:p>
          <a:p>
            <a:pPr>
              <a:lnSpc>
                <a:spcPct val="100000"/>
              </a:lnSpc>
              <a:spcAft>
                <a:spcPts val="0"/>
              </a:spcAft>
            </a:pPr>
            <a:r>
              <a:rPr sz="1000">
                <a:solidFill>
                  <a:srgbClr val="1A1A1A"/>
                </a:solidFill>
                <a:latin typeface="Consolas"/>
                <a:ea typeface="Consolas"/>
                <a:cs typeface="Consolas"/>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2.4. Mảng (5/7)</a:t>
            </a:r>
          </a:p>
        </p:txBody>
      </p:sp>
      <p:sp>
        <p:nvSpPr>
          <p:cNvPr id="3" name="TextBox 2"/>
          <p:cNvSpPr txBox="1"/>
          <p:nvPr/>
        </p:nvSpPr>
        <p:spPr>
          <a:xfrm>
            <a:off x="365760" y="1188720"/>
            <a:ext cx="8412480" cy="3133344"/>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200">
                <a:solidFill>
                  <a:srgbClr val="4A804A"/>
                </a:solidFill>
                <a:latin typeface="Consolas"/>
                <a:ea typeface="Consolas"/>
                <a:cs typeface="Consolas"/>
              </a:rPr>
              <a:t>    // Duyet ca 3 tang bang foreach long nhau</a:t>
            </a:r>
          </a:p>
          <a:p>
            <a:pPr>
              <a:lnSpc>
                <a:spcPct val="100000"/>
              </a:lnSpc>
              <a:spcAft>
                <a:spcPts val="0"/>
              </a:spcAft>
            </a:pPr>
            <a:r>
              <a:rPr sz="1200">
                <a:solidFill>
                  <a:srgbClr val="1A1A1A"/>
                </a:solidFill>
                <a:latin typeface="Consolas"/>
                <a:ea typeface="Consolas"/>
                <a:cs typeface="Consolas"/>
              </a:rPr>
              <a:t>    foreach ($cuaHang as $tenNhom =&gt; $dsDanhMuc) {</a:t>
            </a:r>
          </a:p>
          <a:p>
            <a:pPr>
              <a:lnSpc>
                <a:spcPct val="100000"/>
              </a:lnSpc>
              <a:spcAft>
                <a:spcPts val="0"/>
              </a:spcAft>
            </a:pPr>
            <a:r>
              <a:rPr sz="1200">
                <a:solidFill>
                  <a:srgbClr val="1A1A1A"/>
                </a:solidFill>
                <a:latin typeface="Consolas"/>
                <a:ea typeface="Consolas"/>
                <a:cs typeface="Consolas"/>
              </a:rPr>
              <a:t>        echo "&lt;h3&gt;$tenNhom&lt;/h3&gt;";</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1A1A1A"/>
                </a:solidFill>
                <a:latin typeface="Consolas"/>
                <a:ea typeface="Consolas"/>
                <a:cs typeface="Consolas"/>
              </a:rPr>
              <a:t>        foreach ($dsDanhMuc as $tenDanhMuc =&gt; $dsSp) {</a:t>
            </a:r>
          </a:p>
          <a:p>
            <a:pPr>
              <a:lnSpc>
                <a:spcPct val="100000"/>
              </a:lnSpc>
              <a:spcAft>
                <a:spcPts val="0"/>
              </a:spcAft>
            </a:pPr>
            <a:r>
              <a:rPr sz="1200">
                <a:solidFill>
                  <a:srgbClr val="1A1A1A"/>
                </a:solidFill>
                <a:latin typeface="Consolas"/>
                <a:ea typeface="Consolas"/>
                <a:cs typeface="Consolas"/>
              </a:rPr>
              <a:t>            echo "&lt;b&gt;$tenDanhMuc&lt;/b&gt;&lt;br&gt;";</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1A1A1A"/>
                </a:solidFill>
                <a:latin typeface="Consolas"/>
                <a:ea typeface="Consolas"/>
                <a:cs typeface="Consolas"/>
              </a:rPr>
              <a:t>            foreach ($dsSp as $sp) {</a:t>
            </a:r>
          </a:p>
          <a:p>
            <a:pPr>
              <a:lnSpc>
                <a:spcPct val="100000"/>
              </a:lnSpc>
              <a:spcAft>
                <a:spcPts val="0"/>
              </a:spcAft>
            </a:pPr>
            <a:r>
              <a:rPr sz="1200">
                <a:solidFill>
                  <a:srgbClr val="1A1A1A"/>
                </a:solidFill>
                <a:latin typeface="Consolas"/>
                <a:ea typeface="Consolas"/>
                <a:cs typeface="Consolas"/>
              </a:rPr>
              <a:t>                echo "&amp;nbsp;&amp;nbsp;- " . $sp["ten"]</a:t>
            </a:r>
          </a:p>
          <a:p>
            <a:pPr>
              <a:lnSpc>
                <a:spcPct val="100000"/>
              </a:lnSpc>
              <a:spcAft>
                <a:spcPts val="0"/>
              </a:spcAft>
            </a:pPr>
            <a:r>
              <a:rPr sz="1200">
                <a:solidFill>
                  <a:srgbClr val="1A1A1A"/>
                </a:solidFill>
                <a:latin typeface="Consolas"/>
                <a:ea typeface="Consolas"/>
                <a:cs typeface="Consolas"/>
              </a:rPr>
              <a:t>                   . " : " . number_format($sp["gia"]) . " đ &lt;br&gt;";</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1A1A1A"/>
                </a:solidFill>
                <a:latin typeface="Consolas"/>
                <a:ea typeface="Consolas"/>
                <a:cs typeface="Consolas"/>
              </a:rPr>
              <a:t>?&gt;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2.4. Mảng (6/7)</a:t>
            </a:r>
          </a:p>
        </p:txBody>
      </p:sp>
      <p:sp>
        <p:nvSpPr>
          <p:cNvPr id="3" name="TextBox 2"/>
          <p:cNvSpPr txBox="1"/>
          <p:nvPr/>
        </p:nvSpPr>
        <p:spPr>
          <a:xfrm>
            <a:off x="457200" y="1188720"/>
            <a:ext cx="8229600" cy="411480"/>
          </a:xfrm>
          <a:prstGeom prst="rect">
            <a:avLst/>
          </a:prstGeom>
          <a:noFill/>
        </p:spPr>
        <p:txBody>
          <a:bodyPr wrap="square">
            <a:spAutoFit/>
          </a:bodyPr>
          <a:lstStyle/>
          <a:p>
            <a:r>
              <a:rPr sz="1500" b="0"/>
              <a:t>Kết quả in ra trình duyệt:</a:t>
            </a:r>
          </a:p>
        </p:txBody>
      </p:sp>
      <p:sp>
        <p:nvSpPr>
          <p:cNvPr id="4" name="TextBox 3"/>
          <p:cNvSpPr txBox="1"/>
          <p:nvPr/>
        </p:nvSpPr>
        <p:spPr>
          <a:xfrm>
            <a:off x="365760" y="1664208"/>
            <a:ext cx="8412480" cy="265684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400">
                <a:solidFill>
                  <a:srgbClr val="1A1A1A"/>
                </a:solidFill>
                <a:latin typeface="Consolas"/>
                <a:ea typeface="Consolas"/>
                <a:cs typeface="Consolas"/>
              </a:rPr>
              <a:t>But viet</a:t>
            </a:r>
          </a:p>
          <a:p>
            <a:pPr>
              <a:lnSpc>
                <a:spcPct val="100000"/>
              </a:lnSpc>
              <a:spcAft>
                <a:spcPts val="0"/>
              </a:spcAft>
            </a:pPr>
            <a:r>
              <a:rPr sz="1400">
                <a:solidFill>
                  <a:srgbClr val="1A1A1A"/>
                </a:solidFill>
                <a:latin typeface="Consolas"/>
                <a:ea typeface="Consolas"/>
                <a:cs typeface="Consolas"/>
              </a:rPr>
              <a:t>  But bi</a:t>
            </a:r>
          </a:p>
          <a:p>
            <a:pPr>
              <a:lnSpc>
                <a:spcPct val="100000"/>
              </a:lnSpc>
              <a:spcAft>
                <a:spcPts val="0"/>
              </a:spcAft>
            </a:pPr>
            <a:r>
              <a:rPr sz="1400">
                <a:solidFill>
                  <a:srgbClr val="1A1A1A"/>
                </a:solidFill>
                <a:latin typeface="Consolas"/>
                <a:ea typeface="Consolas"/>
                <a:cs typeface="Consolas"/>
              </a:rPr>
              <a:t>    - Thiên Long TL-027 : 5,000 đ</a:t>
            </a:r>
          </a:p>
          <a:p>
            <a:pPr>
              <a:lnSpc>
                <a:spcPct val="100000"/>
              </a:lnSpc>
              <a:spcAft>
                <a:spcPts val="0"/>
              </a:spcAft>
            </a:pPr>
            <a:r>
              <a:rPr sz="1400">
                <a:solidFill>
                  <a:srgbClr val="1A1A1A"/>
                </a:solidFill>
                <a:latin typeface="Consolas"/>
                <a:ea typeface="Consolas"/>
                <a:cs typeface="Consolas"/>
              </a:rPr>
              <a:t>    - Bến Nghé B-01 : 4,000 đ</a:t>
            </a:r>
          </a:p>
          <a:p>
            <a:pPr>
              <a:lnSpc>
                <a:spcPct val="100000"/>
              </a:lnSpc>
              <a:spcAft>
                <a:spcPts val="0"/>
              </a:spcAft>
            </a:pPr>
            <a:r>
              <a:rPr sz="1400">
                <a:solidFill>
                  <a:srgbClr val="1A1A1A"/>
                </a:solidFill>
                <a:latin typeface="Consolas"/>
                <a:ea typeface="Consolas"/>
                <a:cs typeface="Consolas"/>
              </a:rPr>
              <a:t>  But chi</a:t>
            </a:r>
          </a:p>
          <a:p>
            <a:pPr>
              <a:lnSpc>
                <a:spcPct val="100000"/>
              </a:lnSpc>
              <a:spcAft>
                <a:spcPts val="0"/>
              </a:spcAft>
            </a:pPr>
            <a:r>
              <a:rPr sz="1400">
                <a:solidFill>
                  <a:srgbClr val="1A1A1A"/>
                </a:solidFill>
                <a:latin typeface="Consolas"/>
                <a:ea typeface="Consolas"/>
                <a:cs typeface="Consolas"/>
              </a:rPr>
              <a:t>    - Chì 2B Staedtler : 7,000 đ</a:t>
            </a:r>
          </a:p>
          <a:p>
            <a:pPr>
              <a:lnSpc>
                <a:spcPct val="100000"/>
              </a:lnSpc>
              <a:spcAft>
                <a:spcPts val="0"/>
              </a:spcAft>
            </a:pPr>
            <a:r>
              <a:rPr sz="1400">
                <a:solidFill>
                  <a:srgbClr val="1A1A1A"/>
                </a:solidFill>
                <a:latin typeface="Consolas"/>
                <a:ea typeface="Consolas"/>
                <a:cs typeface="Consolas"/>
              </a:rPr>
              <a:t>Vo giay</a:t>
            </a:r>
          </a:p>
          <a:p>
            <a:pPr>
              <a:lnSpc>
                <a:spcPct val="100000"/>
              </a:lnSpc>
              <a:spcAft>
                <a:spcPts val="0"/>
              </a:spcAft>
            </a:pPr>
            <a:r>
              <a:rPr sz="1400">
                <a:solidFill>
                  <a:srgbClr val="1A1A1A"/>
                </a:solidFill>
                <a:latin typeface="Consolas"/>
                <a:ea typeface="Consolas"/>
                <a:cs typeface="Consolas"/>
              </a:rPr>
              <a:t>  Vo o ly</a:t>
            </a:r>
          </a:p>
          <a:p>
            <a:pPr>
              <a:lnSpc>
                <a:spcPct val="100000"/>
              </a:lnSpc>
              <a:spcAft>
                <a:spcPts val="0"/>
              </a:spcAft>
            </a:pPr>
            <a:r>
              <a:rPr sz="1400">
                <a:solidFill>
                  <a:srgbClr val="1A1A1A"/>
                </a:solidFill>
                <a:latin typeface="Consolas"/>
                <a:ea typeface="Consolas"/>
                <a:cs typeface="Consolas"/>
              </a:rPr>
              <a:t>    - Vở Hồng Hà 96 trang : 8,000 đ</a:t>
            </a:r>
          </a:p>
          <a:p>
            <a:pPr>
              <a:lnSpc>
                <a:spcPct val="100000"/>
              </a:lnSpc>
              <a:spcAft>
                <a:spcPts val="0"/>
              </a:spcAft>
            </a:pPr>
            <a:r>
              <a:rPr sz="1400">
                <a:solidFill>
                  <a:srgbClr val="1A1A1A"/>
                </a:solidFill>
                <a:latin typeface="Consolas"/>
                <a:ea typeface="Consolas"/>
                <a:cs typeface="Consolas"/>
              </a:rPr>
              <a:t>    - Vở Campus 120 trang : 15,000 đ</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2.4. Mảng (7/7)</a:t>
            </a:r>
          </a:p>
        </p:txBody>
      </p:sp>
      <p:sp>
        <p:nvSpPr>
          <p:cNvPr id="3" name="Content Placeholder 2"/>
          <p:cNvSpPr>
            <a:spLocks noGrp="1"/>
          </p:cNvSpPr>
          <p:nvPr>
            <p:ph idx="1"/>
          </p:nvPr>
        </p:nvSpPr>
        <p:spPr/>
        <p:txBody>
          <a:bodyPr wrap="square"/>
          <a:lstStyle/>
          <a:p>
            <a:pPr>
              <a:spcBef>
                <a:spcPts val="800"/>
              </a:spcBef>
              <a:spcAft>
                <a:spcPts val="600"/>
              </a:spcAft>
            </a:pPr>
            <a:r>
              <a:rPr sz="1700" b="0" i="1">
                <a:solidFill>
                  <a:srgbClr val="666666"/>
                </a:solidFill>
                <a:latin typeface="Consolas"/>
                <a:ea typeface="Consolas"/>
                <a:cs typeface="Consolas"/>
              </a:rPr>
              <a:t>number_format()</a:t>
            </a:r>
            <a:r>
              <a:rPr sz="1700" b="0" i="1">
                <a:solidFill>
                  <a:srgbClr val="666666"/>
                </a:solidFill>
              </a:rPr>
              <a:t> mặc định ngăn nghìn bằng dấu </a:t>
            </a:r>
            <a:r>
              <a:rPr sz="1700" b="1" i="1">
                <a:solidFill>
                  <a:srgbClr val="666666"/>
                </a:solidFill>
              </a:rPr>
              <a:t>phẩy</a:t>
            </a:r>
            <a:r>
              <a:rPr sz="1700" b="0" i="1">
                <a:solidFill>
                  <a:srgbClr val="666666"/>
                </a:solidFill>
              </a:rPr>
              <a:t> kiểu Anh. Buổi 2 sẽ viết hàm </a:t>
            </a:r>
            <a:r>
              <a:rPr sz="1700" b="0" i="1">
                <a:solidFill>
                  <a:srgbClr val="666666"/>
                </a:solidFill>
                <a:latin typeface="Consolas"/>
                <a:ea typeface="Consolas"/>
                <a:cs typeface="Consolas"/>
              </a:rPr>
              <a:t>dinhDangTien()</a:t>
            </a:r>
            <a:r>
              <a:rPr sz="1700" b="0" i="1">
                <a:solidFill>
                  <a:srgbClr val="666666"/>
                </a:solidFill>
              </a:rPr>
              <a:t> để đổi sang dấu chấm kiểu Việt Nam và dùng chung cho cả khóa.</a:t>
            </a:r>
          </a:p>
          <a:p>
            <a:pPr>
              <a:spcBef>
                <a:spcPts val="800"/>
              </a:spcBef>
              <a:spcAft>
                <a:spcPts val="600"/>
              </a:spcAft>
            </a:pPr>
            <a:r>
              <a:rPr sz="1700" b="1" i="1">
                <a:solidFill>
                  <a:srgbClr val="666666"/>
                </a:solidFill>
              </a:rPr>
              <a:t>Mẹo đọc mảng nhiều chiều:</a:t>
            </a:r>
            <a:r>
              <a:rPr sz="1700" b="0" i="1">
                <a:solidFill>
                  <a:srgbClr val="666666"/>
                </a:solidFill>
              </a:rPr>
              <a:t> đếm số cặp ngoặc vuông liên tiếp khi truy cập — bằng đúng số tầng. Khi bị rối, dùng </a:t>
            </a:r>
            <a:r>
              <a:rPr sz="1700" b="0" i="1">
                <a:solidFill>
                  <a:srgbClr val="666666"/>
                </a:solidFill>
                <a:latin typeface="Consolas"/>
                <a:ea typeface="Consolas"/>
                <a:cs typeface="Consolas"/>
              </a:rPr>
              <a:t>print_r($cuaHang);</a:t>
            </a:r>
            <a:r>
              <a:rPr sz="1700" b="0" i="1">
                <a:solidFill>
                  <a:srgbClr val="666666"/>
                </a:solidFill>
              </a:rPr>
              <a:t> (bọc trong </a:t>
            </a:r>
            <a:r>
              <a:rPr sz="1700" b="0" i="1">
                <a:solidFill>
                  <a:srgbClr val="666666"/>
                </a:solidFill>
                <a:latin typeface="Consolas"/>
                <a:ea typeface="Consolas"/>
                <a:cs typeface="Consolas"/>
              </a:rPr>
              <a:t>&lt;pre&gt;...&lt;/pre&gt;</a:t>
            </a:r>
            <a:r>
              <a:rPr sz="1700" b="0" i="1">
                <a:solidFill>
                  <a:srgbClr val="666666"/>
                </a:solidFill>
              </a:rPr>
              <a:t>) để in ra toàn bộ cấu trúc rồi lần theo. Từ buổi 8, JSON mà API trả về chính là mảng nhiều chiều kiểu này.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2.5. Nhúng PHP vào HTML (1/8)</a:t>
            </a:r>
          </a:p>
        </p:txBody>
      </p:sp>
      <p:sp>
        <p:nvSpPr>
          <p:cNvPr id="3" name="Content Placeholder 2"/>
          <p:cNvSpPr>
            <a:spLocks noGrp="1"/>
          </p:cNvSpPr>
          <p:nvPr>
            <p:ph idx="1"/>
          </p:nvPr>
        </p:nvSpPr>
        <p:spPr/>
        <p:txBody>
          <a:bodyPr wrap="square"/>
          <a:lstStyle/>
          <a:p>
            <a:pPr>
              <a:spcAft>
                <a:spcPts val="800"/>
              </a:spcAft>
            </a:pPr>
            <a:r>
              <a:rPr sz="2000" b="0"/>
              <a:t>Đây là kỹ thuật dùng liên tục ở buổi 4 và 5. Khai báo </a:t>
            </a:r>
            <a:r>
              <a:rPr sz="2000" b="0">
                <a:latin typeface="Consolas"/>
                <a:ea typeface="Consolas"/>
                <a:cs typeface="Consolas"/>
              </a:rPr>
              <a:t>$dsSanPham</a:t>
            </a:r>
            <a:r>
              <a:rPr sz="2000" b="0"/>
              <a:t> ở đầu file (trước </a:t>
            </a:r>
            <a:r>
              <a:rPr sz="2000" b="0">
                <a:latin typeface="Consolas"/>
                <a:ea typeface="Consolas"/>
                <a:cs typeface="Consolas"/>
              </a:rPr>
              <a:t>&lt;!DOCTYPE html&gt;</a:t>
            </a:r>
            <a:r>
              <a:rPr sz="2000" b="0"/>
              <a:t>), rồi dùng lại nó ngay trong HTML ở phía dưới:</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2.5. Nhúng PHP vào HTML (4/8)</a:t>
            </a:r>
          </a:p>
        </p:txBody>
      </p:sp>
      <p:sp>
        <p:nvSpPr>
          <p:cNvPr id="3" name="TextBox 2"/>
          <p:cNvSpPr txBox="1"/>
          <p:nvPr/>
        </p:nvSpPr>
        <p:spPr>
          <a:xfrm>
            <a:off x="457200" y="1188720"/>
            <a:ext cx="8229600" cy="640080"/>
          </a:xfrm>
          <a:prstGeom prst="rect">
            <a:avLst/>
          </a:prstGeom>
          <a:noFill/>
        </p:spPr>
        <p:txBody>
          <a:bodyPr wrap="square">
            <a:spAutoFit/>
          </a:bodyPr>
          <a:lstStyle/>
          <a:p>
            <a:r>
              <a:rPr sz="1500" b="1"/>
              <a:t>Nếu bỏ hết HTML thì sao?</a:t>
            </a:r>
            <a:r>
              <a:rPr sz="1500" b="0"/>
              <a:t> Lấy đúng </a:t>
            </a:r>
            <a:r>
              <a:rPr sz="1500" b="0">
                <a:latin typeface="Consolas"/>
                <a:ea typeface="Consolas"/>
                <a:cs typeface="Consolas"/>
              </a:rPr>
              <a:t>$dsSanPham</a:t>
            </a:r>
            <a:r>
              <a:rPr sz="1500" b="0"/>
              <a:t> ở trên, chỉ </a:t>
            </a:r>
            <a:r>
              <a:rPr sz="1500" b="0">
                <a:latin typeface="Consolas"/>
                <a:ea typeface="Consolas"/>
                <a:cs typeface="Consolas"/>
              </a:rPr>
              <a:t>echo</a:t>
            </a:r>
            <a:r>
              <a:rPr sz="1500" b="0"/>
              <a:t> và xuống dòng bằng </a:t>
            </a:r>
            <a:r>
              <a:rPr sz="1500" b="0">
                <a:latin typeface="Consolas"/>
                <a:ea typeface="Consolas"/>
                <a:cs typeface="Consolas"/>
              </a:rPr>
              <a:t>\n</a:t>
            </a:r>
            <a:r>
              <a:rPr sz="1500" b="0"/>
              <a:t> (không có </a:t>
            </a:r>
            <a:r>
              <a:rPr sz="1500" b="0">
                <a:latin typeface="Consolas"/>
                <a:ea typeface="Consolas"/>
                <a:cs typeface="Consolas"/>
              </a:rPr>
              <a:t>&lt;br&gt;</a:t>
            </a:r>
            <a:r>
              <a:rPr sz="1500" b="0"/>
              <a:t>, không có </a:t>
            </a:r>
            <a:r>
              <a:rPr sz="1500" b="0">
                <a:latin typeface="Consolas"/>
                <a:ea typeface="Consolas"/>
                <a:cs typeface="Consolas"/>
              </a:rPr>
              <a:t>&lt;table&gt;</a:t>
            </a:r>
            <a:r>
              <a:rPr sz="1500" b="0"/>
              <a:t>):</a:t>
            </a:r>
          </a:p>
        </p:txBody>
      </p:sp>
      <p:sp>
        <p:nvSpPr>
          <p:cNvPr id="4" name="TextBox 3"/>
          <p:cNvSpPr txBox="1"/>
          <p:nvPr/>
        </p:nvSpPr>
        <p:spPr>
          <a:xfrm>
            <a:off x="365760" y="1892808"/>
            <a:ext cx="8412480" cy="129540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200">
                <a:solidFill>
                  <a:srgbClr val="1A1A1A"/>
                </a:solidFill>
                <a:latin typeface="Consolas"/>
                <a:ea typeface="Consolas"/>
                <a:cs typeface="Consolas"/>
              </a:rPr>
              <a:t>&lt;?php</a:t>
            </a:r>
          </a:p>
          <a:p>
            <a:pPr>
              <a:lnSpc>
                <a:spcPct val="100000"/>
              </a:lnSpc>
              <a:spcAft>
                <a:spcPts val="0"/>
              </a:spcAft>
            </a:pPr>
            <a:r>
              <a:rPr sz="1200">
                <a:solidFill>
                  <a:srgbClr val="1A1A1A"/>
                </a:solidFill>
                <a:latin typeface="Consolas"/>
                <a:ea typeface="Consolas"/>
                <a:cs typeface="Consolas"/>
              </a:rPr>
              <a:t>    foreach ($dsSanPham as $sp) {</a:t>
            </a:r>
          </a:p>
          <a:p>
            <a:pPr>
              <a:lnSpc>
                <a:spcPct val="100000"/>
              </a:lnSpc>
              <a:spcAft>
                <a:spcPts val="0"/>
              </a:spcAft>
            </a:pPr>
            <a:r>
              <a:rPr sz="1200">
                <a:solidFill>
                  <a:srgbClr val="1A1A1A"/>
                </a:solidFill>
                <a:latin typeface="Consolas"/>
                <a:ea typeface="Consolas"/>
                <a:cs typeface="Consolas"/>
              </a:rPr>
              <a:t>        echo $sp["ten"] . " - " . number_format($sp["gia"]) . " d\n";</a:t>
            </a:r>
          </a:p>
          <a:p>
            <a:pPr>
              <a:lnSpc>
                <a:spcPct val="100000"/>
              </a:lnSpc>
              <a:spcAft>
                <a:spcPts val="0"/>
              </a:spcAft>
            </a:pPr>
            <a:r>
              <a:rPr sz="1200">
                <a:solidFill>
                  <a:srgbClr val="1A1A1A"/>
                </a:solidFill>
                <a:latin typeface="Consolas"/>
                <a:ea typeface="Consolas"/>
                <a:cs typeface="Consolas"/>
              </a:rPr>
              <a:t>    }</a:t>
            </a:r>
          </a:p>
          <a:p>
            <a:pPr>
              <a:lnSpc>
                <a:spcPct val="100000"/>
              </a:lnSpc>
              <a:spcAft>
                <a:spcPts val="0"/>
              </a:spcAft>
            </a:pPr>
            <a:r>
              <a:rPr sz="1200">
                <a:solidFill>
                  <a:srgbClr val="1A1A1A"/>
                </a:solidFill>
                <a:latin typeface="Consolas"/>
                <a:ea typeface="Consolas"/>
                <a:cs typeface="Consolas"/>
              </a:rPr>
              <a:t>?&gt;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2.5. Nhúng PHP vào HTML (5/8)</a:t>
            </a:r>
          </a:p>
        </p:txBody>
      </p:sp>
      <p:sp>
        <p:nvSpPr>
          <p:cNvPr id="3" name="TextBox 2"/>
          <p:cNvSpPr txBox="1"/>
          <p:nvPr/>
        </p:nvSpPr>
        <p:spPr>
          <a:xfrm>
            <a:off x="457200" y="1280160"/>
            <a:ext cx="8229600" cy="411480"/>
          </a:xfrm>
          <a:prstGeom prst="rect">
            <a:avLst/>
          </a:prstGeom>
          <a:noFill/>
        </p:spPr>
        <p:txBody>
          <a:bodyPr wrap="square">
            <a:spAutoFit/>
          </a:bodyPr>
          <a:lstStyle/>
          <a:p>
            <a:r>
              <a:rPr sz="1500" b="0"/>
              <a:t>Kết quả trên trình duyệt:</a:t>
            </a:r>
          </a:p>
        </p:txBody>
      </p:sp>
      <p:pic>
        <p:nvPicPr>
          <p:cNvPr id="4" name="Picture 3" descr="buoi01-khong-co-html.png"/>
          <p:cNvPicPr>
            <a:picLocks noChangeAspect="1"/>
          </p:cNvPicPr>
          <p:nvPr/>
        </p:nvPicPr>
        <p:blipFill>
          <a:blip r:embed="rId2"/>
          <a:stretch>
            <a:fillRect/>
          </a:stretch>
        </p:blipFill>
        <p:spPr>
          <a:xfrm>
            <a:off x="457200" y="1755648"/>
            <a:ext cx="8229600" cy="897774"/>
          </a:xfrm>
          <a:prstGeom prst="rect">
            <a:avLst/>
          </a:prstGeom>
        </p:spPr>
      </p:pic>
      <p:sp>
        <p:nvSpPr>
          <p:cNvPr id="5" name="TextBox 4"/>
          <p:cNvSpPr txBox="1"/>
          <p:nvPr/>
        </p:nvSpPr>
        <p:spPr>
          <a:xfrm>
            <a:off x="457200" y="2708286"/>
            <a:ext cx="8229600" cy="310896"/>
          </a:xfrm>
          <a:prstGeom prst="rect">
            <a:avLst/>
          </a:prstGeom>
          <a:noFill/>
        </p:spPr>
        <p:txBody>
          <a:bodyPr wrap="square">
            <a:spAutoFit/>
          </a:bodyPr>
          <a:lstStyle/>
          <a:p>
            <a:pPr algn="ctr"/>
            <a:r>
              <a:rPr sz="1300" i="1">
                <a:solidFill>
                  <a:srgbClr val="666666"/>
                </a:solidFill>
              </a:rPr>
              <a:t>Kết quả khi không dùng thẻ HTML nào</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2.5. Nhúng PHP vào HTML (6/8)</a:t>
            </a:r>
          </a:p>
        </p:txBody>
      </p:sp>
      <p:sp>
        <p:nvSpPr>
          <p:cNvPr id="3" name="Content Placeholder 2"/>
          <p:cNvSpPr>
            <a:spLocks noGrp="1"/>
          </p:cNvSpPr>
          <p:nvPr>
            <p:ph idx="1"/>
          </p:nvPr>
        </p:nvSpPr>
        <p:spPr/>
        <p:txBody>
          <a:bodyPr wrap="square"/>
          <a:lstStyle/>
          <a:p>
            <a:pPr>
              <a:spcBef>
                <a:spcPts val="800"/>
              </a:spcBef>
              <a:spcAft>
                <a:spcPts val="600"/>
              </a:spcAft>
            </a:pPr>
            <a:r>
              <a:rPr sz="1900" b="0" i="1">
                <a:solidFill>
                  <a:srgbClr val="666666"/>
                </a:solidFill>
              </a:rPr>
              <a:t>Trình duyệt chỉ xuống dòng/kẻ bảng khi gặp thẻ HTML (</a:t>
            </a:r>
            <a:r>
              <a:rPr sz="1900" b="0" i="1">
                <a:solidFill>
                  <a:srgbClr val="666666"/>
                </a:solidFill>
                <a:latin typeface="Consolas"/>
                <a:ea typeface="Consolas"/>
                <a:cs typeface="Consolas"/>
              </a:rPr>
              <a:t>&lt;br&gt;</a:t>
            </a:r>
            <a:r>
              <a:rPr sz="1900" b="0" i="1">
                <a:solidFill>
                  <a:srgbClr val="666666"/>
                </a:solidFill>
              </a:rPr>
              <a:t>, </a:t>
            </a:r>
            <a:r>
              <a:rPr sz="1900" b="0" i="1">
                <a:solidFill>
                  <a:srgbClr val="666666"/>
                </a:solidFill>
                <a:latin typeface="Consolas"/>
                <a:ea typeface="Consolas"/>
                <a:cs typeface="Consolas"/>
              </a:rPr>
              <a:t>&lt;table&gt;</a:t>
            </a:r>
            <a:r>
              <a:rPr sz="1900" b="0" i="1">
                <a:solidFill>
                  <a:srgbClr val="666666"/>
                </a:solidFill>
              </a:rPr>
              <a:t>...) — ký tự </a:t>
            </a:r>
            <a:r>
              <a:rPr sz="1900" b="0" i="1">
                <a:solidFill>
                  <a:srgbClr val="666666"/>
                </a:solidFill>
                <a:latin typeface="Consolas"/>
                <a:ea typeface="Consolas"/>
                <a:cs typeface="Consolas"/>
              </a:rPr>
              <a:t>\n</a:t>
            </a:r>
            <a:r>
              <a:rPr sz="1900" b="0" i="1">
                <a:solidFill>
                  <a:srgbClr val="666666"/>
                </a:solidFill>
              </a:rPr>
              <a:t> trong mã nguồn PHP bị </a:t>
            </a:r>
            <a:r>
              <a:rPr sz="1900" b="1" i="1">
                <a:solidFill>
                  <a:srgbClr val="666666"/>
                </a:solidFill>
              </a:rPr>
              <a:t>bỏ qua hoàn toàn</a:t>
            </a:r>
            <a:r>
              <a:rPr sz="1900" b="0" i="1">
                <a:solidFill>
                  <a:srgbClr val="666666"/>
                </a:solidFill>
              </a:rPr>
              <a:t> khi hiển thị, nên cả 3 dòng dính lại thành một.</a:t>
            </a:r>
          </a:p>
          <a:p>
            <a:pPr>
              <a:spcAft>
                <a:spcPts val="800"/>
              </a:spcAft>
            </a:pPr>
            <a:r>
              <a:rPr sz="2000" b="0"/>
              <a:t>Còn nhúng đúng cách như ví dụ đầy đủ ở trên thì trình duyệt hiển thị gọn gàng: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2.5. Nhúng PHP vào HTML (2/8)</a:t>
            </a:r>
          </a:p>
        </p:txBody>
      </p:sp>
      <p:sp>
        <p:nvSpPr>
          <p:cNvPr id="3" name="TextBox 2"/>
          <p:cNvSpPr txBox="1"/>
          <p:nvPr/>
        </p:nvSpPr>
        <p:spPr>
          <a:xfrm>
            <a:off x="365760" y="1188720"/>
            <a:ext cx="7101840" cy="4647426"/>
          </a:xfrm>
          <a:prstGeom prst="rect">
            <a:avLst/>
          </a:prstGeom>
          <a:solidFill>
            <a:srgbClr val="F5F5F0"/>
          </a:solidFill>
          <a:ln w="9525">
            <a:solidFill>
              <a:srgbClr val="C0C0B8"/>
            </a:solidFill>
          </a:ln>
        </p:spPr>
        <p:txBody>
          <a:bodyPr wrap="square" lIns="137160" tIns="91440" bIns="91440">
            <a:spAutoFit/>
          </a:bodyPr>
          <a:lstStyle/>
          <a:p>
            <a:pPr>
              <a:lnSpc>
                <a:spcPct val="100000"/>
              </a:lnSpc>
              <a:spcAft>
                <a:spcPts val="0"/>
              </a:spcAft>
            </a:pPr>
            <a:r>
              <a:rPr sz="1000">
                <a:solidFill>
                  <a:srgbClr val="1A1A1A"/>
                </a:solidFill>
                <a:latin typeface="Consolas"/>
                <a:ea typeface="Consolas"/>
                <a:cs typeface="Consolas"/>
              </a:rPr>
              <a:t>&lt;?php</a:t>
            </a:r>
          </a:p>
          <a:p>
            <a:pPr>
              <a:lnSpc>
                <a:spcPct val="100000"/>
              </a:lnSpc>
              <a:spcAft>
                <a:spcPts val="0"/>
              </a:spcAft>
            </a:pPr>
            <a:r>
              <a:rPr sz="1000">
                <a:solidFill>
                  <a:srgbClr val="1A1A1A"/>
                </a:solidFill>
                <a:latin typeface="Consolas"/>
                <a:ea typeface="Consolas"/>
                <a:cs typeface="Consolas"/>
              </a:rPr>
              <a:t>    $dsSanPham = [</a:t>
            </a:r>
          </a:p>
          <a:p>
            <a:pPr>
              <a:lnSpc>
                <a:spcPct val="100000"/>
              </a:lnSpc>
              <a:spcAft>
                <a:spcPts val="0"/>
              </a:spcAft>
            </a:pPr>
            <a:r>
              <a:rPr sz="1000">
                <a:solidFill>
                  <a:srgbClr val="1A1A1A"/>
                </a:solidFill>
                <a:latin typeface="Consolas"/>
                <a:ea typeface="Consolas"/>
                <a:cs typeface="Consolas"/>
              </a:rPr>
              <a:t>        ["id" =&gt; 1, "ten" =&gt; "Bút bi",   "gia" =&gt; 5000],</a:t>
            </a:r>
          </a:p>
          <a:p>
            <a:pPr>
              <a:lnSpc>
                <a:spcPct val="100000"/>
              </a:lnSpc>
              <a:spcAft>
                <a:spcPts val="0"/>
              </a:spcAft>
            </a:pPr>
            <a:r>
              <a:rPr sz="1000">
                <a:solidFill>
                  <a:srgbClr val="1A1A1A"/>
                </a:solidFill>
                <a:latin typeface="Consolas"/>
                <a:ea typeface="Consolas"/>
                <a:cs typeface="Consolas"/>
              </a:rPr>
              <a:t>        ["id" =&gt; 2, "ten" =&gt; "Vở ô ly",  "gia" =&gt; 8000],</a:t>
            </a:r>
          </a:p>
          <a:p>
            <a:pPr>
              <a:lnSpc>
                <a:spcPct val="100000"/>
              </a:lnSpc>
              <a:spcAft>
                <a:spcPts val="0"/>
              </a:spcAft>
            </a:pPr>
            <a:r>
              <a:rPr sz="1000">
                <a:solidFill>
                  <a:srgbClr val="1A1A1A"/>
                </a:solidFill>
                <a:latin typeface="Consolas"/>
                <a:ea typeface="Consolas"/>
                <a:cs typeface="Consolas"/>
              </a:rPr>
              <a:t>        ["id" =&gt; 3, "ten" =&gt; "Thước kẻ", "gia" =&gt; 3000]</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?&gt;</a:t>
            </a:r>
          </a:p>
          <a:p>
            <a:pPr>
              <a:lnSpc>
                <a:spcPct val="100000"/>
              </a:lnSpc>
              <a:spcAft>
                <a:spcPts val="0"/>
              </a:spcAft>
            </a:pPr>
            <a:r>
              <a:rPr sz="1000">
                <a:solidFill>
                  <a:srgbClr val="1A1A1A"/>
                </a:solidFill>
                <a:latin typeface="Consolas"/>
                <a:ea typeface="Consolas"/>
                <a:cs typeface="Consolas"/>
              </a:rPr>
              <a:t>&lt;!DOCTYPE html&gt;</a:t>
            </a:r>
          </a:p>
          <a:p>
            <a:pPr>
              <a:lnSpc>
                <a:spcPct val="100000"/>
              </a:lnSpc>
              <a:spcAft>
                <a:spcPts val="0"/>
              </a:spcAft>
            </a:pPr>
            <a:r>
              <a:rPr sz="1000">
                <a:solidFill>
                  <a:srgbClr val="1A1A1A"/>
                </a:solidFill>
                <a:latin typeface="Consolas"/>
                <a:ea typeface="Consolas"/>
                <a:cs typeface="Consolas"/>
              </a:rPr>
              <a:t>&lt;html lang="vi"&gt;</a:t>
            </a:r>
          </a:p>
          <a:p>
            <a:pPr>
              <a:lnSpc>
                <a:spcPct val="100000"/>
              </a:lnSpc>
              <a:spcAft>
                <a:spcPts val="0"/>
              </a:spcAft>
            </a:pPr>
            <a:r>
              <a:rPr sz="1000">
                <a:solidFill>
                  <a:srgbClr val="1A1A1A"/>
                </a:solidFill>
                <a:latin typeface="Consolas"/>
                <a:ea typeface="Consolas"/>
                <a:cs typeface="Consolas"/>
              </a:rPr>
              <a:t>&lt;head&gt;</a:t>
            </a:r>
          </a:p>
          <a:p>
            <a:pPr>
              <a:lnSpc>
                <a:spcPct val="100000"/>
              </a:lnSpc>
              <a:spcAft>
                <a:spcPts val="0"/>
              </a:spcAft>
            </a:pPr>
            <a:r>
              <a:rPr sz="1000">
                <a:solidFill>
                  <a:srgbClr val="1A1A1A"/>
                </a:solidFill>
                <a:latin typeface="Consolas"/>
                <a:ea typeface="Consolas"/>
                <a:cs typeface="Consolas"/>
              </a:rPr>
              <a:t>    &lt;meta charset="utf-8"&gt;</a:t>
            </a:r>
          </a:p>
          <a:p>
            <a:pPr>
              <a:lnSpc>
                <a:spcPct val="100000"/>
              </a:lnSpc>
              <a:spcAft>
                <a:spcPts val="0"/>
              </a:spcAft>
            </a:pPr>
            <a:r>
              <a:rPr sz="1000">
                <a:solidFill>
                  <a:srgbClr val="1A1A1A"/>
                </a:solidFill>
                <a:latin typeface="Consolas"/>
                <a:ea typeface="Consolas"/>
                <a:cs typeface="Consolas"/>
              </a:rPr>
              <a:t>    &lt;title&gt;Danh sách sản phẩm&lt;/title&gt;</a:t>
            </a:r>
          </a:p>
          <a:p>
            <a:pPr>
              <a:lnSpc>
                <a:spcPct val="100000"/>
              </a:lnSpc>
              <a:spcAft>
                <a:spcPts val="0"/>
              </a:spcAft>
            </a:pPr>
            <a:r>
              <a:rPr sz="1000">
                <a:solidFill>
                  <a:srgbClr val="1A1A1A"/>
                </a:solidFill>
                <a:latin typeface="Consolas"/>
                <a:ea typeface="Consolas"/>
                <a:cs typeface="Consolas"/>
              </a:rPr>
              <a:t>&lt;/head&gt;</a:t>
            </a:r>
          </a:p>
          <a:p>
            <a:pPr>
              <a:lnSpc>
                <a:spcPct val="100000"/>
              </a:lnSpc>
              <a:spcAft>
                <a:spcPts val="0"/>
              </a:spcAft>
            </a:pPr>
            <a:r>
              <a:rPr sz="1000">
                <a:solidFill>
                  <a:srgbClr val="1A1A1A"/>
                </a:solidFill>
                <a:latin typeface="Consolas"/>
                <a:ea typeface="Consolas"/>
                <a:cs typeface="Consolas"/>
              </a:rPr>
              <a:t>&lt;body&gt;</a:t>
            </a:r>
          </a:p>
          <a:p>
            <a:pPr>
              <a:lnSpc>
                <a:spcPct val="100000"/>
              </a:lnSpc>
              <a:spcAft>
                <a:spcPts val="0"/>
              </a:spcAft>
            </a:pPr>
            <a:r>
              <a:rPr sz="1000">
                <a:solidFill>
                  <a:srgbClr val="1A1A1A"/>
                </a:solidFill>
                <a:latin typeface="Consolas"/>
                <a:ea typeface="Consolas"/>
                <a:cs typeface="Consolas"/>
              </a:rPr>
              <a:t>    &lt;h2&gt;Danh sách sản phẩm&lt;/h2&gt;</a:t>
            </a:r>
          </a:p>
          <a:p>
            <a:pPr>
              <a:lnSpc>
                <a:spcPct val="100000"/>
              </a:lnSpc>
              <a:spcAft>
                <a:spcPts val="0"/>
              </a:spcAft>
            </a:pPr>
            <a:r>
              <a:rPr sz="1000">
                <a:solidFill>
                  <a:srgbClr val="1A1A1A"/>
                </a:solidFill>
                <a:latin typeface="Consolas"/>
                <a:ea typeface="Consolas"/>
                <a:cs typeface="Consolas"/>
              </a:rPr>
              <a:t>    &lt;table border="1" cellpadding="8"&gt;</a:t>
            </a:r>
          </a:p>
          <a:p>
            <a:pPr>
              <a:lnSpc>
                <a:spcPct val="100000"/>
              </a:lnSpc>
              <a:spcAft>
                <a:spcPts val="0"/>
              </a:spcAft>
            </a:pPr>
            <a:r>
              <a:rPr sz="1000">
                <a:solidFill>
                  <a:srgbClr val="1A1A1A"/>
                </a:solidFill>
                <a:latin typeface="Consolas"/>
                <a:ea typeface="Consolas"/>
                <a:cs typeface="Consolas"/>
              </a:rPr>
              <a:t>        &lt;tr&gt;&lt;th&gt;ID&lt;/th&gt;&lt;th&gt;Tên&lt;/th&gt;&lt;th&gt;Giá&lt;/th&gt;&lt;/tr&gt;</a:t>
            </a:r>
          </a:p>
          <a:p>
            <a:pPr>
              <a:lnSpc>
                <a:spcPct val="100000"/>
              </a:lnSpc>
              <a:spcAft>
                <a:spcPts val="0"/>
              </a:spcAft>
            </a:pPr>
            <a:r>
              <a:rPr sz="1000">
                <a:solidFill>
                  <a:srgbClr val="1A1A1A"/>
                </a:solidFill>
                <a:latin typeface="Consolas"/>
                <a:ea typeface="Consolas"/>
                <a:cs typeface="Consolas"/>
              </a:rPr>
              <a:t> </a:t>
            </a:r>
          </a:p>
          <a:p>
            <a:pPr>
              <a:lnSpc>
                <a:spcPct val="100000"/>
              </a:lnSpc>
              <a:spcAft>
                <a:spcPts val="0"/>
              </a:spcAft>
            </a:pPr>
            <a:r>
              <a:rPr sz="1000">
                <a:solidFill>
                  <a:srgbClr val="1A1A1A"/>
                </a:solidFill>
                <a:latin typeface="Consolas"/>
                <a:ea typeface="Consolas"/>
                <a:cs typeface="Consolas"/>
              </a:rPr>
              <a:t>        &lt;?php foreach ($dsSanPham as $sp): ?&gt;</a:t>
            </a:r>
          </a:p>
          <a:p>
            <a:pPr>
              <a:lnSpc>
                <a:spcPct val="100000"/>
              </a:lnSpc>
              <a:spcAft>
                <a:spcPts val="0"/>
              </a:spcAft>
            </a:pPr>
            <a:r>
              <a:rPr sz="1000">
                <a:solidFill>
                  <a:srgbClr val="1A1A1A"/>
                </a:solidFill>
                <a:latin typeface="Consolas"/>
                <a:ea typeface="Consolas"/>
                <a:cs typeface="Consolas"/>
              </a:rPr>
              <a:t>            &lt;tr&gt;</a:t>
            </a:r>
          </a:p>
          <a:p>
            <a:pPr>
              <a:lnSpc>
                <a:spcPct val="100000"/>
              </a:lnSpc>
              <a:spcAft>
                <a:spcPts val="0"/>
              </a:spcAft>
            </a:pPr>
            <a:r>
              <a:rPr sz="1000">
                <a:solidFill>
                  <a:srgbClr val="1A1A1A"/>
                </a:solidFill>
                <a:latin typeface="Consolas"/>
                <a:ea typeface="Consolas"/>
                <a:cs typeface="Consolas"/>
              </a:rPr>
              <a:t>                &lt;td&gt;&lt;?= $sp["id"] ?&gt;&lt;/td&gt;</a:t>
            </a:r>
          </a:p>
          <a:p>
            <a:pPr>
              <a:lnSpc>
                <a:spcPct val="100000"/>
              </a:lnSpc>
              <a:spcAft>
                <a:spcPts val="0"/>
              </a:spcAft>
            </a:pPr>
            <a:r>
              <a:rPr sz="1000">
                <a:solidFill>
                  <a:srgbClr val="1A1A1A"/>
                </a:solidFill>
                <a:latin typeface="Consolas"/>
                <a:ea typeface="Consolas"/>
                <a:cs typeface="Consolas"/>
              </a:rPr>
              <a:t>                &lt;td&gt;&lt;?= $sp["ten"] ?&gt;&lt;/td&gt;</a:t>
            </a:r>
          </a:p>
          <a:p>
            <a:pPr>
              <a:lnSpc>
                <a:spcPct val="100000"/>
              </a:lnSpc>
              <a:spcAft>
                <a:spcPts val="0"/>
              </a:spcAft>
            </a:pPr>
            <a:r>
              <a:rPr sz="1000">
                <a:solidFill>
                  <a:srgbClr val="1A1A1A"/>
                </a:solidFill>
                <a:latin typeface="Consolas"/>
                <a:ea typeface="Consolas"/>
                <a:cs typeface="Consolas"/>
              </a:rPr>
              <a:t>                &lt;td&gt;&lt;?= number_format($sp["gia"]) ?&gt; đ&lt;/td&gt;</a:t>
            </a:r>
          </a:p>
          <a:p>
            <a:pPr>
              <a:lnSpc>
                <a:spcPct val="100000"/>
              </a:lnSpc>
              <a:spcAft>
                <a:spcPts val="0"/>
              </a:spcAft>
            </a:pPr>
            <a:r>
              <a:rPr sz="1000">
                <a:solidFill>
                  <a:srgbClr val="1A1A1A"/>
                </a:solidFill>
                <a:latin typeface="Consolas"/>
                <a:ea typeface="Consolas"/>
                <a:cs typeface="Consolas"/>
              </a:rPr>
              <a:t>            &lt;/tr&gt;</a:t>
            </a:r>
            <a:endParaRPr lang="en-US" sz="1000">
              <a:solidFill>
                <a:srgbClr val="1A1A1A"/>
              </a:solidFill>
              <a:latin typeface="Consolas"/>
              <a:ea typeface="Consolas"/>
              <a:cs typeface="Consolas"/>
            </a:endParaRPr>
          </a:p>
          <a:p>
            <a:pPr>
              <a:lnSpc>
                <a:spcPct val="100000"/>
              </a:lnSpc>
              <a:spcAft>
                <a:spcPts val="0"/>
              </a:spcAft>
            </a:pPr>
            <a:r>
              <a:rPr lang="en-US" altLang="ja-JP" sz="1000">
                <a:solidFill>
                  <a:srgbClr val="1A1A1A"/>
                </a:solidFill>
                <a:latin typeface="Consolas"/>
                <a:ea typeface="Consolas"/>
                <a:cs typeface="Consolas"/>
              </a:rPr>
              <a:t> </a:t>
            </a:r>
            <a:r>
              <a:rPr lang="ja-JP" altLang="en-US" sz="1000">
                <a:solidFill>
                  <a:srgbClr val="1A1A1A"/>
                </a:solidFill>
                <a:latin typeface="Consolas"/>
                <a:ea typeface="Consolas"/>
                <a:cs typeface="Consolas"/>
              </a:rPr>
              <a:t>　　　　</a:t>
            </a:r>
            <a:r>
              <a:rPr lang="en-US" altLang="ja-JP" sz="1000">
                <a:solidFill>
                  <a:srgbClr val="1A1A1A"/>
                </a:solidFill>
                <a:latin typeface="Consolas"/>
                <a:ea typeface="Consolas"/>
                <a:cs typeface="Consolas"/>
              </a:rPr>
              <a:t>&lt;?php endforeach; ?&gt;</a:t>
            </a:r>
          </a:p>
          <a:p>
            <a:pPr>
              <a:lnSpc>
                <a:spcPct val="100000"/>
              </a:lnSpc>
              <a:spcAft>
                <a:spcPts val="0"/>
              </a:spcAft>
            </a:pPr>
            <a:r>
              <a:rPr lang="en-US" altLang="ja-JP" sz="1000">
                <a:solidFill>
                  <a:srgbClr val="1A1A1A"/>
                </a:solidFill>
                <a:latin typeface="Consolas"/>
                <a:ea typeface="Consolas"/>
                <a:cs typeface="Consolas"/>
              </a:rPr>
              <a:t> </a:t>
            </a:r>
          </a:p>
          <a:p>
            <a:pPr>
              <a:lnSpc>
                <a:spcPct val="100000"/>
              </a:lnSpc>
              <a:spcAft>
                <a:spcPts val="0"/>
              </a:spcAft>
            </a:pPr>
            <a:r>
              <a:rPr lang="en-US" altLang="ja-JP" sz="1000">
                <a:solidFill>
                  <a:srgbClr val="1A1A1A"/>
                </a:solidFill>
                <a:latin typeface="Consolas"/>
                <a:ea typeface="Consolas"/>
                <a:cs typeface="Consolas"/>
              </a:rPr>
              <a:t>    &lt;/table&gt;</a:t>
            </a:r>
          </a:p>
          <a:p>
            <a:pPr>
              <a:lnSpc>
                <a:spcPct val="100000"/>
              </a:lnSpc>
              <a:spcAft>
                <a:spcPts val="0"/>
              </a:spcAft>
            </a:pPr>
            <a:r>
              <a:rPr lang="en-US" altLang="ja-JP" sz="1000">
                <a:solidFill>
                  <a:srgbClr val="1A1A1A"/>
                </a:solidFill>
                <a:latin typeface="Consolas"/>
                <a:ea typeface="Consolas"/>
                <a:cs typeface="Consolas"/>
              </a:rPr>
              <a:t>&lt;/body&gt;</a:t>
            </a:r>
          </a:p>
          <a:p>
            <a:pPr>
              <a:lnSpc>
                <a:spcPct val="100000"/>
              </a:lnSpc>
              <a:spcAft>
                <a:spcPts val="0"/>
              </a:spcAft>
            </a:pPr>
            <a:r>
              <a:rPr lang="en-US" altLang="ja-JP" sz="1000">
                <a:solidFill>
                  <a:srgbClr val="1A1A1A"/>
                </a:solidFill>
                <a:latin typeface="Consolas"/>
                <a:ea typeface="Consolas"/>
                <a:cs typeface="Consolas"/>
              </a:rPr>
              <a:t>&lt;/html&gt;</a:t>
            </a:r>
            <a:endParaRPr sz="1000">
              <a:solidFill>
                <a:srgbClr val="1A1A1A"/>
              </a:solidFill>
              <a:latin typeface="Consolas"/>
              <a:ea typeface="Consolas"/>
              <a:cs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2.5. Nhúng PHP vào HTML (7/8)</a:t>
            </a:r>
          </a:p>
        </p:txBody>
      </p:sp>
      <p:pic>
        <p:nvPicPr>
          <p:cNvPr id="3" name="Picture 2" descr="buoi01-nhung-php-html.png"/>
          <p:cNvPicPr>
            <a:picLocks noChangeAspect="1"/>
          </p:cNvPicPr>
          <p:nvPr/>
        </p:nvPicPr>
        <p:blipFill>
          <a:blip r:embed="rId2"/>
          <a:stretch>
            <a:fillRect/>
          </a:stretch>
        </p:blipFill>
        <p:spPr>
          <a:xfrm>
            <a:off x="2027686" y="1280160"/>
            <a:ext cx="5088626" cy="4873752"/>
          </a:xfrm>
          <a:prstGeom prst="rect">
            <a:avLst/>
          </a:prstGeom>
        </p:spPr>
      </p:pic>
      <p:sp>
        <p:nvSpPr>
          <p:cNvPr id="4" name="TextBox 3"/>
          <p:cNvSpPr txBox="1"/>
          <p:nvPr/>
        </p:nvSpPr>
        <p:spPr>
          <a:xfrm>
            <a:off x="457200" y="6208776"/>
            <a:ext cx="8229600" cy="310896"/>
          </a:xfrm>
          <a:prstGeom prst="rect">
            <a:avLst/>
          </a:prstGeom>
          <a:noFill/>
        </p:spPr>
        <p:txBody>
          <a:bodyPr wrap="square">
            <a:spAutoFit/>
          </a:bodyPr>
          <a:lstStyle/>
          <a:p>
            <a:pPr algn="ctr"/>
            <a:r>
              <a:rPr sz="1300" i="1">
                <a:solidFill>
                  <a:srgbClr val="666666"/>
                </a:solidFill>
              </a:rPr>
              <a:t>Kết quả nhúng PHP vào HTML trên trình duyệt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2.5. Nhúng PHP vào HTML (8/8)</a:t>
            </a:r>
          </a:p>
        </p:txBody>
      </p:sp>
      <p:sp>
        <p:nvSpPr>
          <p:cNvPr id="3" name="Content Placeholder 2"/>
          <p:cNvSpPr>
            <a:spLocks noGrp="1"/>
          </p:cNvSpPr>
          <p:nvPr>
            <p:ph idx="1"/>
          </p:nvPr>
        </p:nvSpPr>
        <p:spPr/>
        <p:txBody>
          <a:bodyPr wrap="square"/>
          <a:lstStyle/>
          <a:p>
            <a:pPr>
              <a:spcBef>
                <a:spcPts val="800"/>
              </a:spcBef>
              <a:spcAft>
                <a:spcPts val="600"/>
              </a:spcAft>
            </a:pPr>
            <a:r>
              <a:rPr sz="1900" b="0" i="1">
                <a:solidFill>
                  <a:srgbClr val="666666"/>
                </a:solidFill>
                <a:latin typeface="Consolas"/>
                <a:ea typeface="Consolas"/>
                <a:cs typeface="Consolas"/>
              </a:rPr>
              <a:t>&lt;?= $bien ?&gt;</a:t>
            </a:r>
            <a:r>
              <a:rPr sz="1900" b="0" i="1">
                <a:solidFill>
                  <a:srgbClr val="666666"/>
                </a:solidFill>
              </a:rPr>
              <a:t> là cách viết tắt của </a:t>
            </a:r>
            <a:r>
              <a:rPr sz="1900" b="0" i="1">
                <a:solidFill>
                  <a:srgbClr val="666666"/>
                </a:solidFill>
                <a:latin typeface="Consolas"/>
                <a:ea typeface="Consolas"/>
                <a:cs typeface="Consolas"/>
              </a:rPr>
              <a:t>&lt;?php echo $bien; ?&gt;</a:t>
            </a:r>
            <a:r>
              <a:rPr sz="1900" b="0" i="1">
                <a:solidFill>
                  <a:srgbClr val="666666"/>
                </a:solidFill>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3. Thực hành tại lớp (1/3)</a:t>
            </a:r>
          </a:p>
        </p:txBody>
      </p:sp>
      <p:sp>
        <p:nvSpPr>
          <p:cNvPr id="3" name="Content Placeholder 2"/>
          <p:cNvSpPr>
            <a:spLocks noGrp="1"/>
          </p:cNvSpPr>
          <p:nvPr>
            <p:ph idx="1"/>
          </p:nvPr>
        </p:nvSpPr>
        <p:spPr/>
        <p:txBody>
          <a:bodyPr wrap="square"/>
          <a:lstStyle/>
          <a:p>
            <a:pPr>
              <a:spcAft>
                <a:spcPts val="800"/>
              </a:spcAft>
            </a:pPr>
            <a:r>
              <a:rPr sz="1800" b="1"/>
              <a:t>Practice 1</a:t>
            </a:r>
            <a:r>
              <a:rPr sz="1800" b="0"/>
              <a:t> — File </a:t>
            </a:r>
            <a:r>
              <a:rPr sz="1800" b="0">
                <a:latin typeface="Consolas"/>
                <a:ea typeface="Consolas"/>
                <a:cs typeface="Consolas"/>
              </a:rPr>
              <a:t>buoi1_practice1.php</a:t>
            </a:r>
            <a:r>
              <a:rPr sz="1800" b="0"/>
              <a:t> Khai báo mảng chứa họ tên, năm sinh, lớp của chính học viên. In ra màn hình dạng bảng HTML có đường viền, tính và hiển thị thêm dòng "Tuổi: ...".</a:t>
            </a:r>
          </a:p>
          <a:p>
            <a:pPr>
              <a:spcAft>
                <a:spcPts val="800"/>
              </a:spcAft>
            </a:pPr>
            <a:r>
              <a:rPr sz="1800" b="1"/>
              <a:t>Practice 2</a:t>
            </a:r>
            <a:r>
              <a:rPr sz="1800" b="0"/>
              <a:t> — File </a:t>
            </a:r>
            <a:r>
              <a:rPr sz="1800" b="0">
                <a:latin typeface="Consolas"/>
                <a:ea typeface="Consolas"/>
                <a:cs typeface="Consolas"/>
              </a:rPr>
              <a:t>buoi1_practice2.php</a:t>
            </a:r>
            <a:r>
              <a:rPr sz="1800" b="0"/>
              <a:t> Nhập cứng số </a:t>
            </a:r>
            <a:r>
              <a:rPr sz="1800" b="0">
                <a:latin typeface="Consolas"/>
                <a:ea typeface="Consolas"/>
                <a:cs typeface="Consolas"/>
              </a:rPr>
              <a:t>N = 5</a:t>
            </a:r>
            <a:r>
              <a:rPr sz="1800" b="0"/>
              <a:t> trong code. Dùng vòng lặp lồng nhau in ra tam giác sao:</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3. Thực hành tại lớp (2/3)</a:t>
            </a:r>
          </a:p>
        </p:txBody>
      </p:sp>
      <p:sp>
        <p:nvSpPr>
          <p:cNvPr id="3" name="TextBox 2"/>
          <p:cNvSpPr txBox="1"/>
          <p:nvPr/>
        </p:nvSpPr>
        <p:spPr>
          <a:xfrm>
            <a:off x="365760" y="1188720"/>
            <a:ext cx="8412480" cy="1465580"/>
          </a:xfrm>
          <a:prstGeom prst="rect">
            <a:avLst/>
          </a:prstGeom>
          <a:solidFill>
            <a:srgbClr val="F5F5F0"/>
          </a:solidFill>
          <a:ln w="9525">
            <a:solidFill>
              <a:srgbClr val="C0C0B8"/>
            </a:solidFill>
          </a:ln>
        </p:spPr>
        <p:txBody>
          <a:bodyPr wrap="none" lIns="137160" tIns="91440" bIns="91440">
            <a:spAutoFit/>
          </a:bodyPr>
          <a:lstStyle/>
          <a:p>
            <a:pPr>
              <a:lnSpc>
                <a:spcPct val="100000"/>
              </a:lnSpc>
              <a:spcAft>
                <a:spcPts val="0"/>
              </a:spcAft>
            </a:pPr>
            <a:r>
              <a:rPr sz="1400">
                <a:solidFill>
                  <a:srgbClr val="4A804A"/>
                </a:solidFill>
                <a:latin typeface="Consolas"/>
                <a:ea typeface="Consolas"/>
                <a:cs typeface="Consolas"/>
              </a:rPr>
              <a:t>*</a:t>
            </a:r>
          </a:p>
          <a:p>
            <a:pPr>
              <a:lnSpc>
                <a:spcPct val="100000"/>
              </a:lnSpc>
              <a:spcAft>
                <a:spcPts val="0"/>
              </a:spcAft>
            </a:pPr>
            <a:r>
              <a:rPr sz="1400">
                <a:solidFill>
                  <a:srgbClr val="4A804A"/>
                </a:solidFill>
                <a:latin typeface="Consolas"/>
                <a:ea typeface="Consolas"/>
                <a:cs typeface="Consolas"/>
              </a:rPr>
              <a:t>**</a:t>
            </a:r>
          </a:p>
          <a:p>
            <a:pPr>
              <a:lnSpc>
                <a:spcPct val="100000"/>
              </a:lnSpc>
              <a:spcAft>
                <a:spcPts val="0"/>
              </a:spcAft>
            </a:pPr>
            <a:r>
              <a:rPr sz="1400">
                <a:solidFill>
                  <a:srgbClr val="4A804A"/>
                </a:solidFill>
                <a:latin typeface="Consolas"/>
                <a:ea typeface="Consolas"/>
                <a:cs typeface="Consolas"/>
              </a:rPr>
              <a:t>***</a:t>
            </a:r>
          </a:p>
          <a:p>
            <a:pPr>
              <a:lnSpc>
                <a:spcPct val="100000"/>
              </a:lnSpc>
              <a:spcAft>
                <a:spcPts val="0"/>
              </a:spcAft>
            </a:pPr>
            <a:r>
              <a:rPr sz="1400">
                <a:solidFill>
                  <a:srgbClr val="4A804A"/>
                </a:solidFill>
                <a:latin typeface="Consolas"/>
                <a:ea typeface="Consolas"/>
                <a:cs typeface="Consolas"/>
              </a:rPr>
              <a:t>****</a:t>
            </a:r>
          </a:p>
          <a:p>
            <a:pPr>
              <a:lnSpc>
                <a:spcPct val="100000"/>
              </a:lnSpc>
              <a:spcAft>
                <a:spcPts val="0"/>
              </a:spcAft>
            </a:pPr>
            <a:r>
              <a:rPr sz="1400">
                <a:solidFill>
                  <a:srgbClr val="4A804A"/>
                </a:solidFill>
                <a:latin typeface="Consolas"/>
                <a:ea typeface="Consolas"/>
                <a:cs typeface="Consolas"/>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3. Thực hành tại lớp (3/3)</a:t>
            </a:r>
          </a:p>
        </p:txBody>
      </p:sp>
      <p:sp>
        <p:nvSpPr>
          <p:cNvPr id="3" name="Content Placeholder 2"/>
          <p:cNvSpPr>
            <a:spLocks noGrp="1"/>
          </p:cNvSpPr>
          <p:nvPr>
            <p:ph idx="1"/>
          </p:nvPr>
        </p:nvSpPr>
        <p:spPr/>
        <p:txBody>
          <a:bodyPr wrap="square"/>
          <a:lstStyle/>
          <a:p>
            <a:pPr>
              <a:spcAft>
                <a:spcPts val="800"/>
              </a:spcAft>
            </a:pPr>
            <a:r>
              <a:rPr sz="1600" b="1"/>
              <a:t>Practice 3</a:t>
            </a:r>
            <a:r>
              <a:rPr sz="1600" b="0"/>
              <a:t> — File </a:t>
            </a:r>
            <a:r>
              <a:rPr sz="1600" b="0">
                <a:latin typeface="Consolas"/>
                <a:ea typeface="Consolas"/>
                <a:cs typeface="Consolas"/>
              </a:rPr>
              <a:t>buoi1_practice3.php</a:t>
            </a:r>
            <a:r>
              <a:rPr sz="1600" b="0"/>
              <a:t> Cho mảng </a:t>
            </a:r>
            <a:r>
              <a:rPr sz="1600" b="0">
                <a:latin typeface="Consolas"/>
                <a:ea typeface="Consolas"/>
                <a:cs typeface="Consolas"/>
              </a:rPr>
              <a:t>$dsSanPham</a:t>
            </a:r>
            <a:r>
              <a:rPr sz="1600" b="0"/>
              <a:t> gồm 6 sản phẩm (id, tên, giá, loại). Yêu cầu:</a:t>
            </a:r>
          </a:p>
          <a:p>
            <a:pPr>
              <a:spcAft>
                <a:spcPts val="600"/>
              </a:spcAft>
            </a:pPr>
            <a:r>
              <a:rPr sz="1600" b="0"/>
              <a:t>In bảng toàn bộ sản phẩm.</a:t>
            </a:r>
          </a:p>
          <a:p>
            <a:pPr>
              <a:spcAft>
                <a:spcPts val="600"/>
              </a:spcAft>
            </a:pPr>
            <a:r>
              <a:rPr sz="1600" b="0"/>
              <a:t>In tổng tiền của tất cả sản phẩm (dùng </a:t>
            </a:r>
            <a:r>
              <a:rPr sz="1600" b="0">
                <a:latin typeface="Consolas"/>
                <a:ea typeface="Consolas"/>
                <a:cs typeface="Consolas"/>
              </a:rPr>
              <a:t>number_format</a:t>
            </a:r>
            <a:r>
              <a:rPr sz="1600" b="0"/>
              <a:t>).</a:t>
            </a:r>
          </a:p>
          <a:p>
            <a:pPr>
              <a:spcAft>
                <a:spcPts val="600"/>
              </a:spcAft>
            </a:pPr>
            <a:r>
              <a:rPr sz="1600" b="0"/>
              <a:t>In riêng các sản phẩm có giá &gt; 10.000 đ, tô chữ màu đỏ.</a:t>
            </a:r>
          </a:p>
          <a:p>
            <a:pPr>
              <a:spcAft>
                <a:spcPts val="800"/>
              </a:spcAft>
            </a:pPr>
            <a:r>
              <a:rPr sz="1600" b="1"/>
              <a:t>Practice 4</a:t>
            </a:r>
            <a:r>
              <a:rPr sz="1600" b="0"/>
              <a:t> — File </a:t>
            </a:r>
            <a:r>
              <a:rPr sz="1600" b="0">
                <a:latin typeface="Consolas"/>
                <a:ea typeface="Consolas"/>
                <a:cs typeface="Consolas"/>
              </a:rPr>
              <a:t>buoi1_practice4.php</a:t>
            </a:r>
            <a:r>
              <a:rPr sz="1600" b="0"/>
              <a:t> Tự xây một mảng </a:t>
            </a:r>
            <a:r>
              <a:rPr sz="1600" b="1"/>
              <a:t>3 chiều</a:t>
            </a:r>
            <a:r>
              <a:rPr sz="1600" b="0"/>
              <a:t> mô tả thời khóa biểu: </a:t>
            </a:r>
            <a:r>
              <a:rPr sz="1600" b="0">
                <a:latin typeface="Consolas"/>
                <a:ea typeface="Consolas"/>
                <a:cs typeface="Consolas"/>
              </a:rPr>
              <a:t>[thứ][buổi][danh sách môn]</a:t>
            </a:r>
            <a:r>
              <a:rPr sz="1600" b="0"/>
              <a:t>. Dùng </a:t>
            </a:r>
            <a:r>
              <a:rPr sz="1600" b="0">
                <a:latin typeface="Consolas"/>
                <a:ea typeface="Consolas"/>
                <a:cs typeface="Consolas"/>
              </a:rPr>
              <a:t>foreach</a:t>
            </a:r>
            <a:r>
              <a:rPr sz="1600" b="0"/>
              <a:t> lồng 3 tầng in ra màn hình theo dạng thụt đầu dòng, sau đó in riêng danh sách môn học của </a:t>
            </a:r>
            <a:r>
              <a:rPr sz="1600" b="1"/>
              <a:t>Thứ 3 buổi sáng</a:t>
            </a:r>
            <a:r>
              <a:rPr sz="1600" b="0"/>
              <a:t> bằng cách truy cập trực tiếp chỉ số.</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4. Bài tập về nhà</a:t>
            </a:r>
          </a:p>
        </p:txBody>
      </p:sp>
      <p:sp>
        <p:nvSpPr>
          <p:cNvPr id="3" name="Content Placeholder 2"/>
          <p:cNvSpPr>
            <a:spLocks noGrp="1"/>
          </p:cNvSpPr>
          <p:nvPr>
            <p:ph idx="1"/>
          </p:nvPr>
        </p:nvSpPr>
        <p:spPr/>
        <p:txBody>
          <a:bodyPr wrap="square"/>
          <a:lstStyle/>
          <a:p>
            <a:pPr>
              <a:spcAft>
                <a:spcPts val="600"/>
              </a:spcAft>
            </a:pPr>
            <a:r>
              <a:rPr sz="1600" b="0"/>
              <a:t>Hoàn thiện 4 practice trên lớp, đặt trong </a:t>
            </a:r>
            <a:r>
              <a:rPr sz="1600" b="0">
                <a:latin typeface="Consolas"/>
                <a:ea typeface="Consolas"/>
                <a:cs typeface="Consolas"/>
              </a:rPr>
              <a:t>htdocs/course8/buoi1/</a:t>
            </a:r>
            <a:r>
              <a:rPr sz="1600" b="0"/>
              <a:t>.</a:t>
            </a:r>
          </a:p>
          <a:p>
            <a:pPr>
              <a:spcAft>
                <a:spcPts val="600"/>
              </a:spcAft>
            </a:pPr>
            <a:r>
              <a:rPr sz="1600" b="0"/>
              <a:t>Viết </a:t>
            </a:r>
            <a:r>
              <a:rPr sz="1600" b="0">
                <a:latin typeface="Consolas"/>
                <a:ea typeface="Consolas"/>
                <a:cs typeface="Consolas"/>
              </a:rPr>
              <a:t>buoi1_homework.php</a:t>
            </a:r>
            <a:r>
              <a:rPr sz="1600" b="0"/>
              <a:t>: in bảng cửu chương từ 2 đến 9 dưới dạng bảng HTML 8 cột (dùng </a:t>
            </a:r>
            <a:r>
              <a:rPr sz="1600" b="0">
                <a:latin typeface="Consolas"/>
                <a:ea typeface="Consolas"/>
                <a:cs typeface="Consolas"/>
              </a:rPr>
              <a:t>for</a:t>
            </a:r>
            <a:r>
              <a:rPr sz="1600" b="0"/>
              <a:t> lồng nhau như ví dụ ở mục 2.3).</a:t>
            </a:r>
          </a:p>
          <a:p>
            <a:pPr>
              <a:spcAft>
                <a:spcPts val="600"/>
              </a:spcAft>
            </a:pPr>
            <a:r>
              <a:rPr sz="1600" b="0"/>
              <a:t>Đọc lại tài liệu HTML cơ bản (buoi-01b_html-co-ban.md) — từ buổi 4 trở đi mọi trang đều là PHP sinh ra HTML, không đọc được HTML là không theo được.</a:t>
            </a:r>
          </a:p>
          <a:p>
            <a:pPr>
              <a:spcAft>
                <a:spcPts val="600"/>
              </a:spcAft>
            </a:pPr>
            <a:r>
              <a:rPr sz="1600" b="0"/>
              <a:t>Đọc trước về </a:t>
            </a:r>
            <a:r>
              <a:rPr sz="1600" b="1"/>
              <a:t>hàm trong PHP</a:t>
            </a:r>
            <a:r>
              <a:rPr sz="1600" b="0"/>
              <a:t>: https://www.w3schools.com/php/php_functions.asp — buổi 2 bắt đầu ngay từ hàm rồi đi tiếp sang lập trình hướng đối tượng.</a:t>
            </a:r>
          </a:p>
          <a:p>
            <a:pPr>
              <a:spcAft>
                <a:spcPts val="600"/>
              </a:spcAft>
            </a:pPr>
            <a:r>
              <a:rPr sz="1600" b="0"/>
              <a:t>Đảm bảo XAMPP chạy được cả Apache và MySQL — giữ nguyên để dùng cho cả khóa.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5. Checklist cuối buổi</a:t>
            </a:r>
          </a:p>
        </p:txBody>
      </p:sp>
      <p:sp>
        <p:nvSpPr>
          <p:cNvPr id="3" name="Content Placeholder 2"/>
          <p:cNvSpPr>
            <a:spLocks noGrp="1"/>
          </p:cNvSpPr>
          <p:nvPr>
            <p:ph idx="1"/>
          </p:nvPr>
        </p:nvSpPr>
        <p:spPr/>
        <p:txBody>
          <a:bodyPr wrap="square"/>
          <a:lstStyle/>
          <a:p>
            <a:pPr>
              <a:spcAft>
                <a:spcPts val="600"/>
              </a:spcAft>
            </a:pPr>
            <a:r>
              <a:rPr sz="1600" b="0"/>
              <a:t>[ ] Chạy được </a:t>
            </a:r>
            <a:r>
              <a:rPr sz="1600" b="0">
                <a:latin typeface="Consolas"/>
                <a:ea typeface="Consolas"/>
                <a:cs typeface="Consolas"/>
              </a:rPr>
              <a:t>http://localhost/course8/index.php</a:t>
            </a:r>
            <a:r>
              <a:rPr sz="1600" b="0"/>
              <a:t> và thấy kết quả PHP.</a:t>
            </a:r>
          </a:p>
          <a:p>
            <a:pPr>
              <a:spcAft>
                <a:spcPts val="600"/>
              </a:spcAft>
            </a:pPr>
            <a:r>
              <a:rPr sz="1600" b="0"/>
              <a:t>[ ] Mở được tab Network trong DevTools và chỉ ra được URL, method, status code, header.</a:t>
            </a:r>
          </a:p>
          <a:p>
            <a:pPr>
              <a:spcAft>
                <a:spcPts val="600"/>
              </a:spcAft>
            </a:pPr>
            <a:r>
              <a:rPr sz="1600" b="0"/>
              <a:t>[ ] Phân biệt được file </a:t>
            </a:r>
            <a:r>
              <a:rPr sz="1600" b="0">
                <a:latin typeface="Consolas"/>
                <a:ea typeface="Consolas"/>
                <a:cs typeface="Consolas"/>
              </a:rPr>
              <a:t>.html</a:t>
            </a:r>
            <a:r>
              <a:rPr sz="1600" b="0"/>
              <a:t> và </a:t>
            </a:r>
            <a:r>
              <a:rPr sz="1600" b="0">
                <a:latin typeface="Consolas"/>
                <a:ea typeface="Consolas"/>
                <a:cs typeface="Consolas"/>
              </a:rPr>
              <a:t>.php</a:t>
            </a:r>
            <a:r>
              <a:rPr sz="1600" b="0"/>
              <a:t> khác nhau ở điểm nào.</a:t>
            </a:r>
          </a:p>
          <a:p>
            <a:pPr>
              <a:spcAft>
                <a:spcPts val="600"/>
              </a:spcAft>
            </a:pPr>
            <a:r>
              <a:rPr sz="1600" b="0"/>
              <a:t>[ ] Nói được 6 kiểu dữ liệu cơ bản của PHP và khi nào dùng hằng số thay vì biến.</a:t>
            </a:r>
          </a:p>
          <a:p>
            <a:pPr>
              <a:spcAft>
                <a:spcPts val="600"/>
              </a:spcAft>
            </a:pPr>
            <a:r>
              <a:rPr sz="1600" b="0"/>
              <a:t>[ ] Viết được </a:t>
            </a:r>
            <a:r>
              <a:rPr sz="1600" b="0">
                <a:latin typeface="Consolas"/>
                <a:ea typeface="Consolas"/>
                <a:cs typeface="Consolas"/>
              </a:rPr>
              <a:t>if/else</a:t>
            </a:r>
            <a:r>
              <a:rPr sz="1600" b="0"/>
              <a:t>, </a:t>
            </a:r>
            <a:r>
              <a:rPr sz="1600" b="0">
                <a:latin typeface="Consolas"/>
                <a:ea typeface="Consolas"/>
                <a:cs typeface="Consolas"/>
              </a:rPr>
              <a:t>for</a:t>
            </a:r>
            <a:r>
              <a:rPr sz="1600" b="0"/>
              <a:t>, </a:t>
            </a:r>
            <a:r>
              <a:rPr sz="1600" b="0">
                <a:latin typeface="Consolas"/>
                <a:ea typeface="Consolas"/>
                <a:cs typeface="Consolas"/>
              </a:rPr>
              <a:t>foreach</a:t>
            </a:r>
            <a:r>
              <a:rPr sz="1600" b="0"/>
              <a:t> không cần nhìn tài liệu.</a:t>
            </a:r>
          </a:p>
          <a:p>
            <a:pPr>
              <a:spcAft>
                <a:spcPts val="600"/>
              </a:spcAft>
            </a:pPr>
            <a:r>
              <a:rPr sz="1600" b="0"/>
              <a:t>[ ] Giải thích được 3 phần trong ngoặc của </a:t>
            </a:r>
            <a:r>
              <a:rPr sz="1600" b="0">
                <a:latin typeface="Consolas"/>
                <a:ea typeface="Consolas"/>
                <a:cs typeface="Consolas"/>
              </a:rPr>
              <a:t>for</a:t>
            </a:r>
            <a:r>
              <a:rPr sz="1600" b="0"/>
              <a:t> và viết được </a:t>
            </a:r>
            <a:r>
              <a:rPr sz="1600" b="0">
                <a:latin typeface="Consolas"/>
                <a:ea typeface="Consolas"/>
                <a:cs typeface="Consolas"/>
              </a:rPr>
              <a:t>for</a:t>
            </a:r>
            <a:r>
              <a:rPr sz="1600" b="0"/>
              <a:t> lồng nhau.</a:t>
            </a:r>
          </a:p>
          <a:p>
            <a:pPr>
              <a:spcAft>
                <a:spcPts val="600"/>
              </a:spcAft>
            </a:pPr>
            <a:r>
              <a:rPr sz="1600" b="0"/>
              <a:t>[ ] Duyệt được mảng nhiều chiều và in ra bảng HTML.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a:t>6. Tham khảo</a:t>
            </a:r>
          </a:p>
        </p:txBody>
      </p:sp>
      <p:sp>
        <p:nvSpPr>
          <p:cNvPr id="3" name="Content Placeholder 2"/>
          <p:cNvSpPr>
            <a:spLocks noGrp="1"/>
          </p:cNvSpPr>
          <p:nvPr>
            <p:ph idx="1"/>
          </p:nvPr>
        </p:nvSpPr>
        <p:spPr/>
        <p:txBody>
          <a:bodyPr wrap="square"/>
          <a:lstStyle/>
          <a:p>
            <a:pPr>
              <a:spcAft>
                <a:spcPts val="600"/>
              </a:spcAft>
            </a:pPr>
            <a:r>
              <a:rPr sz="2000" b="0"/>
              <a:t>Tài liệu kèm buổi này: HTML cơ bản (buoi-01b_html-co-ban.md) (15 phút)</a:t>
            </a:r>
          </a:p>
          <a:p>
            <a:pPr>
              <a:spcAft>
                <a:spcPts val="600"/>
              </a:spcAft>
            </a:pPr>
            <a:r>
              <a:rPr sz="2000" b="0"/>
              <a:t>PHP cơ bản: https://www.w3schools.com/php/</a:t>
            </a:r>
          </a:p>
          <a:p>
            <a:pPr>
              <a:spcAft>
                <a:spcPts val="600"/>
              </a:spcAft>
            </a:pPr>
            <a:r>
              <a:rPr sz="2000" b="0"/>
              <a:t>Tài liệu chính thức: https://www.php.net/manual/en/</a:t>
            </a:r>
          </a:p>
          <a:p>
            <a:pPr>
              <a:spcAft>
                <a:spcPts val="600"/>
              </a:spcAft>
            </a:pPr>
            <a:r>
              <a:rPr sz="2000" b="0"/>
              <a:t>Hàm thường dùng: </a:t>
            </a:r>
            <a:r>
              <a:rPr sz="2000" b="0">
                <a:latin typeface="Consolas"/>
                <a:ea typeface="Consolas"/>
                <a:cs typeface="Consolas"/>
              </a:rPr>
              <a:t>echo</a:t>
            </a:r>
            <a:r>
              <a:rPr sz="2000" b="0"/>
              <a:t>, </a:t>
            </a:r>
            <a:r>
              <a:rPr sz="2000" b="0">
                <a:latin typeface="Consolas"/>
                <a:ea typeface="Consolas"/>
                <a:cs typeface="Consolas"/>
              </a:rPr>
              <a:t>date()</a:t>
            </a:r>
            <a:r>
              <a:rPr sz="2000" b="0"/>
              <a:t>, </a:t>
            </a:r>
            <a:r>
              <a:rPr sz="2000" b="0">
                <a:latin typeface="Consolas"/>
                <a:ea typeface="Consolas"/>
                <a:cs typeface="Consolas"/>
              </a:rPr>
              <a:t>count()</a:t>
            </a:r>
            <a:r>
              <a:rPr sz="2000" b="0"/>
              <a:t>, </a:t>
            </a:r>
            <a:r>
              <a:rPr sz="2000" b="0">
                <a:latin typeface="Consolas"/>
                <a:ea typeface="Consolas"/>
                <a:cs typeface="Consolas"/>
              </a:rPr>
              <a:t>number_format()</a:t>
            </a:r>
            <a:r>
              <a:rPr sz="2000" b="0"/>
              <a:t>, </a:t>
            </a:r>
            <a:r>
              <a:rPr sz="2000" b="0">
                <a:latin typeface="Consolas"/>
                <a:ea typeface="Consolas"/>
                <a:cs typeface="Consolas"/>
              </a:rPr>
              <a:t>var_dump()</a:t>
            </a:r>
            <a:r>
              <a:rPr sz="2000" b="0"/>
              <a:t>, </a:t>
            </a:r>
            <a:r>
              <a:rPr sz="2000" b="0">
                <a:latin typeface="Consolas"/>
                <a:ea typeface="Consolas"/>
                <a:cs typeface="Consolas"/>
              </a:rPr>
              <a:t>strtoupper()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6882</TotalTime>
  <Words>4690</Words>
  <Application>Microsoft Office PowerPoint</Application>
  <PresentationFormat>On-screen Show (4:3)</PresentationFormat>
  <Paragraphs>518</Paragraphs>
  <Slides>55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Cambria</vt:lpstr>
      <vt:lpstr>Consolas</vt:lpstr>
      <vt:lpstr>Adjacency</vt:lpstr>
      <vt:lpstr>Khóa đào tạo
Lập trình Web: PHP · Vue · MySQL</vt:lpstr>
      <vt:lpstr>Nội dung</vt:lpstr>
      <vt:lpstr>1. Mục tiêu</vt:lpstr>
      <vt:lpstr>2. Chuẩn bị trước buổi học</vt:lpstr>
      <vt:lpstr>Tiết 1 — Kiến trúc web &amp; môi trường</vt:lpstr>
      <vt:lpstr>1.1. Web hoạt động thế nào? (1/3)</vt:lpstr>
      <vt:lpstr>1.1. Web hoạt động thế nào? (2/3)</vt:lpstr>
      <vt:lpstr>1.1. Web hoạt động thế nào? (3/3)</vt:lpstr>
      <vt:lpstr>1.2. Nhìn Request/Response thật bằng DevTools (1/4)</vt:lpstr>
      <vt:lpstr>1.2. Nhìn Request/Response thật bằng DevTools (2/4)</vt:lpstr>
      <vt:lpstr>1.2. Nhìn Request/Response thật bằng DevTools (3/4)</vt:lpstr>
      <vt:lpstr>1.2. Nhìn Request/Response thật bằng DevTools (4/4)</vt:lpstr>
      <vt:lpstr>1.3. Cài đặt &amp; chạy trang PHP đầu tiên (1/5)</vt:lpstr>
      <vt:lpstr>1.3. Cài đặt &amp; chạy trang PHP đầu tiên (2/5)</vt:lpstr>
      <vt:lpstr>1.3. Cài đặt &amp; chạy trang PHP đầu tiên (3/5)</vt:lpstr>
      <vt:lpstr>1.3. Cài đặt &amp; chạy trang PHP đầu tiên (4/5)</vt:lpstr>
      <vt:lpstr>1.3. Cài đặt &amp; chạy trang PHP đầu tiên (5/5)</vt:lpstr>
      <vt:lpstr>Tiết 2 — Cú pháp PHP cơ bản</vt:lpstr>
      <vt:lpstr>2.1. Biến, kiểu dữ liệu, hằng số (1/5)</vt:lpstr>
      <vt:lpstr>2.1. Biến, kiểu dữ liệu, hằng số (2/5)</vt:lpstr>
      <vt:lpstr>2.1. Biến, kiểu dữ liệu, hằng số (3/5)</vt:lpstr>
      <vt:lpstr>2.1. Biến, kiểu dữ liệu, hằng số (4/5)</vt:lpstr>
      <vt:lpstr>2.1. Biến, kiểu dữ liệu, hằng số (5/5)</vt:lpstr>
      <vt:lpstr>2.2. Toán tử &amp; rẽ nhánh (1/5)</vt:lpstr>
      <vt:lpstr>2.2. Toán tử &amp; rẽ nhánh (2/5)</vt:lpstr>
      <vt:lpstr>2.2. Toán tử &amp; rẽ nhánh (3/5)</vt:lpstr>
      <vt:lpstr>2.2. Toán tử &amp; rẽ nhánh (4/5)</vt:lpstr>
      <vt:lpstr>2.2. Toán tử &amp; rẽ nhánh (5/5)</vt:lpstr>
      <vt:lpstr>2.3. Vòng lặp (1/7)</vt:lpstr>
      <vt:lpstr>2.3. Vòng lặp (2/7)</vt:lpstr>
      <vt:lpstr>2.3. Vòng lặp (3/7)</vt:lpstr>
      <vt:lpstr>2.3. Vòng lặp (4/7)</vt:lpstr>
      <vt:lpstr>2.3. Vòng lặp (5/7)</vt:lpstr>
      <vt:lpstr>2.3. Vòng lặp (6/7)</vt:lpstr>
      <vt:lpstr>2.3. Vòng lặp (7/7)</vt:lpstr>
      <vt:lpstr>2.4. Mảng (1/7)</vt:lpstr>
      <vt:lpstr>2.4. Mảng (2/7)</vt:lpstr>
      <vt:lpstr>2.4. Mảng (3/7)</vt:lpstr>
      <vt:lpstr>2.4. Mảng (4/7)</vt:lpstr>
      <vt:lpstr>2.4. Mảng (5/7)</vt:lpstr>
      <vt:lpstr>2.4. Mảng (6/7)</vt:lpstr>
      <vt:lpstr>2.4. Mảng (7/7)</vt:lpstr>
      <vt:lpstr>2.5. Nhúng PHP vào HTML (1/8)</vt:lpstr>
      <vt:lpstr>2.5. Nhúng PHP vào HTML (4/8)</vt:lpstr>
      <vt:lpstr>2.5. Nhúng PHP vào HTML (5/8)</vt:lpstr>
      <vt:lpstr>2.5. Nhúng PHP vào HTML (6/8)</vt:lpstr>
      <vt:lpstr>2.5. Nhúng PHP vào HTML (2/8)</vt:lpstr>
      <vt:lpstr>2.5. Nhúng PHP vào HTML (7/8)</vt:lpstr>
      <vt:lpstr>2.5. Nhúng PHP vào HTML (8/8)</vt:lpstr>
      <vt:lpstr>3. Thực hành tại lớp (1/3)</vt:lpstr>
      <vt:lpstr>3. Thực hành tại lớp (2/3)</vt:lpstr>
      <vt:lpstr>3. Thực hành tại lớp (3/3)</vt:lpstr>
      <vt:lpstr>4. Bài tập về nhà</vt:lpstr>
      <vt:lpstr>5. Checklist cuối buổi</vt:lpstr>
      <vt:lpstr>6. Tham khảo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Khóa đào tạo lập trình web sử dụng php</dc:title>
  <dc:creator>ngoctb</dc:creator>
  <cp:lastModifiedBy>Chu Van Quy</cp:lastModifiedBy>
  <cp:revision>2092</cp:revision>
  <dcterms:created xsi:type="dcterms:W3CDTF">2014-12-22T07:12:12Z</dcterms:created>
  <dcterms:modified xsi:type="dcterms:W3CDTF">2026-09-15T06:11:32Z</dcterms:modified>
</cp:coreProperties>
</file>