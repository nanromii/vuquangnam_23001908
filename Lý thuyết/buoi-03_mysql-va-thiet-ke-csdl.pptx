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6"/>
    <p:sldId id="271" r:id="rId5"/>
    <p:sldId id="272" r:id="rId4"/>
    <p:sldId id="273" r:id="rId3"/>
    <p:sldId id="274" r:id="rId2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000" autoAdjust="0"/>
  </p:normalViewPr>
  <p:slideViewPr>
    <p:cSldViewPr>
      <p:cViewPr varScale="1">
        <p:scale>
          <a:sx n="64" d="100"/>
          <a:sy n="64" d="100"/>
        </p:scale>
        <p:origin x="13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9.xml"/><Relationship Id="rId3" Type="http://schemas.openxmlformats.org/officeDocument/2006/relationships/slide" Target="slides/slide18.xml"/><Relationship Id="rId4" Type="http://schemas.openxmlformats.org/officeDocument/2006/relationships/slide" Target="slides/slide17.xml"/><Relationship Id="rId5" Type="http://schemas.openxmlformats.org/officeDocument/2006/relationships/slide" Target="slides/slide16.xml"/><Relationship Id="rId6" Type="http://schemas.openxmlformats.org/officeDocument/2006/relationships/slide" Target="slides/slide1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529C2-2740-49AF-AD85-11B5D392103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3765A4-D309-444E-9276-0B2CD25A6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88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400"/>
              <a:t>Khóa đào tạo
Lập trình Web: PHP · Vue · MySQL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Buổi 3 — MySQL &amp; thiết kế cơ sở dữ liệu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Nội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600" b="0"/>
              <a:t>1. Mục tiêu</a:t>
            </a:r>
          </a:p>
          <a:p>
            <a:pPr>
              <a:spcAft>
                <a:spcPts val="600"/>
              </a:spcAft>
            </a:pPr>
            <a:r>
              <a:rPr sz="1600" b="0"/>
              <a:t>2. Chuẩn bị</a:t>
            </a:r>
          </a:p>
          <a:p>
            <a:pPr>
              <a:spcAft>
                <a:spcPts val="600"/>
              </a:spcAft>
            </a:pPr>
            <a:r>
              <a:rPr sz="1600" b="0"/>
              <a:t>Tiết 1 — Thiết kế CSDL &amp; câu lệnh cơ bản</a:t>
            </a:r>
          </a:p>
          <a:p>
            <a:pPr>
              <a:spcAft>
                <a:spcPts val="600"/>
              </a:spcAft>
            </a:pPr>
            <a:r>
              <a:rPr sz="1600" b="0"/>
              <a:t>Tiết 2 — JOIN &amp; hàm tổng hợp</a:t>
            </a:r>
          </a:p>
          <a:p>
            <a:pPr>
              <a:spcAft>
                <a:spcPts val="600"/>
              </a:spcAft>
            </a:pPr>
            <a:r>
              <a:rPr sz="1600" b="0"/>
              <a:t>3. Thực hành tại lớp</a:t>
            </a:r>
          </a:p>
          <a:p>
            <a:pPr>
              <a:spcAft>
                <a:spcPts val="600"/>
              </a:spcAft>
            </a:pPr>
            <a:r>
              <a:rPr sz="1600" b="0"/>
              <a:t>4. Bài tập về nhà</a:t>
            </a:r>
          </a:p>
          <a:p>
            <a:pPr>
              <a:spcAft>
                <a:spcPts val="600"/>
              </a:spcAft>
            </a:pPr>
            <a:r>
              <a:rPr sz="1600" b="0"/>
              <a:t>5. Checklist cuối buổi</a:t>
            </a:r>
          </a:p>
          <a:p>
            <a:pPr>
              <a:spcAft>
                <a:spcPts val="600"/>
              </a:spcAft>
            </a:pPr>
            <a:r>
              <a:rPr sz="1600" b="0"/>
              <a:t>6. Tham khảo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 Mục tiêu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600" b="0"/>
              <a:t>Kết thúc buổi học, học viên có thể:</a:t>
            </a:r>
          </a:p>
          <a:p>
            <a:pPr>
              <a:spcAft>
                <a:spcPts val="600"/>
              </a:spcAft>
            </a:pPr>
            <a:r>
              <a:rPr sz="1600" b="0"/>
              <a:t>Sử dụng phpMyAdmin để tạo database, bảng, khóa chính, khóa ngoại.</a:t>
            </a:r>
          </a:p>
          <a:p>
            <a:pPr>
              <a:spcAft>
                <a:spcPts val="600"/>
              </a:spcAft>
            </a:pPr>
            <a:r>
              <a:rPr sz="1600" b="0"/>
              <a:t>Chọn đúng kiểu dữ liệu cho từng cột.</a:t>
            </a:r>
          </a:p>
          <a:p>
            <a:pPr>
              <a:spcAft>
                <a:spcPts val="600"/>
              </a:spcAft>
            </a:pPr>
            <a:r>
              <a:rPr sz="1600" b="0"/>
              <a:t>Viết được câu lệnh </a:t>
            </a:r>
            <a:r>
              <a:rPr sz="1600" b="0">
                <a:latin typeface="Consolas"/>
                <a:ea typeface="Consolas"/>
                <a:cs typeface="Consolas"/>
              </a:rPr>
              <a:t>CREATE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INSERT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SELECT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UPDATE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DELETE</a:t>
            </a:r>
            <a:r>
              <a:rPr sz="1600" b="0"/>
              <a:t>.</a:t>
            </a:r>
          </a:p>
          <a:p>
            <a:pPr>
              <a:spcAft>
                <a:spcPts val="600"/>
              </a:spcAft>
            </a:pPr>
            <a:r>
              <a:rPr sz="1600" b="0"/>
              <a:t>Viết được truy vấn có </a:t>
            </a:r>
            <a:r>
              <a:rPr sz="1600" b="0">
                <a:latin typeface="Consolas"/>
                <a:ea typeface="Consolas"/>
                <a:cs typeface="Consolas"/>
              </a:rPr>
              <a:t>WHERE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ORDER BY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LIMIT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LIKE</a:t>
            </a:r>
            <a:r>
              <a:rPr sz="1600" b="0"/>
              <a:t>.</a:t>
            </a:r>
          </a:p>
          <a:p>
            <a:pPr>
              <a:spcAft>
                <a:spcPts val="600"/>
              </a:spcAft>
            </a:pPr>
            <a:r>
              <a:rPr sz="1600" b="0"/>
              <a:t>Viết được </a:t>
            </a:r>
            <a:r>
              <a:rPr sz="1600" b="0">
                <a:latin typeface="Consolas"/>
                <a:ea typeface="Consolas"/>
                <a:cs typeface="Consolas"/>
              </a:rPr>
              <a:t>INNER JOIN</a:t>
            </a:r>
            <a:r>
              <a:rPr sz="1600" b="0"/>
              <a:t> / </a:t>
            </a:r>
            <a:r>
              <a:rPr sz="1600" b="0">
                <a:latin typeface="Consolas"/>
                <a:ea typeface="Consolas"/>
                <a:cs typeface="Consolas"/>
              </a:rPr>
              <a:t>LEFT JOIN</a:t>
            </a:r>
            <a:r>
              <a:rPr sz="1600" b="0"/>
              <a:t> giữa 2 bảng và các hàm tổng hợp </a:t>
            </a:r>
            <a:r>
              <a:rPr sz="1600" b="0">
                <a:latin typeface="Consolas"/>
                <a:ea typeface="Consolas"/>
                <a:cs typeface="Consolas"/>
              </a:rPr>
              <a:t>COUNT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SUM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AVG</a:t>
            </a:r>
            <a:r>
              <a:rPr sz="1600" b="0"/>
              <a:t> với </a:t>
            </a:r>
            <a:r>
              <a:rPr sz="1600" b="0">
                <a:latin typeface="Consolas"/>
                <a:ea typeface="Consolas"/>
                <a:cs typeface="Consolas"/>
              </a:rPr>
              <a:t>GROUP BY</a:t>
            </a:r>
            <a:r>
              <a:rPr sz="1600" b="0"/>
              <a:t>.</a:t>
            </a:r>
          </a:p>
          <a:p>
            <a:pPr>
              <a:spcAft>
                <a:spcPts val="600"/>
              </a:spcAft>
            </a:pPr>
            <a:r>
              <a:rPr sz="1600" b="1"/>
              <a:t>Tạo xong CSDL của dự án xuyên suốt</a:t>
            </a:r>
            <a:r>
              <a:rPr sz="1600" b="0"/>
              <a:t> để dùng cho các buổi sau.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 Chuẩn bị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 b="0"/>
              <a:t>XAMPP đang chạy MySQL. Mở phpMyAdmin: </a:t>
            </a:r>
            <a:r>
              <a:rPr sz="2000" b="0">
                <a:latin typeface="Consolas"/>
                <a:ea typeface="Consolas"/>
                <a:cs typeface="Consolas"/>
              </a:rPr>
              <a:t>http://localhost/phpmyadmin</a:t>
            </a:r>
          </a:p>
          <a:p>
            <a:pPr>
              <a:spcAft>
                <a:spcPts val="600"/>
              </a:spcAft>
            </a:pPr>
            <a:r>
              <a:rPr sz="2000" b="0"/>
              <a:t>Tài khoản mặc định: user </a:t>
            </a:r>
            <a:r>
              <a:rPr sz="2000" b="0">
                <a:latin typeface="Consolas"/>
                <a:ea typeface="Consolas"/>
                <a:cs typeface="Consolas"/>
              </a:rPr>
              <a:t>root</a:t>
            </a:r>
            <a:r>
              <a:rPr sz="2000" b="0"/>
              <a:t>, mật khẩu để trống.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Tiết 1 — Thiết kế CSDL &amp; câu lệnh cơ bản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1.1. Khái niệm nền (1/3)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Khái niệm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Giải thích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/>
                        <a:t>Database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Tập hợp các bảng của một ứng dụng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/>
                        <a:t>Table (bảng)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Lưu một loại đối tượng: </a:t>
                      </a:r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product</a:t>
                      </a:r>
                      <a:r>
                        <a:rPr sz="1100" b="0"/>
                        <a:t>, </a:t>
                      </a:r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user</a:t>
                      </a:r>
                      <a:r>
                        <a:rPr sz="1100" b="0"/>
                        <a:t>, </a:t>
                      </a:r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category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/>
                        <a:t>Row / Record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Một dòng dữ liệu = một sản phẩm cụ thể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/>
                        <a:t>Column / Field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Một thuộc tính: </a:t>
                      </a:r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name</a:t>
                      </a:r>
                      <a:r>
                        <a:rPr sz="1100" b="0"/>
                        <a:t>, </a:t>
                      </a:r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price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/>
                        <a:t>Primary Key (PK)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Cột định danh duy nhất, thường là </a:t>
                      </a:r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id AUTO_INCREMENT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/>
                        <a:t>Foreign Key (FK)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Cột trỏ tới PK của bảng khác, tạo quan hệ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1.1. Khái niệm nền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Các kiểu dữ liệu hay dùng: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47088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Kiểu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Dùng cho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Ví dụ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INT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Số nguyên, id, giá tiền VNĐ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price INT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VARCHAR(n)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Chuỗi ngắn, có giới hạn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name VARCHAR(200)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TEXT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Đoạn văn dài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description TEXT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DATETIME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Ngày giờ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created_at DATETIME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TINYINT(1)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Cờ true/false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is_admin TINYINT(1)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DECIMAL(10,2)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Số thập phân chính xác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Dùng khi cần đơn vị lẻ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1.1. Khái niệm nền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900" i="1" b="1">
                <a:solidFill>
                  <a:srgbClr val="666666"/>
                </a:solidFill>
              </a:rPr>
              <a:t>Quy ước đặt tên trong khóa này:</a:t>
            </a:r>
            <a:r>
              <a:rPr sz="1900" i="1" b="0">
                <a:solidFill>
                  <a:srgbClr val="666666"/>
                </a:solidFill>
              </a:rPr>
              <a:t> bảng viết </a:t>
            </a:r>
            <a:r>
              <a:rPr sz="1900" i="1" b="1">
                <a:solidFill>
                  <a:srgbClr val="666666"/>
                </a:solidFill>
              </a:rPr>
              <a:t>số ít, chữ thường</a:t>
            </a:r>
            <a:r>
              <a:rPr sz="1900" i="1" b="0">
                <a:solidFill>
                  <a:srgbClr val="666666"/>
                </a:solidFill>
              </a:rPr>
              <a:t> (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product</a:t>
            </a:r>
            <a:r>
              <a:rPr sz="1900" i="1" b="0">
                <a:solidFill>
                  <a:srgbClr val="666666"/>
                </a:solidFill>
              </a:rPr>
              <a:t>,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user</a:t>
            </a:r>
            <a:r>
              <a:rPr sz="1900" i="1" b="0">
                <a:solidFill>
                  <a:srgbClr val="666666"/>
                </a:solidFill>
              </a:rPr>
              <a:t>); cột viết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snake_case</a:t>
            </a:r>
            <a:r>
              <a:rPr sz="1900" i="1" b="0">
                <a:solidFill>
                  <a:srgbClr val="666666"/>
                </a:solidFill>
              </a:rPr>
              <a:t> (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category_id</a:t>
            </a:r>
            <a:r>
              <a:rPr sz="1900" i="1" b="0">
                <a:solidFill>
                  <a:srgbClr val="666666"/>
                </a:solidFill>
              </a:rPr>
              <a:t>,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created_at</a:t>
            </a:r>
            <a:r>
              <a:rPr sz="1900" i="1" b="0">
                <a:solidFill>
                  <a:srgbClr val="666666"/>
                </a:solidFill>
              </a:rPr>
              <a:t>); khóa chính luôn là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900" i="1" b="0">
                <a:solidFill>
                  <a:srgbClr val="666666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1.2. Thiết kế CSDL dự án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Sơ đồ quan hệ của website *Quản lý sản phẩm*: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231648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category                  product                    user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+---------+           +---------------+          +------------+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| id (PK) |&lt;---+      | id (PK)       |          | id (PK)    |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| name    |    |      | category_id(FK)---+      | username   |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+---------+    +------| name          |          | password   |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      | price         |          | fullname   |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      | description   |          | is_admin   |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      | image         |          +------------+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      | created_at    |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      +---------------+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1.2. Thiết kế CSDL dự án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0"/>
              <a:t>Quan hệ: </a:t>
            </a:r>
            <a:r>
              <a:rPr sz="2000" b="1"/>
              <a:t>1 danh mục có nhiều sản phẩm</a:t>
            </a:r>
            <a:r>
              <a:rPr sz="2000" b="0"/>
              <a:t> (one-to-many) → khóa ngoại nằm ở bảng </a:t>
            </a:r>
            <a:r>
              <a:rPr sz="2000" b="0">
                <a:latin typeface="Consolas"/>
                <a:ea typeface="Consolas"/>
                <a:cs typeface="Consolas"/>
              </a:rPr>
              <a:t>product</a:t>
            </a:r>
            <a:r>
              <a:rPr sz="2000" b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1.3. Tạo CSDL bằng SQL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Vào phpMyAdmin → tab </a:t>
            </a:r>
            <a:r>
              <a:rPr sz="1500" b="1"/>
              <a:t>SQL</a:t>
            </a:r>
            <a:r>
              <a:rPr sz="1500" b="0"/>
              <a:t> → dán và chạy: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435864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-- Tao database, dung utf8mb4 de luu duoc tieng Viet co dau va emoji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CREATE DATABASE course8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CHARACTER SET utf8mb4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COLLATE utf8mb4_unicode_ci;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USE course8;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-- Bang danh muc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CREATE TABLE category 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id   INT AUTO_INCREMENT PRIMARY KEY,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name VARCHAR(100) NOT NULL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-- Bang nguoi dung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CREATE TABLE user 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id       INT AUTO_INCREMENT PRIMARY KEY,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username VARCHAR(50)  NOT NULL UNIQUE,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password VARCHAR(255) NOT NULL,      -- luu dang hash, buoi 5 se hoc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fullname VARCHAR(100),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is_admin TINYINT(1) DEFAULT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-- Bang san pham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CREATE TABLE product (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1.3. Tạo CSDL bằng SQL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2418588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id          INT AUTO_INCREMENT PRIMARY KEY,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category_id INT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name        VARCHAR(200)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price       INT NOT NULL DEFAULT 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description TEXT,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image       VARCHAR(255),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created_at  DATETIME DEFAULT CURRENT_TIMESTAMP,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FOREIGN KEY (category_id) REFERENCES category(id)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1.3. Tạo CSDL bằng SQL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Chèn dữ liệu mẫu: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333756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INSERT INTO category (name) VALUES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('Văn phòng phẩm'), ('Sách'), ('Đồ điện tử');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INSERT INTO product (category_id, name, price, description) VALUES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(1, 'Bút bi Thiên Long', 5000,  'Bút bi mực xanh, ngòi 0.5mm'),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(1, 'Vở ô ly 200 trang', 12000, 'Giấy trắng định lượng 70gsm'),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(1, 'Thước kẻ 20cm',     3000,  'Thước nhựa trong suốt'),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(2, 'Lập trình PHP căn bản', 150000, 'Sách 320 trang'),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(2, 'Học Vue trong 7 ngày',  180000, 'Sách kèm bài tập'),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(3, 'Chuột không dây',   250000, 'Kết nối USB 2.4GHz'),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(3, 'Bàn phím cơ',       890000, 'Switch blue, có đèn nền');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INSERT INTO user (username, password, fullname, is_admin) VALUES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('admin', '123456', 'Quản trị viên', 1),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('ngoctb', '123456', 'Trần Bích Ngọc', 0);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1.4. SELECT / UPDATE / DELETE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3643884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-- Lay tat ca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SELECT * FROM product;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-- Chon cot va loc dieu kien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SELECT id, name, price FROM product WHERE price &gt; 10000;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-- Sap xep va gioi han so ban ghi (dung cho phan trang o buoi 10)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SELECT * FROM product ORDER BY created_at DESC LIMIT 5;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SELECT * FROM product ORDER BY price ASC  LIMIT 5 OFFSET 5;   -- trang 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-- Tim kiem gan dung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SELECT * FROM product WHERE name LIKE '%bút%';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-- Cap nhat: LUON co WHERE, neu khong se sua toan bo bang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UPDATE product SET price = 6000 WHERE id = 1;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-- Xoa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DELETE FROM product WHERE id = 3;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1.4. SELECT / UPDATE / DELETE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900" i="1" b="1">
                <a:solidFill>
                  <a:srgbClr val="666666"/>
                </a:solidFill>
              </a:rPr>
              <a:t>Cảnh báo cho học viên:</a:t>
            </a:r>
            <a:r>
              <a:rPr sz="1900" i="1" b="0">
                <a:solidFill>
                  <a:srgbClr val="666666"/>
                </a:solidFill>
              </a:rPr>
              <a:t>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UPDATE</a:t>
            </a:r>
            <a:r>
              <a:rPr sz="1900" i="1" b="0">
                <a:solidFill>
                  <a:srgbClr val="666666"/>
                </a:solidFill>
              </a:rPr>
              <a:t>/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DELETE</a:t>
            </a:r>
            <a:r>
              <a:rPr sz="1900" i="1" b="0">
                <a:solidFill>
                  <a:srgbClr val="666666"/>
                </a:solidFill>
              </a:rPr>
              <a:t> không có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900" i="1" b="0">
                <a:solidFill>
                  <a:srgbClr val="666666"/>
                </a:solidFill>
              </a:rPr>
              <a:t> sẽ tác động lên </a:t>
            </a:r>
            <a:r>
              <a:rPr sz="1900" i="1" b="1">
                <a:solidFill>
                  <a:srgbClr val="666666"/>
                </a:solidFill>
              </a:rPr>
              <a:t>toàn bộ bảng</a:t>
            </a:r>
            <a:r>
              <a:rPr sz="1900" i="1" b="0">
                <a:solidFill>
                  <a:srgbClr val="666666"/>
                </a:solidFill>
              </a:rPr>
              <a:t>. Thói quen tốt: viết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900" i="1" b="0">
                <a:solidFill>
                  <a:srgbClr val="666666"/>
                </a:solidFill>
              </a:rPr>
              <a:t> với điều kiện đó trước, xem đúng số dòng rồi mới đổi thành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UPDATE</a:t>
            </a:r>
            <a:r>
              <a:rPr sz="1900" i="1" b="0">
                <a:solidFill>
                  <a:srgbClr val="666666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Tiết 2 — JOIN &amp; hàm tổng hợp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2.1. Vì sao cần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0"/>
              <a:t>Bảng </a:t>
            </a:r>
            <a:r>
              <a:rPr sz="2000" b="0">
                <a:latin typeface="Consolas"/>
                <a:ea typeface="Consolas"/>
                <a:cs typeface="Consolas"/>
              </a:rPr>
              <a:t>product</a:t>
            </a:r>
            <a:r>
              <a:rPr sz="2000" b="0"/>
              <a:t> chỉ lưu </a:t>
            </a:r>
            <a:r>
              <a:rPr sz="2000" b="0">
                <a:latin typeface="Consolas"/>
                <a:ea typeface="Consolas"/>
                <a:cs typeface="Consolas"/>
              </a:rPr>
              <a:t>category_id</a:t>
            </a:r>
            <a:r>
              <a:rPr sz="2000" b="0"/>
              <a:t> (số 1, 2, 3), người dùng cần thấy </a:t>
            </a:r>
            <a:r>
              <a:rPr sz="2000" b="1"/>
              <a:t>tên danh mục</a:t>
            </a:r>
            <a:r>
              <a:rPr sz="2000" b="0"/>
              <a:t>. JOIN dùng để nối dữ liệu từ nhiều bảng theo quan hệ khóa.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2.2. Các loại JOIN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3456686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-- INNER JOIN: chi lay cac dong khop o CA HAI bang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SELECT product.id, product.name, product.price, category.name AS category_name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FROM product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INNER JOIN category ON product.category_id = category.id;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-- Dung alias cho ngan gon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SELECT p.id, p.name, p.price, c.name AS category_name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FROM product 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INNER JOIN category c ON p.category_id = c.id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WHERE c.name = 'Sách'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ORDER BY p.price DESC;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-- LEFT JOIN: lay HET dong ben trai, ben phai khong khop thi tra NULL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-- Vi du: liet ke moi danh muc, ke ca danh muc chua co san pham nao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SELECT c.name AS category_name, p.name AS product_name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FROM category 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LEFT JOIN product p ON p.category_id = c.id;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2.2. Các loại JOIN (2/2)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Loại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Kết quả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INNER JOIN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Chỉ các dòng khớp ở cả hai bảng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LEFT JOIN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Toàn bộ bảng trái + phần khớp của bảng phải (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NULL</a:t>
                      </a:r>
                      <a:r>
                        <a:rPr sz="1000" b="0"/>
                        <a:t> nếu không có)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RIGHT JOIN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Ngược lại của LEFT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2.3. Hàm tổng hợp &amp; GROUP BY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333756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-- Cac ham tong hop co ban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SELECT COUNT(*) AS tong_so_san_pham FROM product;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SELECT SUM(price) AS tong_gia, AVG(price) AS gia_tb, MAX(price) AS cao_nhat FROM product;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-- GROUP BY: thong ke theo tung nhom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SELECT c.name AS danh_muc,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COUNT(p.id) AS so_luong,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AVG(p.price) AS gia_trung_binh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FROM category 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LEFT JOIN product p ON p.category_id = c.id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GROUP BY c.id, c.name;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-- HAVING: loc SAU khi gom nhom (WHERE loc TRUOC khi gom nhom)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SELECT c.name, COUNT(p.id) AS so_luong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FROM category 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INNER JOIN product p ON p.category_id = c.id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GROUP BY c.id, c.name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HAVING COUNT(p.id) &gt;= 2;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2.3. Hàm tổng hợp &amp; GROUP BY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900" i="1" b="1">
                <a:solidFill>
                  <a:srgbClr val="666666"/>
                </a:solidFill>
              </a:rPr>
              <a:t>Phân biệt WHERE và HAVING:</a:t>
            </a:r>
            <a:r>
              <a:rPr sz="1900" i="1" b="0">
                <a:solidFill>
                  <a:srgbClr val="666666"/>
                </a:solidFill>
              </a:rPr>
              <a:t>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900" i="1" b="0">
                <a:solidFill>
                  <a:srgbClr val="666666"/>
                </a:solidFill>
              </a:rPr>
              <a:t> lọc từng dòng trước khi gom nhóm;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HAVING</a:t>
            </a:r>
            <a:r>
              <a:rPr sz="1900" i="1" b="0">
                <a:solidFill>
                  <a:srgbClr val="666666"/>
                </a:solidFill>
              </a:rPr>
              <a:t> lọc kết quả sau khi đã gom nhóm và tính toán.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2.4. Thao tác trên giao diện phpMyAdmin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800" b="0"/>
              <a:t>Cho học viên làm lại bằng giao diện để hiểu SQL sinh ra phía sau:</a:t>
            </a:r>
          </a:p>
          <a:p>
            <a:pPr>
              <a:spcAft>
                <a:spcPts val="600"/>
              </a:spcAft>
            </a:pPr>
            <a:r>
              <a:rPr sz="1800" b="0"/>
              <a:t>Tab </a:t>
            </a:r>
            <a:r>
              <a:rPr sz="1800" b="1"/>
              <a:t>Structure</a:t>
            </a:r>
            <a:r>
              <a:rPr sz="1800" b="0"/>
              <a:t> → thêm cột </a:t>
            </a:r>
            <a:r>
              <a:rPr sz="1800" b="0">
                <a:latin typeface="Consolas"/>
                <a:ea typeface="Consolas"/>
                <a:cs typeface="Consolas"/>
              </a:rPr>
              <a:t>stock INT DEFAULT 0</a:t>
            </a:r>
            <a:r>
              <a:rPr sz="1800" b="0"/>
              <a:t> cho bảng </a:t>
            </a:r>
            <a:r>
              <a:rPr sz="1800" b="0">
                <a:latin typeface="Consolas"/>
                <a:ea typeface="Consolas"/>
                <a:cs typeface="Consolas"/>
              </a:rPr>
              <a:t>product</a:t>
            </a:r>
            <a:r>
              <a:rPr sz="1800" b="0"/>
              <a:t>.</a:t>
            </a:r>
          </a:p>
          <a:p>
            <a:pPr>
              <a:spcAft>
                <a:spcPts val="600"/>
              </a:spcAft>
            </a:pPr>
            <a:r>
              <a:rPr sz="1800" b="0"/>
              <a:t>Tab </a:t>
            </a:r>
            <a:r>
              <a:rPr sz="1800" b="1"/>
              <a:t>Insert</a:t>
            </a:r>
            <a:r>
              <a:rPr sz="1800" b="0"/>
              <a:t> → thêm 1 sản phẩm mới bằng form.</a:t>
            </a:r>
          </a:p>
          <a:p>
            <a:pPr>
              <a:spcAft>
                <a:spcPts val="600"/>
              </a:spcAft>
            </a:pPr>
            <a:r>
              <a:rPr sz="1800" b="0"/>
              <a:t>Tab </a:t>
            </a:r>
            <a:r>
              <a:rPr sz="1800" b="1"/>
              <a:t>Export</a:t>
            </a:r>
            <a:r>
              <a:rPr sz="1800" b="0"/>
              <a:t> → xuất file </a:t>
            </a:r>
            <a:r>
              <a:rPr sz="1800" b="0">
                <a:latin typeface="Consolas"/>
                <a:ea typeface="Consolas"/>
                <a:cs typeface="Consolas"/>
              </a:rPr>
              <a:t>course8.sql</a:t>
            </a:r>
            <a:r>
              <a:rPr sz="1800" b="0"/>
              <a:t> (chọn Format: SQL). </a:t>
            </a:r>
            <a:r>
              <a:rPr sz="1800" b="1"/>
              <a:t>Lưu file này lại</a:t>
            </a:r>
            <a:r>
              <a:rPr sz="1800" b="0"/>
              <a:t> — dùng để khôi</a:t>
            </a:r>
            <a:r>
              <a:rPr sz="1800" b="0"/>
              <a:t> </a:t>
            </a:r>
            <a:r>
              <a:rPr sz="1800" b="0"/>
              <a:t>phục dữ liệu khi hỏng và để nộp bài.</a:t>
            </a:r>
          </a:p>
          <a:p>
            <a:pPr>
              <a:spcAft>
                <a:spcPts val="600"/>
              </a:spcAft>
            </a:pPr>
            <a:r>
              <a:rPr sz="1800" b="0"/>
              <a:t>Tab </a:t>
            </a:r>
            <a:r>
              <a:rPr sz="1800" b="1"/>
              <a:t>Import</a:t>
            </a:r>
            <a:r>
              <a:rPr sz="1800" b="0"/>
              <a:t> → thử khôi phục từ file vừa xuất.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3. Thực hành tại lớp (1/3)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1"/>
              <a:t>Practice 1 — Tạo CSDL nhân sự.</a:t>
            </a:r>
            <a:r>
              <a:rPr sz="2000" b="0"/>
              <a:t> Ghi toàn bộ câu lệnh vào file </a:t>
            </a:r>
            <a:r>
              <a:rPr sz="2000" b="0">
                <a:latin typeface="Consolas"/>
                <a:ea typeface="Consolas"/>
                <a:cs typeface="Consolas"/>
              </a:rPr>
              <a:t>buoi3_practice1.sql</a:t>
            </a:r>
            <a:r>
              <a:rPr sz="2000" b="0"/>
              <a:t>.</a:t>
            </a:r>
          </a:p>
          <a:p>
            <a:pPr>
              <a:spcAft>
                <a:spcPts val="800"/>
              </a:spcAft>
            </a:pPr>
            <a:r>
              <a:rPr sz="2000" b="0"/>
              <a:t>Tạo 3 bảng: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3. Thực hành tại lớp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886968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department(id, name)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employee(id, department_id, fullname, dob, address, payment_per_hour)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worklog(id, employee_id, month, working_hour, overtime)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3. Thực hành tại lớp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400" b="0"/>
              <a:t>Công thức lương: </a:t>
            </a:r>
            <a:r>
              <a:rPr sz="1400" b="0">
                <a:latin typeface="Consolas"/>
                <a:ea typeface="Consolas"/>
                <a:cs typeface="Consolas"/>
              </a:rPr>
              <a:t>salary = working_hour * payment_per_hour + overtime * 2 * payment_per_hour</a:t>
            </a:r>
          </a:p>
          <a:p>
            <a:pPr>
              <a:spcAft>
                <a:spcPts val="800"/>
              </a:spcAft>
            </a:pPr>
            <a:r>
              <a:rPr sz="1400" b="0"/>
              <a:t>Yêu cầu:</a:t>
            </a:r>
          </a:p>
          <a:p>
            <a:pPr>
              <a:spcAft>
                <a:spcPts val="600"/>
              </a:spcAft>
            </a:pPr>
            <a:r>
              <a:rPr sz="1400" b="0">
                <a:latin typeface="Consolas"/>
                <a:ea typeface="Consolas"/>
                <a:cs typeface="Consolas"/>
              </a:rPr>
              <a:t>INSERT</a:t>
            </a:r>
            <a:r>
              <a:rPr sz="1400" b="0"/>
              <a:t> 3 phòng ban: Kinh doanh, Kỹ thuật, Tài vụ.</a:t>
            </a:r>
          </a:p>
          <a:p>
            <a:pPr>
              <a:spcAft>
                <a:spcPts val="600"/>
              </a:spcAft>
            </a:pPr>
            <a:r>
              <a:rPr sz="1400" b="0">
                <a:latin typeface="Consolas"/>
                <a:ea typeface="Consolas"/>
                <a:cs typeface="Consolas"/>
              </a:rPr>
              <a:t>INSERT</a:t>
            </a:r>
            <a:r>
              <a:rPr sz="1400" b="0"/>
              <a:t> 5 nhân viên cho mỗi phòng.</a:t>
            </a:r>
          </a:p>
          <a:p>
            <a:pPr>
              <a:spcAft>
                <a:spcPts val="600"/>
              </a:spcAft>
            </a:pPr>
            <a:r>
              <a:rPr sz="1400" b="0">
                <a:latin typeface="Consolas"/>
                <a:ea typeface="Consolas"/>
                <a:cs typeface="Consolas"/>
              </a:rPr>
              <a:t>INSERT</a:t>
            </a:r>
            <a:r>
              <a:rPr sz="1400" b="0"/>
              <a:t> dữ liệu giờ làm tháng 1 cho từng nhân viên.</a:t>
            </a:r>
          </a:p>
          <a:p>
            <a:pPr>
              <a:spcAft>
                <a:spcPts val="600"/>
              </a:spcAft>
            </a:pPr>
            <a:r>
              <a:rPr sz="1400" b="0"/>
              <a:t>Cập nhật </a:t>
            </a:r>
            <a:r>
              <a:rPr sz="1400" b="0">
                <a:latin typeface="Consolas"/>
                <a:ea typeface="Consolas"/>
                <a:cs typeface="Consolas"/>
              </a:rPr>
              <a:t>overtime = 100</a:t>
            </a:r>
            <a:r>
              <a:rPr sz="1400" b="0"/>
              <a:t> cho toàn bộ nhân viên phòng Tài vụ.</a:t>
            </a:r>
          </a:p>
          <a:p>
            <a:pPr>
              <a:spcAft>
                <a:spcPts val="600"/>
              </a:spcAft>
            </a:pPr>
            <a:r>
              <a:rPr sz="1400" b="0"/>
              <a:t>Đổi tên phòng "Kỹ thuật" thành "Dự án".</a:t>
            </a:r>
          </a:p>
          <a:p>
            <a:pPr>
              <a:spcAft>
                <a:spcPts val="600"/>
              </a:spcAft>
            </a:pPr>
            <a:r>
              <a:rPr sz="1400" b="0"/>
              <a:t>Giải tán phòng Kinh doanh: chuyển nhân viên sang phòng Dự án rồi xóa phòng đó.</a:t>
            </a:r>
          </a:p>
          <a:p>
            <a:pPr>
              <a:spcAft>
                <a:spcPts val="800"/>
              </a:spcAft>
            </a:pPr>
            <a:r>
              <a:rPr sz="1400" b="1"/>
              <a:t>Practice 2 — Truy vấn.</a:t>
            </a:r>
            <a:r>
              <a:rPr sz="1400" b="0"/>
              <a:t> Ghi vào </a:t>
            </a:r>
            <a:r>
              <a:rPr sz="1400" b="0">
                <a:latin typeface="Consolas"/>
                <a:ea typeface="Consolas"/>
                <a:cs typeface="Consolas"/>
              </a:rPr>
              <a:t>buoi3_practice2.sql</a:t>
            </a:r>
            <a:r>
              <a:rPr sz="1400" b="0"/>
              <a:t>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3. Thực hành tại lớp (tiếp)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 b="0"/>
              <a:t>Danh sách nhân viên phòng Dự án kèm tên phòng.</a:t>
            </a:r>
          </a:p>
          <a:p>
            <a:pPr>
              <a:spcAft>
                <a:spcPts val="600"/>
              </a:spcAft>
            </a:pPr>
            <a:r>
              <a:rPr sz="1800" b="0"/>
              <a:t>Tổng số nhân viên từng phòng.</a:t>
            </a:r>
          </a:p>
          <a:p>
            <a:pPr>
              <a:spcAft>
                <a:spcPts val="600"/>
              </a:spcAft>
            </a:pPr>
            <a:r>
              <a:rPr sz="1800" b="0"/>
              <a:t>Tên, ngày sinh và lương tháng 1 của nhân viên phòng Tài vụ, sắp xếp lương giảm dần.</a:t>
            </a:r>
          </a:p>
          <a:p>
            <a:pPr>
              <a:spcAft>
                <a:spcPts val="600"/>
              </a:spcAft>
            </a:pPr>
            <a:r>
              <a:rPr sz="1800" b="0"/>
              <a:t>Tổng lương phải trả của phòng Dự án.</a:t>
            </a:r>
          </a:p>
          <a:p>
            <a:pPr>
              <a:spcAft>
                <a:spcPts val="600"/>
              </a:spcAft>
            </a:pPr>
            <a:r>
              <a:rPr sz="1800" b="0"/>
              <a:t>Top 3 người lương cao nhất công ty.</a:t>
            </a:r>
          </a:p>
          <a:p>
            <a:pPr>
              <a:spcAft>
                <a:spcPts val="600"/>
              </a:spcAft>
            </a:pPr>
            <a:r>
              <a:rPr sz="1800" b="0"/>
              <a:t>Nhân viên có lương trong khoảng 3.000.000 – 5.000.000.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4. Bài tập về nhà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 b="0"/>
              <a:t>Hoàn thiện 2 practice, export ra </a:t>
            </a:r>
            <a:r>
              <a:rPr sz="1800" b="0">
                <a:latin typeface="Consolas"/>
                <a:ea typeface="Consolas"/>
                <a:cs typeface="Consolas"/>
              </a:rPr>
              <a:t>buoi3_homework.sql</a:t>
            </a:r>
            <a:r>
              <a:rPr sz="1800" b="0"/>
              <a:t>.</a:t>
            </a:r>
          </a:p>
          <a:p>
            <a:pPr>
              <a:spcAft>
                <a:spcPts val="600"/>
              </a:spcAft>
            </a:pPr>
            <a:r>
              <a:rPr sz="1800" b="0"/>
              <a:t>Bổ sung cho CSDL </a:t>
            </a:r>
            <a:r>
              <a:rPr sz="1800" b="0">
                <a:latin typeface="Consolas"/>
                <a:ea typeface="Consolas"/>
                <a:cs typeface="Consolas"/>
              </a:rPr>
              <a:t>course8</a:t>
            </a:r>
            <a:r>
              <a:rPr sz="1800" b="0"/>
              <a:t>: bảng </a:t>
            </a:r>
            <a:r>
              <a:rPr sz="1800" b="0">
                <a:latin typeface="Consolas"/>
                <a:ea typeface="Consolas"/>
                <a:cs typeface="Consolas"/>
              </a:rPr>
              <a:t>cart(id, user_id, product_id, quantity, bought_date)</a:t>
            </a:r>
            <a:r>
              <a:rPr sz="1800" b="0"/>
              <a:t> với</a:t>
            </a:r>
            <a:r>
              <a:rPr sz="1800" b="0"/>
              <a:t> </a:t>
            </a:r>
            <a:r>
              <a:rPr sz="1800" b="0"/>
              <a:t>2 khóa ngoại. Chèn vài dòng dữ liệu mẫu.</a:t>
            </a:r>
          </a:p>
          <a:p>
            <a:pPr>
              <a:spcAft>
                <a:spcPts val="600"/>
              </a:spcAft>
            </a:pPr>
            <a:r>
              <a:rPr sz="1800" b="0"/>
              <a:t>Viết 5 truy vấn tự nghĩ trên CSDL </a:t>
            </a:r>
            <a:r>
              <a:rPr sz="1800" b="0">
                <a:latin typeface="Consolas"/>
                <a:ea typeface="Consolas"/>
                <a:cs typeface="Consolas"/>
              </a:rPr>
              <a:t>course8</a:t>
            </a:r>
            <a:r>
              <a:rPr sz="1800" b="0"/>
              <a:t>, mỗi câu dùng ít nhất một trong:</a:t>
            </a:r>
            <a:r>
              <a:rPr sz="1800" b="0"/>
              <a:t> </a:t>
            </a:r>
            <a:r>
              <a:rPr sz="1800" b="0">
                <a:latin typeface="Consolas"/>
                <a:ea typeface="Consolas"/>
                <a:cs typeface="Consolas"/>
              </a:rPr>
              <a:t>JOIN</a:t>
            </a:r>
            <a:r>
              <a:rPr sz="1800" b="0"/>
              <a:t>, </a:t>
            </a:r>
            <a:r>
              <a:rPr sz="1800" b="0">
                <a:latin typeface="Consolas"/>
                <a:ea typeface="Consolas"/>
                <a:cs typeface="Consolas"/>
              </a:rPr>
              <a:t>GROUP BY</a:t>
            </a:r>
            <a:r>
              <a:rPr sz="1800" b="0"/>
              <a:t>, </a:t>
            </a:r>
            <a:r>
              <a:rPr sz="1800" b="0">
                <a:latin typeface="Consolas"/>
                <a:ea typeface="Consolas"/>
                <a:cs typeface="Consolas"/>
              </a:rPr>
              <a:t>LIKE</a:t>
            </a:r>
            <a:r>
              <a:rPr sz="1800" b="0"/>
              <a:t>, </a:t>
            </a:r>
            <a:r>
              <a:rPr sz="1800" b="0">
                <a:latin typeface="Consolas"/>
                <a:ea typeface="Consolas"/>
                <a:cs typeface="Consolas"/>
              </a:rPr>
              <a:t>LIMIT</a:t>
            </a:r>
            <a:r>
              <a:rPr sz="1800" b="0"/>
              <a:t>.</a:t>
            </a:r>
          </a:p>
          <a:p>
            <a:pPr>
              <a:spcAft>
                <a:spcPts val="600"/>
              </a:spcAft>
            </a:pPr>
            <a:r>
              <a:rPr sz="1800" b="1"/>
              <a:t>Quan trọng:</a:t>
            </a:r>
            <a:r>
              <a:rPr sz="1800" b="0"/>
              <a:t> export </a:t>
            </a:r>
            <a:r>
              <a:rPr sz="1800" b="0">
                <a:latin typeface="Consolas"/>
                <a:ea typeface="Consolas"/>
                <a:cs typeface="Consolas"/>
              </a:rPr>
              <a:t>course8.sql</a:t>
            </a:r>
            <a:r>
              <a:rPr sz="1800" b="0"/>
              <a:t> và giữ lại — buổi 4 sẽ kết nối PHP vào chính CSDL này.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5. Checklist cuối buổi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 b="0"/>
              <a:t>[ ] Tạo được database và bảng có khóa ngoại bằng cả SQL lẫn giao diện phpMyAdmin.</a:t>
            </a:r>
          </a:p>
          <a:p>
            <a:pPr>
              <a:spcAft>
                <a:spcPts val="600"/>
              </a:spcAft>
            </a:pPr>
            <a:r>
              <a:rPr sz="1800" b="0"/>
              <a:t>[ ] Viết được </a:t>
            </a:r>
            <a:r>
              <a:rPr sz="1800" b="0">
                <a:latin typeface="Consolas"/>
                <a:ea typeface="Consolas"/>
                <a:cs typeface="Consolas"/>
              </a:rPr>
              <a:t>SELECT</a:t>
            </a:r>
            <a:r>
              <a:rPr sz="1800" b="0"/>
              <a:t> có </a:t>
            </a:r>
            <a:r>
              <a:rPr sz="1800" b="0">
                <a:latin typeface="Consolas"/>
                <a:ea typeface="Consolas"/>
                <a:cs typeface="Consolas"/>
              </a:rPr>
              <a:t>WHERE</a:t>
            </a:r>
            <a:r>
              <a:rPr sz="1800" b="0"/>
              <a:t>, </a:t>
            </a:r>
            <a:r>
              <a:rPr sz="1800" b="0">
                <a:latin typeface="Consolas"/>
                <a:ea typeface="Consolas"/>
                <a:cs typeface="Consolas"/>
              </a:rPr>
              <a:t>ORDER BY</a:t>
            </a:r>
            <a:r>
              <a:rPr sz="1800" b="0"/>
              <a:t>, </a:t>
            </a:r>
            <a:r>
              <a:rPr sz="1800" b="0">
                <a:latin typeface="Consolas"/>
                <a:ea typeface="Consolas"/>
                <a:cs typeface="Consolas"/>
              </a:rPr>
              <a:t>LIMIT</a:t>
            </a:r>
            <a:r>
              <a:rPr sz="1800" b="0"/>
              <a:t>, </a:t>
            </a:r>
            <a:r>
              <a:rPr sz="1800" b="0">
                <a:latin typeface="Consolas"/>
                <a:ea typeface="Consolas"/>
                <a:cs typeface="Consolas"/>
              </a:rPr>
              <a:t>LIKE</a:t>
            </a:r>
            <a:r>
              <a:rPr sz="1800" b="0"/>
              <a:t>.</a:t>
            </a:r>
          </a:p>
          <a:p>
            <a:pPr>
              <a:spcAft>
                <a:spcPts val="600"/>
              </a:spcAft>
            </a:pPr>
            <a:r>
              <a:rPr sz="1800" b="0"/>
              <a:t>[ ] Giải thích được khác biệt </a:t>
            </a:r>
            <a:r>
              <a:rPr sz="1800" b="0">
                <a:latin typeface="Consolas"/>
                <a:ea typeface="Consolas"/>
                <a:cs typeface="Consolas"/>
              </a:rPr>
              <a:t>INNER JOIN</a:t>
            </a:r>
            <a:r>
              <a:rPr sz="1800" b="0"/>
              <a:t> và </a:t>
            </a:r>
            <a:r>
              <a:rPr sz="1800" b="0">
                <a:latin typeface="Consolas"/>
                <a:ea typeface="Consolas"/>
                <a:cs typeface="Consolas"/>
              </a:rPr>
              <a:t>LEFT JOIN</a:t>
            </a:r>
            <a:r>
              <a:rPr sz="1800" b="0"/>
              <a:t>.</a:t>
            </a:r>
          </a:p>
          <a:p>
            <a:pPr>
              <a:spcAft>
                <a:spcPts val="600"/>
              </a:spcAft>
            </a:pPr>
            <a:r>
              <a:rPr sz="1800" b="0"/>
              <a:t>[ ] Dùng được </a:t>
            </a:r>
            <a:r>
              <a:rPr sz="1800" b="0">
                <a:latin typeface="Consolas"/>
                <a:ea typeface="Consolas"/>
                <a:cs typeface="Consolas"/>
              </a:rPr>
              <a:t>GROUP BY</a:t>
            </a:r>
            <a:r>
              <a:rPr sz="1800" b="0"/>
              <a:t> với </a:t>
            </a:r>
            <a:r>
              <a:rPr sz="1800" b="0">
                <a:latin typeface="Consolas"/>
                <a:ea typeface="Consolas"/>
                <a:cs typeface="Consolas"/>
              </a:rPr>
              <a:t>COUNT</a:t>
            </a:r>
            <a:r>
              <a:rPr sz="1800" b="0"/>
              <a:t>/</a:t>
            </a:r>
            <a:r>
              <a:rPr sz="1800" b="0">
                <a:latin typeface="Consolas"/>
                <a:ea typeface="Consolas"/>
                <a:cs typeface="Consolas"/>
              </a:rPr>
              <a:t>SUM</a:t>
            </a:r>
            <a:r>
              <a:rPr sz="1800" b="0"/>
              <a:t>.</a:t>
            </a:r>
          </a:p>
          <a:p>
            <a:pPr>
              <a:spcAft>
                <a:spcPts val="600"/>
              </a:spcAft>
            </a:pPr>
            <a:r>
              <a:rPr sz="1800" b="0"/>
              <a:t>[ ] Có file </a:t>
            </a:r>
            <a:r>
              <a:rPr sz="1800" b="0">
                <a:latin typeface="Consolas"/>
                <a:ea typeface="Consolas"/>
                <a:cs typeface="Consolas"/>
              </a:rPr>
              <a:t>course8.sql</a:t>
            </a:r>
            <a:r>
              <a:rPr sz="1800" b="0"/>
              <a:t> export sẵn trên máy.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6. Tham khảo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 b="0"/>
              <a:t>SQL cơ bản: https://www.w3schools.com/sql/</a:t>
            </a:r>
          </a:p>
          <a:p>
            <a:pPr>
              <a:spcAft>
                <a:spcPts val="600"/>
              </a:spcAft>
            </a:pPr>
            <a:r>
              <a:rPr sz="2000" b="0"/>
              <a:t>SQL JOIN: https://www.w3schools.com/sql/sql_join.asp</a:t>
            </a:r>
          </a:p>
          <a:p>
            <a:pPr>
              <a:spcAft>
                <a:spcPts val="600"/>
              </a:spcAft>
            </a:pPr>
            <a:r>
              <a:rPr sz="2000" b="0"/>
              <a:t>Kiểu dữ liệu MySQL: https://dev.mysql.com/doc/refman/8.0/en/data-types.html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6880</TotalTime>
  <Words>328</Words>
  <Application>Microsoft Office PowerPoint</Application>
  <PresentationFormat>画面に合わせる (4:3)</PresentationFormat>
  <Paragraphs>57</Paragraphs>
  <Slides>19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Adjacency</vt:lpstr>
      <vt:lpstr>Khóa đào tạo Lập trình Web sử dụng PHP</vt:lpstr>
      <vt:lpstr>PowerPoint プレゼンテーション</vt:lpstr>
      <vt:lpstr>1. Form</vt:lpstr>
      <vt:lpstr>Các loại HTML input cơ bản</vt:lpstr>
      <vt:lpstr>Demo</vt:lpstr>
      <vt:lpstr>2. Truyền biến</vt:lpstr>
      <vt:lpstr>demo11.html – Page A - GET</vt:lpstr>
      <vt:lpstr>demo 11d.php - GET</vt:lpstr>
      <vt:lpstr>demo11.html – Page A - POST</vt:lpstr>
      <vt:lpstr>demo11.php – Page B - POST</vt:lpstr>
      <vt:lpstr>Self-handling</vt:lpstr>
      <vt:lpstr>Output</vt:lpstr>
      <vt:lpstr>Output</vt:lpstr>
      <vt:lpstr>Demo 3 – Dung Hidden</vt:lpstr>
      <vt:lpstr>Demo 3 – Page A</vt:lpstr>
      <vt:lpstr>Demo 3 – Page B</vt:lpstr>
      <vt:lpstr>Demo 3 – Page C - POST</vt:lpstr>
      <vt:lpstr>Practice 1</vt:lpstr>
      <vt:lpstr>Practice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Khóa đào tạo lập trình web sử dụng php</dc:title>
  <dc:creator>ngoctb</dc:creator>
  <cp:lastModifiedBy>Chu Van Quy</cp:lastModifiedBy>
  <cp:revision>2090</cp:revision>
  <dcterms:created xsi:type="dcterms:W3CDTF">2014-12-22T07:12:12Z</dcterms:created>
  <dcterms:modified xsi:type="dcterms:W3CDTF">2025-09-30T00:54:03Z</dcterms:modified>
</cp:coreProperties>
</file>