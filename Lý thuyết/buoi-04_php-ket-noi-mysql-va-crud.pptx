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6"/>
    <p:sldId id="271" r:id="rId5"/>
    <p:sldId id="272" r:id="rId4"/>
    <p:sldId id="273" r:id="rId3"/>
    <p:sldId id="274" r:id="rId2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00" autoAdjust="0"/>
  </p:normalViewPr>
  <p:slideViewPr>
    <p:cSldViewPr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529C2-2740-49AF-AD85-11B5D392103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765A4-D309-444E-9276-0B2CD25A6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8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1F5D2862-91D1-4AD8-B8BA-DEE8FF15728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E254BE3-F7ED-4F3E-8A95-B55AC90E785B}" type="datetimeFigureOut">
              <a:rPr lang="en-US" smtClean="0"/>
              <a:t>9/30/2025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400"/>
              <a:t>Khóa đào tạo
Lập trình Web: PHP · Vue · MySQL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Buổi 4 — PHP kết nối MySQL &amp; CRUD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600" b="0"/>
              <a:t>1. Mục tiêu</a:t>
            </a:r>
          </a:p>
          <a:p>
            <a:pPr>
              <a:spcAft>
                <a:spcPts val="600"/>
              </a:spcAft>
            </a:pPr>
            <a:r>
              <a:rPr sz="1600" b="0"/>
              <a:t>2. Chuẩn bị</a:t>
            </a:r>
          </a:p>
          <a:p>
            <a:pPr>
              <a:spcAft>
                <a:spcPts val="600"/>
              </a:spcAft>
            </a:pPr>
            <a:r>
              <a:rPr sz="1600" b="0"/>
              <a:t>Tiết 1 — Kết nối CSDL, hàm và include</a:t>
            </a:r>
          </a:p>
          <a:p>
            <a:pPr>
              <a:spcAft>
                <a:spcPts val="600"/>
              </a:spcAft>
            </a:pPr>
            <a:r>
              <a:rPr sz="1600" b="0"/>
              <a:t>Tiết 2 — CRUD hoàn chỉnh cho bảng product</a:t>
            </a:r>
          </a:p>
          <a:p>
            <a:pPr>
              <a:spcAft>
                <a:spcPts val="600"/>
              </a:spcAft>
            </a:pPr>
            <a:r>
              <a:rPr sz="1600" b="0"/>
              <a:t>3. Thực hành tại lớp</a:t>
            </a:r>
          </a:p>
          <a:p>
            <a:pPr>
              <a:spcAft>
                <a:spcPts val="600"/>
              </a:spcAft>
            </a:pPr>
            <a:r>
              <a:rPr sz="1600" b="0"/>
              <a:t>4. Bài tập về nhà</a:t>
            </a:r>
          </a:p>
          <a:p>
            <a:pPr>
              <a:spcAft>
                <a:spcPts val="600"/>
              </a:spcAft>
            </a:pPr>
            <a:r>
              <a:rPr sz="1600" b="0"/>
              <a:t>5. Checklist cuối buổi</a:t>
            </a:r>
          </a:p>
          <a:p>
            <a:pPr>
              <a:spcAft>
                <a:spcPts val="600"/>
              </a:spcAft>
            </a:pPr>
            <a:r>
              <a:rPr sz="1600" b="0"/>
              <a:t>6. Tham khảo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 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/>
              <a:t>Kết thúc buổi học, học viên có thể:</a:t>
            </a:r>
          </a:p>
          <a:p>
            <a:pPr>
              <a:spcAft>
                <a:spcPts val="600"/>
              </a:spcAft>
            </a:pPr>
            <a:r>
              <a:rPr sz="1800" b="0"/>
              <a:t>Kết nối PHP tới MySQL bằng </a:t>
            </a:r>
            <a:r>
              <a:rPr sz="1800" b="1"/>
              <a:t>PDO</a:t>
            </a:r>
            <a:r>
              <a:rPr sz="1800" b="0"/>
              <a:t> và bắt lỗi kết nối đúng cách.</a:t>
            </a:r>
          </a:p>
          <a:p>
            <a:pPr>
              <a:spcAft>
                <a:spcPts val="600"/>
              </a:spcAft>
            </a:pPr>
            <a:r>
              <a:rPr sz="1800" b="0"/>
              <a:t>Dùng </a:t>
            </a:r>
            <a:r>
              <a:rPr sz="1800" b="1"/>
              <a:t>prepared statement</a:t>
            </a:r>
            <a:r>
              <a:rPr sz="1800" b="0"/>
              <a:t> để truy vấn an toàn.</a:t>
            </a:r>
          </a:p>
          <a:p>
            <a:pPr>
              <a:spcAft>
                <a:spcPts val="600"/>
              </a:spcAft>
            </a:pPr>
            <a:r>
              <a:rPr sz="1800" b="0"/>
              <a:t>Dùng lại </a:t>
            </a:r>
            <a:r>
              <a:rPr sz="1800" b="0">
                <a:latin typeface="Consolas"/>
                <a:ea typeface="Consolas"/>
                <a:cs typeface="Consolas"/>
              </a:rPr>
              <a:t>app/common/</a:t>
            </a:r>
            <a:r>
              <a:rPr sz="1800" b="0"/>
              <a:t> đã dựng ở buổi 2, bổ sung thêm nhóm hàm truy vấn CSDL.</a:t>
            </a:r>
          </a:p>
          <a:p>
            <a:pPr>
              <a:spcAft>
                <a:spcPts val="600"/>
              </a:spcAft>
            </a:pPr>
            <a:r>
              <a:rPr sz="1800" b="0"/>
              <a:t>Xây dựng đủ 4 thao tác </a:t>
            </a:r>
            <a:r>
              <a:rPr sz="1800" b="1"/>
              <a:t>CRUD</a:t>
            </a:r>
            <a:r>
              <a:rPr sz="1800" b="0"/>
              <a:t> (Create, Read, Update, Delete) cho bảng </a:t>
            </a:r>
            <a:r>
              <a:rPr sz="1800" b="0">
                <a:latin typeface="Consolas"/>
                <a:ea typeface="Consolas"/>
                <a:cs typeface="Consolas"/>
              </a:rPr>
              <a:t>product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Tổ chức project theo cấu trúc thư mục rõ ràng thay vì để lộn xộn một chỗ.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 Chuẩn bị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/>
              <a:t>CSDL </a:t>
            </a:r>
            <a:r>
              <a:rPr sz="2000" b="0">
                <a:latin typeface="Consolas"/>
                <a:ea typeface="Consolas"/>
                <a:cs typeface="Consolas"/>
              </a:rPr>
              <a:t>course8</a:t>
            </a:r>
            <a:r>
              <a:rPr sz="2000" b="0"/>
              <a:t> từ buổi 3 đã có dữ liệu.</a:t>
            </a:r>
          </a:p>
          <a:p>
            <a:pPr>
              <a:spcAft>
                <a:spcPts val="600"/>
              </a:spcAft>
            </a:pPr>
            <a:r>
              <a:rPr sz="2000" b="0"/>
              <a:t>Thư mục </a:t>
            </a:r>
            <a:r>
              <a:rPr sz="2000" b="0">
                <a:latin typeface="Consolas"/>
                <a:ea typeface="Consolas"/>
                <a:cs typeface="Consolas"/>
              </a:rPr>
              <a:t>app/common/</a:t>
            </a:r>
            <a:r>
              <a:rPr sz="2000" b="0"/>
              <a:t> với </a:t>
            </a:r>
            <a:r>
              <a:rPr sz="2000" b="0">
                <a:latin typeface="Consolas"/>
                <a:ea typeface="Consolas"/>
                <a:cs typeface="Consolas"/>
              </a:rPr>
              <a:t>define.php</a:t>
            </a:r>
            <a:r>
              <a:rPr sz="2000" b="0"/>
              <a:t>, </a:t>
            </a:r>
            <a:r>
              <a:rPr sz="2000" b="0">
                <a:latin typeface="Consolas"/>
                <a:ea typeface="Consolas"/>
                <a:cs typeface="Consolas"/>
              </a:rPr>
              <a:t>commonFuncs.php</a:t>
            </a:r>
            <a:r>
              <a:rPr sz="2000" b="0"/>
              <a:t> đã dựng ở buổi 2.</a:t>
            </a:r>
          </a:p>
          <a:p>
            <a:pPr>
              <a:spcAft>
                <a:spcPts val="600"/>
              </a:spcAft>
            </a:pPr>
            <a:r>
              <a:rPr sz="2000" b="0"/>
              <a:t>Thư mục làm việc: </a:t>
            </a:r>
            <a:r>
              <a:rPr sz="2000" b="0">
                <a:latin typeface="Consolas"/>
                <a:ea typeface="Consolas"/>
                <a:cs typeface="Consolas"/>
              </a:rPr>
              <a:t>C:\xampp\htdocs\course8\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Tiết 1 — Kết nối CSDL, hàm và include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1.1. PDO hay MySQLi?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PDO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MySQLi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Hỗ trợ CSDL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12 loại, đổi CSDL ít phải sửa code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Chỉ MySQL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Phong cách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Hướng đối tượng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Hướng đối tượng + thủ tục</a:t>
                      </a:r>
                    </a:p>
                  </a:txBody>
                  <a:tcPr marL="54864" marR="54864" marT="27432" marB="27432"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/>
                        <a:t>Named parameter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Có (</a:t>
                      </a:r>
                      <a:r>
                        <a:rPr sz="1300" b="0">
                          <a:latin typeface="Consolas"/>
                          <a:ea typeface="Consolas"/>
                          <a:cs typeface="Consolas"/>
                        </a:rPr>
                        <a:t>:name</a:t>
                      </a:r>
                      <a:r>
                        <a:rPr sz="1300" b="0"/>
                        <a:t>)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 wrap="square"/>
                    <a:lstStyle/>
                    <a:p>
                      <a:r>
                        <a:rPr sz="1300" b="0"/>
                        <a:t>Không</a:t>
                      </a:r>
                    </a:p>
                  </a:txBody>
                  <a:tcPr marL="54864" marR="54864" marT="27432" marB="2743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1.1. PDO hay MySQLi?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Khóa này dùng PDO</a:t>
            </a:r>
            <a:r>
              <a:rPr sz="2000" b="0"/>
              <a:t> vì cú pháp thống nhất và prepared statement dễ đọc hơn.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1.2. File kết nối dbConnect.php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18846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app/common/dbConnect.php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Khai bao thong tin ket noi CSDL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$serverName = "localhost";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$dbUserName = "root";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$dbPassword = "";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$dbName     = "course8";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try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DSN: khai bao loai CSDL, host, ten db va bang ma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$dsn  = "mysql:host=$serverName;dbname=$dbName;charset=utf8mb4";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$conn = new PDO($dsn, $dbUserName, $dbPassword);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Bao loi duoi dang Exception thay vi im lang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$conn-&gt;setAttribute(PDO::ATTR_ERRMODE, PDO::ERRMODE_EXCEPTION);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Mac dinh tra ve mang ket hop (associative array)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$conn-&gt;setAttribute(PDO::ATTR_DEFAULT_FETCH_MODE, PDO::FETCH_ASSOC);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 catch (PDOException $e)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echo "Lỗi kết nối CSDL: &lt;br&gt;" . $e-&gt;getMessage();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exit();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1.2. File kết nối dbConnect.php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Vì sao tách riêng file?</a:t>
            </a:r>
            <a:r>
              <a:rPr sz="1900" i="1" b="0">
                <a:solidFill>
                  <a:srgbClr val="666666"/>
                </a:solidFill>
              </a:rPr>
              <a:t> Thông tin kết nối chỉ khai báo </a:t>
            </a:r>
            <a:r>
              <a:rPr sz="1900" i="1" b="1">
                <a:solidFill>
                  <a:srgbClr val="666666"/>
                </a:solidFill>
              </a:rPr>
              <a:t>một chỗ duy nhất</a:t>
            </a:r>
            <a:r>
              <a:rPr sz="1900" i="1" b="0">
                <a:solidFill>
                  <a:srgbClr val="666666"/>
                </a:solidFill>
              </a:rPr>
              <a:t>. Khi đổi mật khẩu MySQL hoặc mang code sang máy khác, chỉ sửa 1 file thay vì sửa 20 file.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1.3. include và require — ôn nhanh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Phần này đã học kỹ ở </a:t>
            </a:r>
            <a:r>
              <a:rPr sz="1500" b="1"/>
              <a:t>buổi 2</a:t>
            </a:r>
            <a:r>
              <a:rPr sz="1500" b="0"/>
              <a:t>, đây chỉ là nhắc lại để áp dụng cho file kết nối CSDL.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129540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include "app/common/dbConnect.php";   // thieu file -&gt; canh bao, chuong trinh chay tiep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 "app/common/dbConnect.php";   // thieu file -&gt; loi nghiem trong, dung han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"app/common/dbConnect.php";  // chi nhung 1 lan, du goi nhieu lan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1.3. include và require — ôn nhanh (2/5)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Quy ước trong khóa:</a:t>
            </a:r>
            <a:r>
              <a:rPr sz="2000" b="0"/>
              <a:t> dùng </a:t>
            </a:r>
            <a:r>
              <a:rPr sz="2000" b="0">
                <a:latin typeface="Consolas"/>
                <a:ea typeface="Consolas"/>
                <a:cs typeface="Consolas"/>
              </a:rPr>
              <a:t>require_once</a:t>
            </a:r>
            <a:r>
              <a:rPr sz="2000" b="0"/>
              <a:t> cho file kết nối và file hàm dùng chung (bắt buộc phải có mới chạy được); dùng </a:t>
            </a:r>
            <a:r>
              <a:rPr sz="2000" b="0">
                <a:latin typeface="Consolas"/>
                <a:ea typeface="Consolas"/>
                <a:cs typeface="Consolas"/>
              </a:rPr>
              <a:t>include</a:t>
            </a:r>
            <a:r>
              <a:rPr sz="2000" b="0"/>
              <a:t> cho các phần giao diện như header/footer.</a:t>
            </a:r>
          </a:p>
          <a:p>
            <a:pPr>
              <a:spcAft>
                <a:spcPts val="800"/>
              </a:spcAft>
            </a:pPr>
            <a:r>
              <a:rPr sz="2000" b="0"/>
              <a:t>Ví dụ tách giao diện dùng chung: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1.3. include và require — ôn nhanh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292912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&lt;html lang="vi"&gt;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&lt;head&gt;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&lt;meta charset="utf-8"&gt;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&lt;title&gt;&lt;?= $pageTitle ?? "Mini Shop" ?&gt;&lt;/title&gt;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&lt;link rel="stylesheet" href="/course8/assets/style.css"&gt;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&lt;/head&gt;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class="header"&gt;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&lt;a href="index.php"&gt;Trang chủ&lt;/a&gt;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&lt;a href="product_list.php"&gt;Sản phẩm&lt;/a&gt;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&lt;a href="login.php"&gt;Tài khoản&lt;/a&gt;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1.3. include và require — ôn nhanh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88696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&lt;div class="footer"&gt;Người thiết kế: Nhóm ... — Lớp PHP khóa 8&lt;/div&gt;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&lt;/body&gt;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1.3. include và require — ôn nhanh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Dùng trong mọi trang: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170383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$pageTitle = "Danh sách sản phẩm";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include "app/view/header.php";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&lt;h2&gt;Nội dung riêng của trang này&lt;/h2&gt;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include "app/view/footer.php"; ?&gt;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1.4. Hàm tự định nghĩa — commonFuncs.php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app/common/commonFuncs.php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/*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* Chay 1 cau truy van SELECT co tham so, tra ve mang cac dong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* $conn   : ket noi PDO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* $sql    : cau SQL co placeholder dang :ten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* $params : mang tham so, vi du ["id" =&gt; 5]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*/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truyVanNhieuDong($conn, $sql, $params = [])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$stmt = $conn-&gt;prepare($sql);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$stmt-&gt;execute($params);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$stmt-&gt;fetchAll();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Tra ve 1 dong duy nhat, hoac false neu khong co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truyVanMotDong($conn, $sql, $params = [])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$stmt = $conn-&gt;prepare($sql);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$stmt-&gt;execute($params);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$stmt-&gt;fetch();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Chay INSERT / UPDATE / DELETE, tra ve so dong bi anh huong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thucThi($conn, $sql, $params = []) {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1.4. Hàm tự định nghĩa — commonFuncs.php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333756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$stmt = $conn-&gt;prepare($sql);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$stmt-&gt;execute($params);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$stmt-&gt;rowCount();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Dinh dang tien VND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dinhDangTien($soTien)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number_format($soTien, 0, ",", ".") . " đ";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Chong XSS: luon dung ham nay khi in du lieu nguoi dung nhap ra HTML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anToan($chuoi)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htmlspecialchars($chuoi ?? "", ENT_QUOTES, "UTF-8");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1.4. Hàm tự định nghĩa — commonFuncs.php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Nhắc lại cú pháp hàm: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1227328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function tenHam($thamSo1, $thamSo2 = "giá trị mặc định")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xu ly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return $ketQua;   // co the khong co return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1.5. Cấu trúc thư mục dự 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383108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htdocs/course8/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├── app/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├── common/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│   ├── dbConnect.php      # ket noi CSDL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│   ├── commonFuncs.php    # ham dung chung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│   └── define.php         # hang so: ITEM_PER_PAGE, SITE_NAME...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├── model/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│   └── product.php        # cac ham truy van bang product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└── view/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    ├── header.php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    └── footer.php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├── assets/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├── style.css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│   └── images/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├── index.php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├── product_list.php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├── product_add.php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├── product_edit.php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└── product_delete.php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800"/>
              <a:t>Tiết 2 — CRUD hoàn chỉnh cho bảng product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2.1. Prepared statement — tại sao bắt buộc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211226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❌ SAI - noi chuoi truc tiep, dinh SQL Injection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$sql = "SELECT * FROM product WHERE id = " . $_GET["id"];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✅ ĐÚNG - dung placeholder, du lieu duoc tach khoi cau lenh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$sql  = "SELECT * FROM product WHERE id = :id";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$stmt = $conn-&gt;prepare($sql);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$stmt-&gt;execute(["id" =&gt; $_GET["id"]]);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/>
              <a:t>2.1. Prepared statement — tại sao bắt buộc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Nếu người dùng nhập </a:t>
            </a:r>
            <a:r>
              <a:rPr sz="2000" b="0">
                <a:latin typeface="Consolas"/>
                <a:ea typeface="Consolas"/>
                <a:cs typeface="Consolas"/>
              </a:rPr>
              <a:t>id = 1 OR 1=1</a:t>
            </a:r>
            <a:r>
              <a:rPr sz="2000" b="0"/>
              <a:t> vào cách sai, câu lệnh trở thành </a:t>
            </a:r>
            <a:r>
              <a:rPr sz="2000" b="0">
                <a:latin typeface="Consolas"/>
                <a:ea typeface="Consolas"/>
                <a:cs typeface="Consolas"/>
              </a:rPr>
              <a:t>SELECT * FROM product WHERE id = 1 OR 1=1</a:t>
            </a:r>
            <a:r>
              <a:rPr sz="2000" b="0"/>
              <a:t> → trả về </a:t>
            </a:r>
            <a:r>
              <a:rPr sz="2000" b="1"/>
              <a:t>toàn bộ bảng</a:t>
            </a:r>
            <a:r>
              <a:rPr sz="2000" b="0"/>
              <a:t>. Buổi 5 sẽ khai thác thử.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2.2. READ — Danh sách sản phẩm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product_list.php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"app/common/dbConnect.php";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"app/common/commonFuncs.php";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Lay san pham kem ten danh muc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$sql = "SELECT p.id, p.name, p.price, p.image, c.name AS category_name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FROM product 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INNER JOIN category c ON p.category_id = c.id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ORDER BY p.created_at DESC";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$dsSanPham = truyVanNhieuDong($conn, $sql);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$pageTitle = "Danh sách sản phẩm";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include "app/view/header.php";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&lt;h2&gt;Danh sách sản phẩm&lt;/h2&gt;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&lt;a href="product_add.php"&gt;+ Thêm sản phẩm&lt;/a&gt;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&lt;table border="1" cellpadding="8" cellspacing="0"&gt;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&lt;th&gt;ID&lt;/th&gt;&lt;th&gt;Tên sản phẩm&lt;/th&gt;&lt;th&gt;Danh mục&lt;/th&gt;&lt;th&gt;Giá&lt;/th&gt;&lt;th&gt;Thao tác&lt;/th&gt;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2.2. READ — Danh sách sản phẩm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018279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&lt;?php if (count($dsSanPham) === 0):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&lt;tr&gt;&lt;td colspan="5"&gt;Chưa có sản phẩm nào.&lt;/td&gt;&lt;/tr&gt;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&lt;?php endif;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&lt;?php foreach ($dsSanPham as $sp):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&lt;td&gt;&lt;?= $sp["id"] ?&gt;&lt;/td&gt;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&lt;td&gt;&lt;?= anToan($sp["name"]) ?&gt;&lt;/td&gt;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&lt;td&gt;&lt;?= anToan($sp["category_name"]) ?&gt;&lt;/td&gt;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&lt;td&gt;&lt;?= dinhDangTien($sp["price"]) ?&gt;&lt;/td&gt;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&lt;td&gt;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&lt;a href="product_edit.php?id=&lt;?= $sp["id"] ?&gt;"&gt;Sửa&lt;/a&gt; |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&lt;a href="product_delete.php?id=&lt;?= $sp["id"] ?&gt;"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onclick="return confirm('Bạn chắc chắn muốn xóa?')"&gt;Xóa&lt;/a&gt;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&lt;/td&gt;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&lt;/tr&gt;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&lt;?php endforeach;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&lt;/table&gt;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include "app/view/footer.php"; ?&gt;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2.3. CREATE — Thêm sản phẩm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product_add.php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"app/common/dbConnect.php";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"app/common/commonFuncs.php";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$thongBao = "";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Chi xu ly khi form duoc submit bang POST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($_SERVER["REQUEST_METHOD"] === "POST")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$name       = trim($_POST["name"] ?? "");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$price      = (int)($_POST["price"] ?? 0);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$categoryId = (int)($_POST["category_id"] ?? 0);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$moTa       = trim($_POST["description"] ?? "");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// Kiem tra du lieu dau vao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if ($name === "")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$thongBao = "Tên sản phẩm không được để trống";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 elseif ($price &lt;= 0)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$thongBao = "Giá phải lớn hơn 0";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 else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$sql = "INSERT INTO product (category_id, name, price, description)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VALUES (:category_id, :name, :price, :description)";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thucThi($conn, $sql,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"category_id" =&gt; $categoryId,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2.3. CREATE — Thêm sản phẩm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"name"        =&gt; $name,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"price"       =&gt; $price,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"description" =&gt; $moTa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        // Chuyen huong ve danh sach sau khi them thanh cong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header("Location: product_list.php");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exit();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Lay danh muc de do vao combo box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$dsDanhMuc = truyVanNhieuDong($conn, "SELECT id, name FROM category ORDER BY name");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$pageTitle = "Thêm sản phẩm";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include "app/view/header.php";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&lt;h2&gt;Thêm sản phẩm&lt;/h2&gt;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if ($thongBao !== ""):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 style="color:red"&gt;&lt;?= $thongBao ?&gt;&lt;/p&gt;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endif;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2.3. CREATE — Thêm sản phẩm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333756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method="post" action="product_add.php"&gt;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Tên sản phẩm: &lt;input type="text" name="name" value="&lt;?= anToan($_POST["name"] ?? "") ?&gt;"&gt;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Danh mục: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&lt;select name="category_id"&gt;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&lt;?php foreach ($dsDanhMuc as $dm):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&lt;option value="&lt;?= $dm["id"] ?&gt;"&gt;&lt;?= anToan($dm["name"]) ?&gt;&lt;/option&gt;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&lt;?php endforeach;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&lt;/select&gt;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&lt;p&gt;Giá: &lt;input type="number" name="price" value="0"&gt;&lt;/p&gt;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&lt;p&gt;Mô tả: &lt;textarea name="description" rows="4" cols="40"&gt;&lt;/textarea&gt;&lt;/p&gt;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&lt;p&gt;&lt;button type="submit"&gt;Lưu&lt;/button&gt; &lt;a href="product_list.php"&gt;Hủy&lt;/a&gt;&lt;/p&gt;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&lt;/form&gt;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include "app/view/footer.php"; ?&gt;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200"/>
              <a:t>2.3. CREATE — Thêm sản phẩm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900" i="1" b="1">
                <a:solidFill>
                  <a:srgbClr val="666666"/>
                </a:solidFill>
              </a:rPr>
              <a:t>Mẫu Post/Redirect/Get:</a:t>
            </a:r>
            <a:r>
              <a:rPr sz="1900" i="1" b="0">
                <a:solidFill>
                  <a:srgbClr val="666666"/>
                </a:solidFill>
              </a:rPr>
              <a:t> sau khi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900" i="1" b="0">
                <a:solidFill>
                  <a:srgbClr val="666666"/>
                </a:solidFill>
              </a:rPr>
              <a:t> thành công phải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header("Location: ...")</a:t>
            </a:r>
            <a:r>
              <a:rPr sz="1900" i="1" b="0">
                <a:solidFill>
                  <a:srgbClr val="666666"/>
                </a:solidFill>
              </a:rPr>
              <a:t> rồi </a:t>
            </a:r>
            <a:r>
              <a:rPr sz="1900" i="1" b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exit()</a:t>
            </a:r>
            <a:r>
              <a:rPr sz="1900" i="1" b="0">
                <a:solidFill>
                  <a:srgbClr val="666666"/>
                </a:solidFill>
              </a:rPr>
              <a:t>. Nếu không, người dùng bấm F5 sẽ gửi lại form và tạo ra bản ghi trùng.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2.4. UPDATE — Sửa sản phẩm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product_edit.php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"app/common/dbConnect.php";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"app/common/commonFuncs.php";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$id = (int)($_GET["id"] ?? 0);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($_SERVER["REQUEST_METHOD"] === "POST")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$sql = "UPDATE product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SET name = :name, price = :price, category_id = :category_id,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    description = :description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WHERE id = :id";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thucThi($conn, $sql, 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"name"        =&gt; trim($_POST["name"]),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"price"       =&gt; (int)$_POST["price"],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"category_id" =&gt; (int)$_POST["category_id"],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"description" =&gt; trim($_POST["description"]),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"id"          =&gt; $id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header("Location: product_list.php");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exit();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Lay du lieu hien tai de do san vao form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2.4. UPDATE — Sửa sản phẩm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$sanPham = truyVanMotDong($conn, "SELECT * FROM product WHERE id = :id", ["id" =&gt; $id]);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(!$sanPham)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die("Không tìm thấy sản phẩm có id = $id");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$dsDanhMuc = truyVanNhieuDong($conn, "SELECT id, name FROM category ORDER BY name");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$pageTitle = "Sửa sản phẩm";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include "app/view/header.php";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&lt;h2&gt;Sửa sản phẩm #&lt;?= $sanPham["id"] ?&gt;&lt;/h2&gt;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&lt;form method="post"&gt;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&lt;p&gt;Tên: &lt;input type="text" name="name" value="&lt;?= anToan($sanPham["name"]) ?&gt;"&gt;&lt;/p&gt;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Danh mục: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&lt;select name="category_id"&gt;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&lt;?php foreach ($dsDanhMuc as $dm):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&lt;option value="&lt;?= $dm["id"] ?&gt;"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&lt;?= $dm["id"] == $sanPham["category_id"] ? "selected" : "" ?&gt;&gt;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&lt;?= anToan($dm["name"]) ?&gt;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&lt;/option&gt;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&lt;?php endforeach; ?&gt;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2.4. UPDATE — Sửa sản phẩm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163576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&lt;/select&gt;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&lt;p&gt;Giá: &lt;input type="number" name="price" value="&lt;?= $sanPham["price"] ?&gt;"&gt;&lt;/p&gt;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&lt;p&gt;Mô tả: &lt;textarea name="description" rows="4" cols="40"&gt;&lt;?= anToan($sanPham["description"]) ?&gt;&lt;/textarea&gt;&lt;/p&gt;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&lt;p&gt;&lt;button type="submit"&gt;Cập nhật&lt;/button&gt;&lt;/p&gt;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&lt;/form&gt;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 include "app/view/footer.php"; ?&gt;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2.5. DELETE — Xóa sản phẩm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2895092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product_delete.php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"app/common/dbConnect.php";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"app/common/commonFuncs.php";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$id = (int)($_GET["id"] ?? 0);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if ($id &gt; 0)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thucThi($conn, "DELETE FROM product WHERE id = :id", ["id" =&gt; $id]);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header("Location: product_list.php");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exit();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2.6. Tách tầng model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Khi số truy vấn tăng lên, gom các câu SQL của một bảng vào một file: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64208"/>
            <a:ext cx="8412480" cy="4358640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&lt;?php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4A804A"/>
                </a:solidFill>
                <a:latin typeface="Consolas"/>
                <a:ea typeface="Consolas"/>
                <a:cs typeface="Consolas"/>
              </a:rPr>
              <a:t>    // File: app/model/product.php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require_once __DIR__ . "/../common/commonFuncs.php";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layTatCaSanPham($conn)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$sql = "SELECT p.*, c.name AS category_name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FROM product 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INNER JOIN category c ON p.category_id = c.id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ORDER BY p.created_at DESC";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truyVanNhieuDong($conn, $sql);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laySanPhamTheoId($conn, $id)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truyVanMotDong($conn, "SELECT * FROM product WHERE id = :id", ["id" =&gt; $id]);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themSanPham($conn, $data)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$sql = "INSERT INTO product (category_id, name, price, description)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        VALUES (:category_id, :name, :price, :description)";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thucThi($conn, $sql, $data);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function xoaSanPham($conn, $id)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    return thucThi($conn, "DELETE FROM product WHERE id = :id", ["id" =&gt; $id]);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2.6. Tách tầng model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412480" cy="750824"/>
          </a:xfrm>
          <a:prstGeom prst="rect">
            <a:avLst/>
          </a:prstGeom>
          <a:solidFill>
            <a:srgbClr val="F5F5F0"/>
          </a:solidFill>
          <a:ln w="9525">
            <a:solidFill>
              <a:srgbClr val="C0C0B8"/>
            </a:solidFill>
          </a:ln>
        </p:spPr>
        <p:txBody>
          <a:bodyPr wrap="none" lIns="137160" tIns="91440" bIns="9144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?&gt;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2.6. Tách tầng model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2000" b="0"/>
              <a:t>Sau đó </a:t>
            </a:r>
            <a:r>
              <a:rPr sz="2000" b="0">
                <a:latin typeface="Consolas"/>
                <a:ea typeface="Consolas"/>
                <a:cs typeface="Consolas"/>
              </a:rPr>
              <a:t>product_list.php</a:t>
            </a:r>
            <a:r>
              <a:rPr sz="2000" b="0"/>
              <a:t> chỉ còn: </a:t>
            </a:r>
            <a:r>
              <a:rPr sz="2000" b="0">
                <a:latin typeface="Consolas"/>
                <a:ea typeface="Consolas"/>
                <a:cs typeface="Consolas"/>
              </a:rPr>
              <a:t>$dsSanPham = layTatCaSanPham($conn);</a:t>
            </a:r>
            <a:r>
              <a:rPr sz="2000" b="0"/>
              <a:t> — trang giao diện không còn chứa SQL. Đây là bước đệm để hiểu mô hình MVC.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3. Thực hành tại lớp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600" b="1"/>
              <a:t>Practice 1</a:t>
            </a:r>
            <a:r>
              <a:rPr sz="1600" b="0"/>
              <a:t> — Dựng đúng cấu trúc thư mục ở mục 1.5, tạo </a:t>
            </a:r>
            <a:r>
              <a:rPr sz="1600" b="0">
                <a:latin typeface="Consolas"/>
                <a:ea typeface="Consolas"/>
                <a:cs typeface="Consolas"/>
              </a:rPr>
              <a:t>dbConnect.php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commonFuncs.php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header.php</a:t>
            </a:r>
            <a:r>
              <a:rPr sz="1600" b="0"/>
              <a:t>, </a:t>
            </a:r>
            <a:r>
              <a:rPr sz="1600" b="0">
                <a:latin typeface="Consolas"/>
                <a:ea typeface="Consolas"/>
                <a:cs typeface="Consolas"/>
              </a:rPr>
              <a:t>footer.php</a:t>
            </a:r>
            <a:r>
              <a:rPr sz="1600" b="0"/>
              <a:t>. Chạy được </a:t>
            </a:r>
            <a:r>
              <a:rPr sz="1600" b="0">
                <a:latin typeface="Consolas"/>
                <a:ea typeface="Consolas"/>
                <a:cs typeface="Consolas"/>
              </a:rPr>
              <a:t>product_list.php</a:t>
            </a:r>
            <a:r>
              <a:rPr sz="1600" b="0"/>
              <a:t> hiển thị dữ liệu thật từ CSDL.</a:t>
            </a:r>
          </a:p>
          <a:p>
            <a:pPr>
              <a:spcAft>
                <a:spcPts val="800"/>
              </a:spcAft>
            </a:pPr>
            <a:r>
              <a:rPr sz="1600" b="1"/>
              <a:t>Practice 2</a:t>
            </a:r>
            <a:r>
              <a:rPr sz="1600" b="0"/>
              <a:t> — Hoàn thiện đủ 4 file CRUD cho bảng </a:t>
            </a:r>
            <a:r>
              <a:rPr sz="1600" b="0">
                <a:latin typeface="Consolas"/>
                <a:ea typeface="Consolas"/>
                <a:cs typeface="Consolas"/>
              </a:rPr>
              <a:t>product</a:t>
            </a:r>
            <a:r>
              <a:rPr sz="1600" b="0"/>
              <a:t>. Yêu cầu:</a:t>
            </a:r>
          </a:p>
          <a:p>
            <a:pPr>
              <a:spcAft>
                <a:spcPts val="600"/>
              </a:spcAft>
            </a:pPr>
            <a:r>
              <a:rPr sz="1600" b="0"/>
              <a:t>Nút Xóa có xác nhận trước khi thực hiện.</a:t>
            </a:r>
          </a:p>
          <a:p>
            <a:pPr>
              <a:spcAft>
                <a:spcPts val="600"/>
              </a:spcAft>
            </a:pPr>
            <a:r>
              <a:rPr sz="1600" b="0"/>
              <a:t>Form thêm/sửa báo lỗi đỏ khi tên trống hoặc giá ≤ 0.</a:t>
            </a:r>
          </a:p>
          <a:p>
            <a:pPr>
              <a:spcAft>
                <a:spcPts val="600"/>
              </a:spcAft>
            </a:pPr>
            <a:r>
              <a:rPr sz="1600" b="0"/>
              <a:t>Mọi truy vấn dùng prepared statement, mọi dữ liệu in ra dùng </a:t>
            </a:r>
            <a:r>
              <a:rPr sz="1600" b="0">
                <a:latin typeface="Consolas"/>
                <a:ea typeface="Consolas"/>
                <a:cs typeface="Consolas"/>
              </a:rPr>
              <a:t>anToan()</a:t>
            </a:r>
            <a:r>
              <a:rPr sz="1600" b="0"/>
              <a:t>.</a:t>
            </a:r>
          </a:p>
          <a:p>
            <a:pPr>
              <a:spcAft>
                <a:spcPts val="800"/>
              </a:spcAft>
            </a:pPr>
            <a:r>
              <a:rPr sz="1600" b="1"/>
              <a:t>Practice 3</a:t>
            </a:r>
            <a:r>
              <a:rPr sz="1600" b="0"/>
              <a:t> — Viết </a:t>
            </a:r>
            <a:r>
              <a:rPr sz="1600" b="0">
                <a:latin typeface="Consolas"/>
                <a:ea typeface="Consolas"/>
                <a:cs typeface="Consolas"/>
              </a:rPr>
              <a:t>category_list.php</a:t>
            </a:r>
            <a:r>
              <a:rPr sz="1600" b="0"/>
              <a:t> + CRUD cho bảng </a:t>
            </a:r>
            <a:r>
              <a:rPr sz="1600" b="0">
                <a:latin typeface="Consolas"/>
                <a:ea typeface="Consolas"/>
                <a:cs typeface="Consolas"/>
              </a:rPr>
              <a:t>category</a:t>
            </a:r>
            <a:r>
              <a:rPr sz="1600" b="0"/>
              <a:t>, tái sử dụng các hàm trong </a:t>
            </a:r>
            <a:r>
              <a:rPr sz="1600" b="0">
                <a:latin typeface="Consolas"/>
                <a:ea typeface="Consolas"/>
                <a:cs typeface="Consolas"/>
              </a:rPr>
              <a:t>commonFuncs.php</a:t>
            </a:r>
            <a:r>
              <a:rPr sz="1600" b="0"/>
              <a:t>. Không cho xóa danh mục đang có sản phẩm (kiểm tra bằng </a:t>
            </a:r>
            <a:r>
              <a:rPr sz="1600" b="0">
                <a:latin typeface="Consolas"/>
                <a:ea typeface="Consolas"/>
                <a:cs typeface="Consolas"/>
              </a:rPr>
              <a:t>COUNT</a:t>
            </a:r>
            <a:r>
              <a:rPr sz="1600" b="0"/>
              <a:t> trước khi xóa).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4. Bài tập về nhà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/>
              <a:t>Hoàn thiện toàn bộ CRUD cho </a:t>
            </a:r>
            <a:r>
              <a:rPr sz="1800" b="0">
                <a:latin typeface="Consolas"/>
                <a:ea typeface="Consolas"/>
                <a:cs typeface="Consolas"/>
              </a:rPr>
              <a:t>product</a:t>
            </a:r>
            <a:r>
              <a:rPr sz="1800" b="0"/>
              <a:t> và </a:t>
            </a:r>
            <a:r>
              <a:rPr sz="1800" b="0">
                <a:latin typeface="Consolas"/>
                <a:ea typeface="Consolas"/>
                <a:cs typeface="Consolas"/>
              </a:rPr>
              <a:t>category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Chuyển hết SQL của </a:t>
            </a:r>
            <a:r>
              <a:rPr sz="1800" b="0">
                <a:latin typeface="Consolas"/>
                <a:ea typeface="Consolas"/>
                <a:cs typeface="Consolas"/>
              </a:rPr>
              <a:t>product</a:t>
            </a:r>
            <a:r>
              <a:rPr sz="1800" b="0"/>
              <a:t> vào </a:t>
            </a:r>
            <a:r>
              <a:rPr sz="1800" b="0">
                <a:latin typeface="Consolas"/>
                <a:ea typeface="Consolas"/>
                <a:cs typeface="Consolas"/>
              </a:rPr>
              <a:t>app/model/product.php</a:t>
            </a:r>
            <a:r>
              <a:rPr sz="1800" b="0"/>
              <a:t>, các trang view chỉ gọi hàm.</a:t>
            </a:r>
          </a:p>
          <a:p>
            <a:pPr>
              <a:spcAft>
                <a:spcPts val="600"/>
              </a:spcAft>
            </a:pPr>
            <a:r>
              <a:rPr sz="1800" b="0"/>
              <a:t>Trang </a:t>
            </a:r>
            <a:r>
              <a:rPr sz="1800" b="0">
                <a:latin typeface="Consolas"/>
                <a:ea typeface="Consolas"/>
                <a:cs typeface="Consolas"/>
              </a:rPr>
              <a:t>index.php</a:t>
            </a:r>
            <a:r>
              <a:rPr sz="1800" b="0"/>
              <a:t>: hiển thị mỗi danh mục kèm 5 sản phẩm mới nhất (dùng </a:t>
            </a:r>
            <a:r>
              <a:rPr sz="1800" b="0">
                <a:latin typeface="Consolas"/>
                <a:ea typeface="Consolas"/>
                <a:cs typeface="Consolas"/>
              </a:rPr>
              <a:t>LIMIT</a:t>
            </a:r>
            <a:r>
              <a:rPr sz="1800" b="0"/>
              <a:t>).</a:t>
            </a:r>
          </a:p>
          <a:p>
            <a:pPr>
              <a:spcAft>
                <a:spcPts val="600"/>
              </a:spcAft>
            </a:pPr>
            <a:r>
              <a:rPr sz="1800" b="0"/>
              <a:t>Thêm file </a:t>
            </a:r>
            <a:r>
              <a:rPr sz="1800" b="0">
                <a:latin typeface="Consolas"/>
                <a:ea typeface="Consolas"/>
                <a:cs typeface="Consolas"/>
              </a:rPr>
              <a:t>app/common/define.php</a:t>
            </a:r>
            <a:r>
              <a:rPr sz="1800" b="0"/>
              <a:t> chứa </a:t>
            </a:r>
            <a:r>
              <a:rPr sz="1800" b="0">
                <a:latin typeface="Consolas"/>
                <a:ea typeface="Consolas"/>
                <a:cs typeface="Consolas"/>
              </a:rPr>
              <a:t>SITE_NAME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ITEM_PER_PAGE = 5</a:t>
            </a:r>
            <a:r>
              <a:rPr sz="1800" b="0"/>
              <a:t> và dùng lại trong code.</a:t>
            </a:r>
          </a:p>
          <a:p>
            <a:pPr>
              <a:spcAft>
                <a:spcPts val="600"/>
              </a:spcAft>
            </a:pPr>
            <a:r>
              <a:rPr sz="1800" b="0"/>
              <a:t>Ôn lại HTML form (</a:t>
            </a:r>
            <a:r>
              <a:rPr sz="1800" b="0">
                <a:latin typeface="Consolas"/>
                <a:ea typeface="Consolas"/>
                <a:cs typeface="Consolas"/>
              </a:rPr>
              <a:t>input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select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checkbox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radio</a:t>
            </a:r>
            <a:r>
              <a:rPr sz="1800" b="0"/>
              <a:t>) — buổi 5 sẽ dùng liên tục.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5. Checklist cuối buổi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/>
              <a:t>[ ] Kết nối được PDO và thấy thông báo lỗi rõ ràng khi sai mật khẩu CSDL.</a:t>
            </a:r>
          </a:p>
          <a:p>
            <a:pPr>
              <a:spcAft>
                <a:spcPts val="600"/>
              </a:spcAft>
            </a:pPr>
            <a:r>
              <a:rPr sz="1800" b="0"/>
              <a:t>[ ] Hiểu và dùng đúng prepared statement với tham số </a:t>
            </a:r>
            <a:r>
              <a:rPr sz="1800" b="0">
                <a:latin typeface="Consolas"/>
                <a:ea typeface="Consolas"/>
                <a:cs typeface="Consolas"/>
              </a:rPr>
              <a:t>:name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[ ] Tách được </a:t>
            </a:r>
            <a:r>
              <a:rPr sz="1800" b="0">
                <a:latin typeface="Consolas"/>
                <a:ea typeface="Consolas"/>
                <a:cs typeface="Consolas"/>
              </a:rPr>
              <a:t>dbConnect.php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commonFuncs.php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header.php</a:t>
            </a:r>
            <a:r>
              <a:rPr sz="1800" b="0"/>
              <a:t>, </a:t>
            </a:r>
            <a:r>
              <a:rPr sz="1800" b="0">
                <a:latin typeface="Consolas"/>
                <a:ea typeface="Consolas"/>
                <a:cs typeface="Consolas"/>
              </a:rPr>
              <a:t>footer.php</a:t>
            </a:r>
            <a:r>
              <a:rPr sz="1800" b="0"/>
              <a:t>.</a:t>
            </a:r>
          </a:p>
          <a:p>
            <a:pPr>
              <a:spcAft>
                <a:spcPts val="600"/>
              </a:spcAft>
            </a:pPr>
            <a:r>
              <a:rPr sz="1800" b="0"/>
              <a:t>[ ] Chạy được đủ 4 thao tác thêm / sửa / xóa / xem danh sách.</a:t>
            </a:r>
          </a:p>
          <a:p>
            <a:pPr>
              <a:spcAft>
                <a:spcPts val="600"/>
              </a:spcAft>
            </a:pPr>
            <a:r>
              <a:rPr sz="1800" b="0"/>
              <a:t>[ ] Không còn dòng SQL nào nối chuỗi trực tiếp từ </a:t>
            </a:r>
            <a:r>
              <a:rPr sz="1800" b="0">
                <a:latin typeface="Consolas"/>
                <a:ea typeface="Consolas"/>
                <a:cs typeface="Consolas"/>
              </a:rPr>
              <a:t>$_GET</a:t>
            </a:r>
            <a:r>
              <a:rPr sz="1800" b="0"/>
              <a:t> / </a:t>
            </a:r>
            <a:r>
              <a:rPr sz="1800" b="0">
                <a:latin typeface="Consolas"/>
                <a:ea typeface="Consolas"/>
                <a:cs typeface="Consolas"/>
              </a:rPr>
              <a:t>$_POST</a:t>
            </a:r>
            <a:r>
              <a:rPr sz="1800" b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/>
              <a:t>6.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/>
              <a:t>PHP + MySQL: https://www.w3schools.com/php/php_mysql_intro.asp</a:t>
            </a:r>
          </a:p>
          <a:p>
            <a:pPr>
              <a:spcAft>
                <a:spcPts val="600"/>
              </a:spcAft>
            </a:pPr>
            <a:r>
              <a:rPr sz="2000" b="0"/>
              <a:t>PDO: https://www.php.net/manual/en/book.pdo.php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Consolas"/>
                <a:ea typeface="Consolas"/>
                <a:cs typeface="Consolas"/>
              </a:rPr>
              <a:t>include</a:t>
            </a:r>
            <a:r>
              <a:rPr sz="2000" b="0"/>
              <a:t>: https://www.php.net/manual/en/function.include.php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6880</TotalTime>
  <Words>328</Words>
  <Application>Microsoft Office PowerPoint</Application>
  <PresentationFormat>画面に合わせる (4:3)</PresentationFormat>
  <Paragraphs>57</Paragraphs>
  <Slides>19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Adjacency</vt:lpstr>
      <vt:lpstr>Khóa đào tạo Lập trình Web sử dụng PHP</vt:lpstr>
      <vt:lpstr>PowerPoint プレゼンテーション</vt:lpstr>
      <vt:lpstr>1. Form</vt:lpstr>
      <vt:lpstr>Các loại HTML input cơ bản</vt:lpstr>
      <vt:lpstr>Demo</vt:lpstr>
      <vt:lpstr>2. Truyền biến</vt:lpstr>
      <vt:lpstr>demo11.html – Page A - GET</vt:lpstr>
      <vt:lpstr>demo 11d.php - GET</vt:lpstr>
      <vt:lpstr>demo11.html – Page A - POST</vt:lpstr>
      <vt:lpstr>demo11.php – Page B - POST</vt:lpstr>
      <vt:lpstr>Self-handling</vt:lpstr>
      <vt:lpstr>Output</vt:lpstr>
      <vt:lpstr>Output</vt:lpstr>
      <vt:lpstr>Demo 3 – Dung Hidden</vt:lpstr>
      <vt:lpstr>Demo 3 – Page A</vt:lpstr>
      <vt:lpstr>Demo 3 – Page B</vt:lpstr>
      <vt:lpstr>Demo 3 – Page C - POST</vt:lpstr>
      <vt:lpstr>Practice 1</vt:lpstr>
      <vt:lpstr>Practice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đào tạo lập trình web sử dụng php</dc:title>
  <dc:creator>ngoctb</dc:creator>
  <cp:lastModifiedBy>Chu Van Quy</cp:lastModifiedBy>
  <cp:revision>2090</cp:revision>
  <dcterms:created xsi:type="dcterms:W3CDTF">2014-12-22T07:12:12Z</dcterms:created>
  <dcterms:modified xsi:type="dcterms:W3CDTF">2025-09-30T00:54:03Z</dcterms:modified>
</cp:coreProperties>
</file>