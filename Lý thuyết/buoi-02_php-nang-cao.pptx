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6"/>
    <p:sldId id="271" r:id="rId5"/>
    <p:sldId id="272" r:id="rId4"/>
    <p:sldId id="273" r:id="rId3"/>
    <p:sldId id="274" r:id="rId2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000" autoAdjust="0"/>
  </p:normalViewPr>
  <p:slideViewPr>
    <p:cSldViewPr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9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529C2-2740-49AF-AD85-11B5D392103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765A4-D309-444E-9276-0B2CD25A6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8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400"/>
              <a:t>Khóa đào tạo
Lập trình Web: PHP · Vue · MySQL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Buổi 2 — PHP nâng cao: hàm, include, OOP &amp; xử lý lỗi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600" b="0"/>
              <a:t>1. Mục tiêu</a:t>
            </a:r>
          </a:p>
          <a:p>
            <a:pPr>
              <a:spcAft>
                <a:spcPts val="600"/>
              </a:spcAft>
            </a:pPr>
            <a:r>
              <a:rPr sz="1600" b="0"/>
              <a:t>2. Chuẩn bị trước buổi học</a:t>
            </a:r>
          </a:p>
          <a:p>
            <a:pPr>
              <a:spcAft>
                <a:spcPts val="600"/>
              </a:spcAft>
            </a:pPr>
            <a:r>
              <a:rPr sz="1600" b="0"/>
              <a:t>Tiết 1 — Hàm &amp; tách file dùng chung</a:t>
            </a:r>
          </a:p>
          <a:p>
            <a:pPr>
              <a:spcAft>
                <a:spcPts val="600"/>
              </a:spcAft>
            </a:pPr>
            <a:r>
              <a:rPr sz="1600" b="0"/>
              <a:t>Tiết 2 — Lập trình hướng đối tượng &amp; xử lý lỗi</a:t>
            </a:r>
          </a:p>
          <a:p>
            <a:pPr>
              <a:spcAft>
                <a:spcPts val="600"/>
              </a:spcAft>
            </a:pPr>
            <a:r>
              <a:rPr sz="1600" b="0"/>
              <a:t>3. Thực hành tại lớp</a:t>
            </a:r>
          </a:p>
          <a:p>
            <a:pPr>
              <a:spcAft>
                <a:spcPts val="600"/>
              </a:spcAft>
            </a:pPr>
            <a:r>
              <a:rPr sz="1600" b="0"/>
              <a:t>4. Bài tập về nhà</a:t>
            </a:r>
          </a:p>
          <a:p>
            <a:pPr>
              <a:spcAft>
                <a:spcPts val="600"/>
              </a:spcAft>
            </a:pPr>
            <a:r>
              <a:rPr sz="1600" b="0"/>
              <a:t>5. Checklist cuối buổi</a:t>
            </a:r>
          </a:p>
          <a:p>
            <a:pPr>
              <a:spcAft>
                <a:spcPts val="600"/>
              </a:spcAft>
            </a:pPr>
            <a:r>
              <a:rPr sz="1600" b="0"/>
              <a:t>6. Tham khảo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 Mục tiêu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0"/>
              <a:t>Kết thúc buổi học, học viên có thể:</a:t>
            </a:r>
          </a:p>
          <a:p>
            <a:pPr>
              <a:spcAft>
                <a:spcPts val="600"/>
              </a:spcAft>
            </a:pPr>
            <a:r>
              <a:rPr sz="1600" b="0"/>
              <a:t>Viết được hàm tự định nghĩa: tham số, giá trị mặc định, </a:t>
            </a:r>
            <a:r>
              <a:rPr sz="1600" b="0">
                <a:latin typeface="Consolas"/>
                <a:ea typeface="Consolas"/>
                <a:cs typeface="Consolas"/>
              </a:rPr>
              <a:t>return</a:t>
            </a:r>
            <a:r>
              <a:rPr sz="1600" b="0"/>
              <a:t>, phạm vi biến.</a:t>
            </a:r>
          </a:p>
          <a:p>
            <a:pPr>
              <a:spcAft>
                <a:spcPts val="600"/>
              </a:spcAft>
            </a:pPr>
            <a:r>
              <a:rPr sz="1600" b="0"/>
              <a:t>Tách code dùng chung ra file riêng bằng </a:t>
            </a:r>
            <a:r>
              <a:rPr sz="1600" b="0">
                <a:latin typeface="Consolas"/>
                <a:ea typeface="Consolas"/>
                <a:cs typeface="Consolas"/>
              </a:rPr>
              <a:t>include</a:t>
            </a:r>
            <a:r>
              <a:rPr sz="1600" b="0"/>
              <a:t> / </a:t>
            </a:r>
            <a:r>
              <a:rPr sz="1600" b="0">
                <a:latin typeface="Consolas"/>
                <a:ea typeface="Consolas"/>
                <a:cs typeface="Consolas"/>
              </a:rPr>
              <a:t>require_once</a:t>
            </a:r>
            <a:r>
              <a:rPr sz="1600" b="0"/>
              <a:t>.</a:t>
            </a:r>
          </a:p>
          <a:p>
            <a:pPr>
              <a:spcAft>
                <a:spcPts val="600"/>
              </a:spcAft>
            </a:pPr>
            <a:r>
              <a:rPr sz="1600" b="0"/>
              <a:t>Dựng được khung thư mục </a:t>
            </a:r>
            <a:r>
              <a:rPr sz="1600" b="0">
                <a:latin typeface="Consolas"/>
                <a:ea typeface="Consolas"/>
                <a:cs typeface="Consolas"/>
              </a:rPr>
              <a:t>app/common/</a:t>
            </a:r>
            <a:r>
              <a:rPr sz="1600" b="0"/>
              <a:t> sẽ dùng lại suốt cả khóa.</a:t>
            </a:r>
          </a:p>
          <a:p>
            <a:pPr>
              <a:spcAft>
                <a:spcPts val="600"/>
              </a:spcAft>
            </a:pPr>
            <a:r>
              <a:rPr sz="1600" b="0"/>
              <a:t>Giải thích được </a:t>
            </a:r>
            <a:r>
              <a:rPr sz="1600" b="1"/>
              <a:t>lớp (class)</a:t>
            </a:r>
            <a:r>
              <a:rPr sz="1600" b="0"/>
              <a:t> và </a:t>
            </a:r>
            <a:r>
              <a:rPr sz="1600" b="1"/>
              <a:t>đối tượng (object)</a:t>
            </a:r>
            <a:r>
              <a:rPr sz="1600" b="0"/>
              <a:t> khác nhau thế nào,</a:t>
            </a:r>
            <a:r>
              <a:rPr sz="1600" b="0"/>
              <a:t> </a:t>
            </a:r>
            <a:r>
              <a:rPr sz="1600" b="0"/>
              <a:t>viết được một lớp có thuộc tính, phương thức và hàm khởi tạo.</a:t>
            </a:r>
          </a:p>
          <a:p>
            <a:pPr>
              <a:spcAft>
                <a:spcPts val="600"/>
              </a:spcAft>
            </a:pPr>
            <a:r>
              <a:rPr sz="1600" b="0"/>
              <a:t>Bắt và xử lý lỗi bằng </a:t>
            </a:r>
            <a:r>
              <a:rPr sz="1600" b="0">
                <a:latin typeface="Consolas"/>
                <a:ea typeface="Consolas"/>
                <a:cs typeface="Consolas"/>
              </a:rPr>
              <a:t>try / catch</a:t>
            </a:r>
            <a:r>
              <a:rPr sz="1600" b="0"/>
              <a:t>, tự ném lỗi bằng </a:t>
            </a:r>
            <a:r>
              <a:rPr sz="1600" b="0">
                <a:latin typeface="Consolas"/>
                <a:ea typeface="Consolas"/>
                <a:cs typeface="Consolas"/>
              </a:rPr>
              <a:t>throw</a:t>
            </a:r>
            <a:r>
              <a:rPr sz="1600" b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 Chuẩn bị trước buổi học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/>
              <a:t>XAMPP đang chạy, thư mục </a:t>
            </a:r>
            <a:r>
              <a:rPr sz="2000" b="0">
                <a:latin typeface="Consolas"/>
                <a:ea typeface="Consolas"/>
                <a:cs typeface="Consolas"/>
              </a:rPr>
              <a:t>C:/xampp/htdocs/course8/</a:t>
            </a:r>
            <a:r>
              <a:rPr sz="2000" b="0"/>
              <a:t> đã có từ buổi 1.</a:t>
            </a:r>
          </a:p>
          <a:p>
            <a:pPr>
              <a:spcAft>
                <a:spcPts val="600"/>
              </a:spcAft>
            </a:pPr>
            <a:r>
              <a:rPr sz="2000" b="0"/>
              <a:t>Đã làm xong bài tập buổi 1 (mảng, vòng lặp, nhúng PHP vào HTML).</a:t>
            </a:r>
          </a:p>
          <a:p>
            <a:pPr>
              <a:spcAft>
                <a:spcPts val="600"/>
              </a:spcAft>
            </a:pPr>
            <a:r>
              <a:rPr sz="2000" b="0"/>
              <a:t>Đã đọc trước: https://www.w3schools.com/php/php_functions.asp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Tiết 1 — Hàm &amp; tách file dùng chung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2.1. Vì sao cần hàm?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Ba người, tính tuổi theo năm sinh — copy-paste y hệt công thức 3 lần: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33756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$namNay = (int) date("Y");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Nguoi 1: An, sinh nam 2000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$tuoiAn = $namNay - 2000;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"An: " . $tuoiAn . " tuổi&lt;br&gt;";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Nguoi 2: Binh, sinh nam 1998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$tuoiBinh = $namNay - 1998;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"Binh: " . $tuoiBinh . " tuổi&lt;br&gt;";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Nguoi 3: Chi, sinh nam 2005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$tuoiChi = $namNay - 2005;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"Chi: " . $tuoiChi . " tuổi&lt;br&gt;";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2.1. Vì sao cần hàm? (2/6)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/>
              <a:t>Giờ khách hàng đổi luật: </a:t>
            </a:r>
            <a:r>
              <a:rPr sz="1800" b="1"/>
              <a:t>ở Việt Nam chỉ tính theo năm, nhưng bên Nhật phải tính theo cả tháng</a:t>
            </a:r>
            <a:r>
              <a:rPr sz="1800" b="0"/>
              <a:t> — nếu tháng hiện tại chưa tới tháng sinh thì trừ thêm 1 tuổi. Vì công thức bị copy-paste 3 lần, phải sửa </a:t>
            </a:r>
            <a:r>
              <a:rPr sz="1800" b="1"/>
              <a:t>cả 3 chỗ giống hệt nhau</a:t>
            </a:r>
            <a:r>
              <a:rPr sz="1800" b="0"/>
              <a:t> (dòng cam đậm bên dưới) — sót đúng một chỗ là hiển thị sai mà không hề báo lỗi: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2.1. Vì sao cần hàm?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383108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$namNay   = (int) date("Y");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$thangNay = (int) date("n");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Nguoi 1: An, sinh thang 3 nam 2000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$tuoiAn = $namNay - 2000;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45400"/>
                </a:solidFill>
                <a:latin typeface="Consolas"/>
                <a:ea typeface="Consolas"/>
                <a:cs typeface="Consolas"/>
              </a:rPr>
              <a:t>    if ($thangNay &lt; 3) { $tuoiAn--; }                // SUA: them cach tinh kieu Nhat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"An: " . $tuoiAn . " tuổi&lt;br&gt;";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Nguoi 2: Binh, sinh thang 11 nam 1998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$tuoiBinh = $namNay - 1998;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45400"/>
                </a:solidFill>
                <a:latin typeface="Consolas"/>
                <a:ea typeface="Consolas"/>
                <a:cs typeface="Consolas"/>
              </a:rPr>
              <a:t>    if ($thangNay &lt; 11) { $tuoiBinh--; }              // SUA: them cach tinh kieu Nhat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"Binh: " . $tuoiBinh . " tuổi&lt;br&gt;";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Nguoi 3: Chi, sinh thang 7 nam 2005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$tuoiChi = $namNay - 2005;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45400"/>
                </a:solidFill>
                <a:latin typeface="Consolas"/>
                <a:ea typeface="Consolas"/>
                <a:cs typeface="Consolas"/>
              </a:rPr>
              <a:t>    if ($thangNay &lt; 7) { $tuoiChi--; }                // SUA: them cach tinh kieu Nhat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"Chi: " . $tuoiChi . " tuổi&lt;br&gt;";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2.1. Vì sao cần hàm? (4/6)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1"/>
              <a:t>Hàm</a:t>
            </a:r>
            <a:r>
              <a:rPr sz="2000" b="0"/>
              <a:t> giải quyết đúng việc này: viết công thức tính tuổi </a:t>
            </a:r>
            <a:r>
              <a:rPr sz="2000" b="1"/>
              <a:t>một lần duy nhất</a:t>
            </a:r>
            <a:r>
              <a:rPr sz="2000" b="0"/>
              <a:t>, gọi lại 3 lần với dữ liệu khác nhau — sau này đổi luật thì chỉ sửa </a:t>
            </a:r>
            <a:r>
              <a:rPr sz="2000" b="1"/>
              <a:t>một chỗ</a:t>
            </a:r>
            <a:r>
              <a:rPr sz="2000" b="0"/>
              <a:t>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2.1. Vì sao cần hàm?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3541776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tinhTuoi($namSinh, $thangSinh)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$namNay   = (int) date("Y");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$thangNay = (int) date("n");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$tuoi = $namNay - $namSinh;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if ($thangNay &lt; $thangSinh)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$tuoi--;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$tuoi;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"An: "   . tinhTuoi(2000, 3)  . " tuổi&lt;br&gt;";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"Binh: " . tinhTuoi(1998, 11) . " tuổi&lt;br&gt;";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"Chi: "  . tinhTuoi(2005, 7)  . " tuổi&lt;br&gt;";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2.1. Vì sao cần hàm? (6/6)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0">
                <a:solidFill>
                  <a:srgbClr val="666666"/>
                </a:solidFill>
              </a:rPr>
              <a:t>Ba lời gọi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tinhTuoi(...)</a:t>
            </a:r>
            <a:r>
              <a:rPr sz="1900" i="1" b="0">
                <a:solidFill>
                  <a:srgbClr val="666666"/>
                </a:solidFill>
              </a:rPr>
              <a:t> chỉ khác </a:t>
            </a:r>
            <a:r>
              <a:rPr sz="1900" i="1" b="1">
                <a:solidFill>
                  <a:srgbClr val="666666"/>
                </a:solidFill>
              </a:rPr>
              <a:t>dữ liệu truyền vào</a:t>
            </a:r>
            <a:r>
              <a:rPr sz="1900" i="1" b="0">
                <a:solidFill>
                  <a:srgbClr val="666666"/>
                </a:solidFill>
              </a:rPr>
              <a:t>, còn công thức nằm đúng một chỗ. Mai đây luật đổi tiếp (ví dụ tính thêm theo ngày) thì chỉ sửa bên trong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tinhTuoi()</a:t>
            </a:r>
            <a:r>
              <a:rPr sz="1900" i="1" b="0">
                <a:solidFill>
                  <a:srgbClr val="666666"/>
                </a:solidFill>
              </a:rPr>
              <a:t>, không phải lục lại từng chỗ gọi rải rác khắp file.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2.2. Cú pháp hàm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Khai bao ham: tu khoa function + ten ham + danh sach tham so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dinhDangTien($soTien)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number_format($soTien, 0, ",", ".") . " đ";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Goi ham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dinhDangTien(5000);      // 5.000 đ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dinhDangTien(1250000);   // 1.250.000 đ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Ham nhieu tham so, co tham so mang gia tri mac dinh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tinhTienSauGiam($gia, $phanTramGiam = 0)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$tienGiam = $gia * $phanTramGiam / 100;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$gia - $tienGiam;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tinhTienSauGiam(100000);       // 100000 - khong truyen thi giam 0%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tinhTienSauGiam(100000, 10);   // 90000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Ham co the khong tra ve gi, chi in ra man hinh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inTieuDe($chu)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echo "&lt;h2&gt;" . $chu . "&lt;/h2&gt;";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2.2. Cú pháp hàm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75082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inTieuDe("Danh sách sản phẩm");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2.2. Cú pháp hàm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Bốn phần của một hàm: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47088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Phần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Là gì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Trong ví dụ trên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Tên hàm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Đặt theo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camelCase</a:t>
                      </a:r>
                      <a:r>
                        <a:rPr sz="1100" b="0"/>
                        <a:t>, nên là </a:t>
                      </a:r>
                      <a:r>
                        <a:rPr sz="1100" b="1"/>
                        <a:t>động từ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dinhDangTien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Tham số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Dữ liệu truyền từ ngoài vào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$soTien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Giá trị mặc định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Dùng khi lời gọi không truyền tham số đó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$phanTramGiam = 0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return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Trả kết quả về cho nơi gọi, và </a:t>
                      </a:r>
                      <a:r>
                        <a:rPr sz="1100" b="1"/>
                        <a:t>kết thúc hàm ngay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return $gia - $tienGiam;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2.2. Cú pháp hàm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1">
                <a:solidFill>
                  <a:srgbClr val="666666"/>
                </a:solidFill>
              </a:rPr>
              <a:t>`return` khác `echo`:</a:t>
            </a:r>
            <a:r>
              <a:rPr sz="1900" i="1" b="0">
                <a:solidFill>
                  <a:srgbClr val="666666"/>
                </a:solidFill>
              </a:rPr>
              <a:t>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900" i="1" b="0">
                <a:solidFill>
                  <a:srgbClr val="666666"/>
                </a:solidFill>
              </a:rPr>
              <a:t> in thẳng ra màn hình, không dùng lại được.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900" i="1" b="0">
                <a:solidFill>
                  <a:srgbClr val="666666"/>
                </a:solidFill>
              </a:rPr>
              <a:t> trả giá trị về để nơi gọi tự quyết định làm gì tiếp. Trong khóa này, hàm tính toán thì luôn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900" i="1" b="0">
                <a:solidFill>
                  <a:srgbClr val="666666"/>
                </a:solidFill>
              </a:rPr>
              <a:t>, chỉ hàm hiển thị mới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900" i="1" b="0">
                <a:solidFill>
                  <a:srgbClr val="666666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2.3. Phạm vi biến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Biến khai báo </a:t>
            </a:r>
            <a:r>
              <a:rPr sz="1500" b="1"/>
              <a:t>bên trong hàm</a:t>
            </a:r>
            <a:r>
              <a:rPr sz="1500" b="0"/>
              <a:t> không tồn tại ở ngoài, và ngược lại: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272491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$tongTien = 1000;          // bien ben ngoai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thu()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echo $tongTien;     // LOI: ham khong nhin thay bien ben ngoai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$tongTien = 50;        // day la mot bien KHAC, chi song trong ham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$tongTien;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thu();                // 50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$tongTien;            // 1000 - khong he bi ham lam thay doi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2.3. Phạm vi biến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1"/>
              <a:t>Quy tắc của khóa này:</a:t>
            </a:r>
            <a:r>
              <a:rPr sz="2000" b="0"/>
              <a:t> muốn hàm dùng dữ liệu nào thì </a:t>
            </a:r>
            <a:r>
              <a:rPr sz="2000" b="1"/>
              <a:t>truyền vào qua tham số</a:t>
            </a:r>
            <a:r>
              <a:rPr sz="2000" b="0"/>
              <a:t>, đừng dùng </a:t>
            </a:r>
            <a:r>
              <a:rPr sz="2000" b="0">
                <a:latin typeface="Consolas"/>
                <a:ea typeface="Consolas"/>
                <a:cs typeface="Consolas"/>
              </a:rPr>
              <a:t>global</a:t>
            </a:r>
            <a:r>
              <a:rPr sz="2000" b="0"/>
              <a:t>. Hàm chỉ phụ thuộc tham số của nó thì mới đem đi dùng lại được — đây chính là lý do từ buổi 4, mọi hàm truy vấn đều nhận </a:t>
            </a:r>
            <a:r>
              <a:rPr sz="2000" b="0">
                <a:latin typeface="Consolas"/>
                <a:ea typeface="Consolas"/>
                <a:cs typeface="Consolas"/>
              </a:rPr>
              <a:t>$conn</a:t>
            </a:r>
            <a:r>
              <a:rPr sz="2000" b="0"/>
              <a:t> làm tham số đầu tiên.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2.4. include và require_once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Viết hàm xong thì để ở đâu? Tách ra file riêng rồi nhúng vào nơi cần: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121031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include "app/common/commonFuncs.php";       // thieu file -&gt; canh bao, van chay tiep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 "app/common/commonFuncs.php";       // thieu file -&gt; DUNG han chuong trinh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"app/common/commonFuncs.php";  // chi nhung 1 lan, du goi bao nhieu lan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2.4. include và require_once (2/3)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Lệnh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Thiếu file thì sao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Nhúng nhiều lần?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include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Cảnh báo, chương trình chạy tiếp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Có, mỗi lần gọi là nhúng lại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require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Lỗi nghiêm trọng, dừng hẳn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Có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require_once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Lỗi nghiêm trọng, dừng hẳn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/>
                        <a:t>Không</a:t>
                      </a:r>
                      <a:r>
                        <a:rPr sz="1300" b="0"/>
                        <a:t> — đã nhúng rồi thì bỏ qua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2.4. include và require_once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1"/>
              <a:t>Quy ước trong khóa (giữ nguyên đến buổi 10):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onsolas"/>
                <a:ea typeface="Consolas"/>
                <a:cs typeface="Consolas"/>
              </a:rPr>
              <a:t>require_once</a:t>
            </a:r>
            <a:r>
              <a:rPr sz="1800" b="0"/>
              <a:t> cho file </a:t>
            </a:r>
            <a:r>
              <a:rPr sz="1800" b="1"/>
              <a:t>hàm dùng chung</a:t>
            </a:r>
            <a:r>
              <a:rPr sz="1800" b="0"/>
              <a:t> và file </a:t>
            </a:r>
            <a:r>
              <a:rPr sz="1800" b="1"/>
              <a:t>kết nối CSDL</a:t>
            </a:r>
            <a:r>
              <a:rPr sz="1800" b="0"/>
              <a:t> — thiếu là không chạy được,</a:t>
            </a:r>
            <a:r>
              <a:rPr sz="1800" b="0"/>
              <a:t> </a:t>
            </a:r>
            <a:r>
              <a:rPr sz="1800" b="0"/>
              <a:t>và nhúng 2 lần sẽ báo lỗi *"Cannot redeclare function"*.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onsolas"/>
                <a:ea typeface="Consolas"/>
                <a:cs typeface="Consolas"/>
              </a:rPr>
              <a:t>include</a:t>
            </a:r>
            <a:r>
              <a:rPr sz="1800" b="0"/>
              <a:t> cho phần </a:t>
            </a:r>
            <a:r>
              <a:rPr sz="1800" b="1"/>
              <a:t>giao diện</a:t>
            </a:r>
            <a:r>
              <a:rPr sz="1800" b="0"/>
              <a:t> như </a:t>
            </a:r>
            <a:r>
              <a:rPr sz="1800" b="0">
                <a:latin typeface="Consolas"/>
                <a:ea typeface="Consolas"/>
                <a:cs typeface="Consolas"/>
              </a:rPr>
              <a:t>header.php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footer.php</a:t>
            </a:r>
            <a:r>
              <a:rPr sz="1800" b="0"/>
              <a:t> — thiếu thì trang xấu</a:t>
            </a:r>
            <a:r>
              <a:rPr sz="1800" b="0"/>
              <a:t> </a:t>
            </a:r>
            <a:r>
              <a:rPr sz="1800" b="0"/>
              <a:t>nhưng vẫn xem được.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2.5. Dựng khung thư mục dùng chung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Tạo đúng cấu trúc sau — </a:t>
            </a:r>
            <a:r>
              <a:rPr sz="1500" b="1"/>
              <a:t>buổi 4 sẽ thêm `dbConnect.php` vào chính thư mục này</a:t>
            </a:r>
            <a:r>
              <a:rPr sz="1500" b="0"/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241858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htdocs/course8/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├── app/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├── common/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│   ├── define.php        &lt;- hang so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│   └── commonFuncs.php   &lt;- ham dung chung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└── view/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    ├── header.php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    └── footer.php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└── index.php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2.5. Dựng khung thư mục dùng chung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File </a:t>
            </a:r>
            <a:r>
              <a:rPr sz="1500" b="0">
                <a:latin typeface="Consolas"/>
                <a:ea typeface="Consolas"/>
                <a:cs typeface="Consolas"/>
              </a:rPr>
              <a:t>app/common/define.php</a:t>
            </a:r>
            <a:r>
              <a:rPr sz="1500" b="0"/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1499616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Toan bo hang so cua du an gom o day - sua 1 cho, ca site doi theo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define("SITE_NAME", "Mini Shop");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define("ITEM_PER_PAGE", 5);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define("VAT", 0.1);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2.5. Dựng khung thư mục dùng chung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File </a:t>
            </a:r>
            <a:r>
              <a:rPr sz="1500" b="0">
                <a:latin typeface="Consolas"/>
                <a:ea typeface="Consolas"/>
                <a:cs typeface="Consolas"/>
              </a:rPr>
              <a:t>app/common/commonFuncs.php</a:t>
            </a:r>
            <a:r>
              <a:rPr sz="1500" b="0"/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541776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Dinh dang tien VND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dinhDangTien($soTien)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number_format($soTien, 0, ",", ".") . " đ";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Chong XSS: luon dung ham nay khi in du lieu nguoi dung nhap ra HTML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anToan($chuoi)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htmlspecialchars($chuoi ?? "", ENT_QUOTES, "UTF-8");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Tinh tien da gom thue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tinhTienCoThue($gia)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$gia + $gia * VAT;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2.5. Dựng khung thư mục dùng chung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File </a:t>
            </a:r>
            <a:r>
              <a:rPr sz="1500" b="0">
                <a:latin typeface="Consolas"/>
                <a:ea typeface="Consolas"/>
                <a:cs typeface="Consolas"/>
              </a:rPr>
              <a:t>index.php</a:t>
            </a:r>
            <a:r>
              <a:rPr sz="1500" b="0"/>
              <a:t> dùng lại cả hai: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83108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"app/common/define.php";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"app/common/commonFuncs.php";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$tenSanPham = "Bút bi Thiên Long";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$gia        = 5000;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&lt;!DOCTYPE html&gt;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&lt;html lang="vi"&gt;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&lt;head&gt;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&lt;meta charset="utf-8"&gt;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&lt;title&gt;&lt;?= SITE_NAME ?&gt;&lt;/title&gt;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&lt;/head&gt;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&lt;body&gt;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&lt;h1&gt;&lt;?= SITE_NAME ?&gt;&lt;/h1&gt;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&lt;p&gt;&lt;?= anToan($tenSanPham) ?&gt; — &lt;?= dinhDangTien($gia) ?&gt;&lt;/p&gt;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&lt;p&gt;Đã gồm thuế: &lt;?= dinhDangTien(tinhTienCoThue($gia)) ?&gt;&lt;/p&gt;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&lt;/body&gt;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&lt;/html&gt;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2.5. Dựng khung thư mục dùng chung (5/5)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1">
                <a:solidFill>
                  <a:srgbClr val="666666"/>
                </a:solidFill>
              </a:rPr>
              <a:t>`anToan()` là hàm quan trọng nhất trong file này.</a:t>
            </a:r>
            <a:r>
              <a:rPr sz="1900" i="1" b="0">
                <a:solidFill>
                  <a:srgbClr val="666666"/>
                </a:solidFill>
              </a:rPr>
              <a:t> Buổi 5 sẽ chứng minh: bỏ nó đi thì người dùng nhập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&lt;script&gt;</a:t>
            </a:r>
            <a:r>
              <a:rPr sz="1900" i="1" b="0">
                <a:solidFill>
                  <a:srgbClr val="666666"/>
                </a:solidFill>
              </a:rPr>
              <a:t> vào tên sản phẩm là chiếm được phiên đăng nhập của người khác.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Tiết 2 — Lập trình hướng đối tượng &amp; xử lý lỗi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2.6. Vì sao cần lớp và đối tượng?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Một sản phẩm có nhiều thông tin đi liền nhau. Nếu tách rời thành từng biến: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139750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Cach cu: du lieu roi rac, ham roi rac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$tenSp = "Bút bi";  $giaSp = 5000;  $slSp = 10;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Muon them san pham thu hai -&gt; lai them 3 bien nua. Khong quan ly noi.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2.6. Vì sao cần lớp và đối tượng?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Lớp (class)</a:t>
            </a:r>
            <a:r>
              <a:rPr sz="1500" b="0"/>
              <a:t> gom *dữ liệu* và *các hành động trên dữ liệu đó* vào cùng một chỗ.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47088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Khái niệm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Là gì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Ví dụ đời thường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/>
                        <a:t>Lớp</a:t>
                      </a:r>
                      <a:r>
                        <a:rPr sz="1300" b="0"/>
                        <a:t> (</a:t>
                      </a:r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class</a:t>
                      </a:r>
                      <a:r>
                        <a:rPr sz="1300" b="0"/>
                        <a:t>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Bản thiết kế, khuôn mẫu — viết </a:t>
                      </a:r>
                      <a:r>
                        <a:rPr sz="1300" b="1"/>
                        <a:t>một</a:t>
                      </a:r>
                      <a:r>
                        <a:rPr sz="1300" b="0"/>
                        <a:t> lần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Bản vẽ một mẫu bút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/>
                        <a:t>Đối tượng</a:t>
                      </a:r>
                      <a:r>
                        <a:rPr sz="1300" b="0"/>
                        <a:t> (object)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Sản phẩm tạo ra từ khuôn, tạo được </a:t>
                      </a:r>
                      <a:r>
                        <a:rPr sz="1300" b="1"/>
                        <a:t>nhiều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Từng cây bút cụ thể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/>
                        <a:t>Thuộc tính</a:t>
                      </a:r>
                      <a:r>
                        <a:rPr sz="1300" b="0"/>
                        <a:t> (property)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Dữ liệu mà đối tượng mang theo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Tên, giá, số lượng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/>
                        <a:t>Phương thức</a:t>
                      </a:r>
                      <a:r>
                        <a:rPr sz="1300" b="0"/>
                        <a:t> (method)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Hàm nằm trong lớp, làm việc trên dữ liệu đó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tinhThanhTien()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2.7. Viết lớp đầu tiên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class SanPham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1. THUOC TINH - du lieu ma moi doi tuong mang theo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public $ten;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public $gia;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public $soLuong;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2. HAM KHOI TAO - chay tu dong khi tao doi tuong moi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   $this tro toi chinh doi tuong dang duoc tao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public function __construct($ten, $gia, $soLuong = 1)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$this-&gt;ten     = $ten;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$this-&gt;gia     = $gia;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$this-&gt;soLuong = $soLuong;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3. PHUONG THUC - ham cua lop, dung duoc thuoc tinh qua $this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public function tinhThanhTien()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return $this-&gt;gia * $this-&gt;soLuong;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public function moTa()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return $this-&gt;ten . " x" . $this-&gt;soLuong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. " = " . dinhDangTien($this-&gt;tinhThanhTien());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2.7. Viết lớp đầu tiên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272491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TAO DOI TUONG bang tu khoa new -&gt; ham __construct chay ngay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$sp1 = new SanPham("Bút bi", 5000, 10);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$sp2 = new SanPham("Vở ô ly", 8000, 3);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$sp3 = new SanPham("Thước kẻ", 3000);      // soLuong lay mac dinh =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Doc thuoc tinh va goi phuong thuc deu dung dau 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$sp1-&gt;ten;              // Bút bi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$sp1-&gt;tinhThanhTien();  // 50000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$sp2-&gt;moTa();           // Vở ô ly x3 = 24.000 đ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2.7. Viết lớp đầu tiên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Ba ký hiệu mới, chỉ cần nhớ đúng ba: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47088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Ký hiệu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Đọc là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Dùng ở đâu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new SanPham(...)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Tạo một đối tượng mới từ lớp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Bên ngoài lớp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$doiTuong-&gt;ten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Lấy thuộc tính của </a:t>
                      </a:r>
                      <a:r>
                        <a:rPr sz="1300" b="1"/>
                        <a:t>đối tượng cụ thể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Bên ngoài lớp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$this-&gt;ten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Lấy thuộc tính của </a:t>
                      </a:r>
                      <a:r>
                        <a:rPr sz="1300" b="1"/>
                        <a:t>chính đối tượng này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Bên trong lớp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2.7. Viết lớp đầu tiên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1">
                <a:solidFill>
                  <a:srgbClr val="666666"/>
                </a:solidFill>
              </a:rPr>
              <a:t>`$this` là gì?</a:t>
            </a:r>
            <a:r>
              <a:rPr sz="1900" i="1" b="0">
                <a:solidFill>
                  <a:srgbClr val="666666"/>
                </a:solidFill>
              </a:rPr>
              <a:t> Khi gọi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$sp1-&gt;tinhThanhTien()</a:t>
            </a:r>
            <a:r>
              <a:rPr sz="1900" i="1" b="0">
                <a:solidFill>
                  <a:srgbClr val="666666"/>
                </a:solidFill>
              </a:rPr>
              <a:t>, bên trong phương thức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$this</a:t>
            </a:r>
            <a:r>
              <a:rPr sz="1900" i="1" b="0">
                <a:solidFill>
                  <a:srgbClr val="666666"/>
                </a:solidFill>
              </a:rPr>
              <a:t> chính là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$sp1</a:t>
            </a:r>
            <a:r>
              <a:rPr sz="1900" i="1" b="0">
                <a:solidFill>
                  <a:srgbClr val="666666"/>
                </a:solidFill>
              </a:rPr>
              <a:t>. Gọi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$sp2-&gt;tinhThanhTien()</a:t>
            </a:r>
            <a:r>
              <a:rPr sz="1900" i="1" b="0">
                <a:solidFill>
                  <a:srgbClr val="666666"/>
                </a:solidFill>
              </a:rPr>
              <a:t> thì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$this</a:t>
            </a:r>
            <a:r>
              <a:rPr sz="1900" i="1" b="0">
                <a:solidFill>
                  <a:srgbClr val="666666"/>
                </a:solidFill>
              </a:rPr>
              <a:t> là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$sp2</a:t>
            </a:r>
            <a:r>
              <a:rPr sz="1900" i="1" b="0">
                <a:solidFill>
                  <a:srgbClr val="666666"/>
                </a:solidFill>
              </a:rPr>
              <a:t>. Cùng một đoạn code, chạy trên dữ liệu khác nhau — đó là toàn bộ ý tưởng của hướng đối tượng.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2.8. Dùng lớp với mảng đối tượng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Đây là dạng dữ liệu buổi 4 sẽ lấy về từ MySQL: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"app/common/define.php";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"app/common/commonFuncs.php";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"app/model/SanPham.php";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Mang cac doi tuong - mo phong gio hang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$gioHang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new SanPham("Bút bi",   5000, 10),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new SanPham("Vở ô ly",  8000, 3),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new SanPham("Thước kẻ", 3000, 5)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$tongCong = 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&lt;table border="1" cellpadding="8"&gt;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&lt;tr&gt;&lt;th&gt;Tên&lt;/th&gt;&lt;th&gt;Đơn giá&lt;/th&gt;&lt;th&gt;SL&lt;/th&gt;&lt;th&gt;Thành tiền&lt;/th&gt;&lt;/tr&gt;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&lt;?php foreach ($gioHang as $sp):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&lt;tr&gt;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&lt;td&gt;&lt;?= anToan($sp-&gt;ten) ?&gt;&lt;/td&gt;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&lt;td&gt;&lt;?= dinhDangTien($sp-&gt;gia) ?&gt;&lt;/td&gt;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&lt;td&gt;&lt;?= $sp-&gt;soLuong ?&gt;&lt;/td&gt;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&lt;td&gt;&lt;?= dinhDangTien($sp-&gt;tinhThanhTien()) ?&gt;&lt;/td&gt;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&lt;/tr&gt;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2.8. Dùng lớp với mảng đối tượng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2180336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&lt;?php $tongCong += $sp-&gt;tinhThanhTien();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&lt;?php endforeach;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&lt;tr&gt;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&lt;td colspan="3"&gt;&lt;b&gt;Tổng cộng&lt;/b&gt;&lt;/td&gt;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&lt;td&gt;&lt;b&gt;&lt;?= dinhDangTien($tongCong) ?&gt;&lt;/b&gt;&lt;/td&gt;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&lt;/tr&gt;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&lt;/table&gt;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2.8. Dùng lớp với mảng đối tượng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/>
              <a:t>Đặt lớp </a:t>
            </a:r>
            <a:r>
              <a:rPr sz="2000" b="0">
                <a:latin typeface="Consolas"/>
                <a:ea typeface="Consolas"/>
                <a:cs typeface="Consolas"/>
              </a:rPr>
              <a:t>SanPham</a:t>
            </a:r>
            <a:r>
              <a:rPr sz="2000" b="0"/>
              <a:t> vào file riêng </a:t>
            </a:r>
            <a:r>
              <a:rPr sz="2000" b="0">
                <a:latin typeface="Consolas"/>
                <a:ea typeface="Consolas"/>
                <a:cs typeface="Consolas"/>
              </a:rPr>
              <a:t>app/model/SanPham.php</a:t>
            </a:r>
            <a:r>
              <a:rPr sz="2000" b="0"/>
              <a:t> (chỉ chứa đúng khối </a:t>
            </a:r>
            <a:r>
              <a:rPr sz="2000" b="0">
                <a:latin typeface="Consolas"/>
                <a:ea typeface="Consolas"/>
                <a:cs typeface="Consolas"/>
              </a:rPr>
              <a:t>class</a:t>
            </a:r>
            <a:r>
              <a:rPr sz="2000" b="0"/>
              <a:t>, không có HTML) — mỗi lớp một file là quy ước chung của mọi dự án PHP.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2.9. Tách hàm, tách lớp theo SOLID — mức nhập môn (1/5)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/>
              <a:t>SOLID là 5 nguyên tắc kinh điển giúp OOP dễ sửa, dễ mở rộng. Mới học </a:t>
            </a:r>
            <a:r>
              <a:rPr sz="2000" b="1"/>
              <a:t>chưa cần thuộc định nghĩa hàn lâm</a:t>
            </a:r>
            <a:r>
              <a:rPr sz="2000" b="0"/>
              <a:t> — chỉ cần nhớ đúng một câu hỏi tự kiểm cho mỗi chữ cái, dùng khi phân vân "có nên tách hàm/lớp này ra không?":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2.9. Tách hàm, tách lớp theo SOLID — mức nhập môn (2/5)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38528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Chữ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Tên đầy đủ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Câu hỏi tự kiểm (mức nhập môn)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/>
                        <a:t>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Single Responsibility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Mô tả việc hàm/lớp này làm trong 1 câu — có phải dùng chữ "và" không?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/>
                        <a:t>O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Open/Closed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Thêm tính năng mới có phải </a:t>
                      </a:r>
                      <a:r>
                        <a:rPr sz="1000" b="1"/>
                        <a:t>sửa lại</a:t>
                      </a:r>
                      <a:r>
                        <a:rPr sz="1000" b="0"/>
                        <a:t> code cũ đang chạy ổn không?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/>
                        <a:t>L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Liskov Substitution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Lớp con có dùng thay lớp cha được mà không gây kết quả bất ngờ không?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/>
                        <a:t>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Interface Segregation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Lớp có đang phải "gánh" phương thức nó </a:t>
                      </a:r>
                      <a:r>
                        <a:rPr sz="1000" b="1"/>
                        <a:t>không hề dùng tới</a:t>
                      </a:r>
                      <a:r>
                        <a:rPr sz="1000" b="0"/>
                        <a:t> không?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/>
                        <a:t>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Dependency Inversion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Hàm/lớp có tự ý phụ thuộc thẳng vào 1 thứ cụ thể thay vì nhận qua tham số không?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2.9. Tách hàm, tách lớp theo SOLID — mức nhập môn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55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S hay dùng nhất khi mới học</a:t>
            </a:r>
            <a:r>
              <a:rPr sz="1500" b="0"/>
              <a:t> — trả lời thẳng câu "khi nào nên tách hàm, tách lớp":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31136"/>
            <a:ext cx="8412480" cy="289509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SAI: 1 method vua tinh toan vua ve HTML - 2 ly do khac nhau de phai sua no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class SanPham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public $ten;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public $gia;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public $soLuong;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public function inDongBang()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$thanhTien = $this-&gt;gia * $this-&gt;soLuong;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return "&lt;tr&gt;&lt;td&gt;" . $this-&gt;ten . "&lt;/td&gt;&lt;td&gt;"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. number_format($thanhTien) . "&lt;/td&gt;&lt;/tr&gt;";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2.9. Tách hàm, tách lớp theo SOLID — mức nhập môn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55648"/>
            <a:ext cx="8412480" cy="383108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DUNG: tach lam 2, moi ham dung 1 ly do de sua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class SanPham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public $ten;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public $gia;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public $soLuong;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Chi tinh toan - doi cong thuc tinh tien thi chi sua o day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public function tinhThanhTien()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return $this-&gt;gia * $this-&gt;soLuong;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Ve giao dien nam rieng, ngoai lop du lieu - doi giao dien thi chi sua o day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veDongBang(SanPham $sp)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"&lt;tr&gt;&lt;td&gt;" . $sp-&gt;ten . "&lt;/td&gt;&lt;td&gt;"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. dinhDangTien($sp-&gt;tinhThanhTien()) . "&lt;/td&gt;&lt;/tr&gt;";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2.9. Tách hàm, tách lớp theo SOLID — mức nhập môn (5/5)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500" i="1" b="0">
                <a:solidFill>
                  <a:srgbClr val="666666"/>
                </a:solidFill>
              </a:rPr>
              <a:t>Đây chính là lý do quy ước của khóa bắt buộc lớp trong </a:t>
            </a:r>
            <a:r>
              <a:rPr sz="15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app/model/</a:t>
            </a:r>
            <a:r>
              <a:rPr sz="1500" i="1" b="0">
                <a:solidFill>
                  <a:srgbClr val="666666"/>
                </a:solidFill>
              </a:rPr>
              <a:t> </a:t>
            </a:r>
            <a:r>
              <a:rPr sz="1500" i="1" b="1">
                <a:solidFill>
                  <a:srgbClr val="666666"/>
                </a:solidFill>
              </a:rPr>
              <a:t>không được chứa HTML</a:t>
            </a:r>
            <a:r>
              <a:rPr sz="1500" i="1" b="0">
                <a:solidFill>
                  <a:srgbClr val="666666"/>
                </a:solidFill>
              </a:rPr>
              <a:t> (đã nói ở mục 2.8): model chỉ lo *dữ liệu + tính toán*, còn *hiển thị* là việc của nơi khác. Gộp chung vào một hàm là vi phạm nguyên tắc S.</a:t>
            </a:r>
          </a:p>
          <a:p>
            <a:pPr>
              <a:spcAft>
                <a:spcPts val="800"/>
              </a:spcAft>
            </a:pPr>
            <a:r>
              <a:rPr sz="1600" b="1"/>
              <a:t>Bốn chữ còn lại</a:t>
            </a:r>
            <a:r>
              <a:rPr sz="1600" b="0"/>
              <a:t>, áp dụng luôn vào những quy ước đã học trong khóa:</a:t>
            </a:r>
          </a:p>
          <a:p>
            <a:pPr>
              <a:spcAft>
                <a:spcPts val="600"/>
              </a:spcAft>
            </a:pPr>
            <a:r>
              <a:rPr sz="1600" b="1"/>
              <a:t>O</a:t>
            </a:r>
            <a:r>
              <a:rPr sz="1600" b="0"/>
              <a:t> — thêm một kiểu giảm giá mới thì viết </a:t>
            </a:r>
            <a:r>
              <a:rPr sz="1600" b="1"/>
              <a:t>thêm</a:t>
            </a:r>
            <a:r>
              <a:rPr sz="1600" b="0"/>
              <a:t> hàm mới, hạn chế sửa lại</a:t>
            </a:r>
            <a:r>
              <a:rPr sz="1600" b="0"/>
              <a:t> </a:t>
            </a:r>
            <a:r>
              <a:rPr sz="1600" b="0">
                <a:latin typeface="Consolas"/>
                <a:ea typeface="Consolas"/>
                <a:cs typeface="Consolas"/>
              </a:rPr>
              <a:t>tinhTienSauGiam()</a:t>
            </a:r>
            <a:r>
              <a:rPr sz="1600" b="0"/>
              <a:t> đang được nhiều chỗ gọi — sửa hàm cũ dễ gây lỗi ở những nơi đang</a:t>
            </a:r>
            <a:r>
              <a:rPr sz="1600" b="0"/>
              <a:t> </a:t>
            </a:r>
            <a:r>
              <a:rPr sz="1600" b="0"/>
              <a:t>dùng nó đúng.</a:t>
            </a:r>
          </a:p>
          <a:p>
            <a:pPr>
              <a:spcAft>
                <a:spcPts val="600"/>
              </a:spcAft>
            </a:pPr>
            <a:r>
              <a:rPr sz="1600" b="1"/>
              <a:t>L</a:t>
            </a:r>
            <a:r>
              <a:rPr sz="1600" b="0"/>
              <a:t> — sau này nếu có lớp </a:t>
            </a:r>
            <a:r>
              <a:rPr sz="1600" b="0">
                <a:latin typeface="Consolas"/>
                <a:ea typeface="Consolas"/>
                <a:cs typeface="Consolas"/>
              </a:rPr>
              <a:t>SanPhamGiamGia extends SanPham</a:t>
            </a:r>
            <a:r>
              <a:rPr sz="1600" b="0"/>
              <a:t> ghi đè </a:t>
            </a:r>
            <a:r>
              <a:rPr sz="1600" b="0">
                <a:latin typeface="Consolas"/>
                <a:ea typeface="Consolas"/>
                <a:cs typeface="Consolas"/>
              </a:rPr>
              <a:t>tinhThanhTien()</a:t>
            </a:r>
            <a:r>
              <a:rPr sz="1600" b="0"/>
              <a:t>,</a:t>
            </a:r>
            <a:r>
              <a:rPr sz="1600" b="0"/>
              <a:t> </a:t>
            </a:r>
            <a:r>
              <a:rPr sz="1600" b="0"/>
              <a:t>kết quả trả về vẫn phải là </a:t>
            </a:r>
            <a:r>
              <a:rPr sz="1600" b="1"/>
              <a:t>số tiền</a:t>
            </a:r>
            <a:r>
              <a:rPr sz="1600" b="0"/>
              <a:t> giống lớp cha (không được trả </a:t>
            </a:r>
            <a:r>
              <a:rPr sz="1600" b="0">
                <a:latin typeface="Consolas"/>
                <a:ea typeface="Consolas"/>
                <a:cs typeface="Consolas"/>
              </a:rPr>
              <a:t>null</a:t>
            </a:r>
            <a:r>
              <a:rPr sz="1600" b="0"/>
              <a:t> hay chuỗi) —</a:t>
            </a:r>
            <a:r>
              <a:rPr sz="1600" b="0"/>
              <a:t> </a:t>
            </a:r>
            <a:r>
              <a:rPr sz="1600" b="0"/>
              <a:t>nơi gọi </a:t>
            </a:r>
            <a:r>
              <a:rPr sz="1600" b="0">
                <a:latin typeface="Consolas"/>
                <a:ea typeface="Consolas"/>
                <a:cs typeface="Consolas"/>
              </a:rPr>
              <a:t>tinhThanhTien()</a:t>
            </a:r>
            <a:r>
              <a:rPr sz="1600" b="0"/>
              <a:t> không cần biết đang cầm lớp con hay lớp cha.</a:t>
            </a:r>
          </a:p>
          <a:p>
            <a:pPr>
              <a:spcAft>
                <a:spcPts val="600"/>
              </a:spcAft>
            </a:pPr>
            <a:r>
              <a:rPr sz="1600" b="1"/>
              <a:t>I</a:t>
            </a:r>
            <a:r>
              <a:rPr sz="1600" b="0"/>
              <a:t> — đừng nhét </a:t>
            </a:r>
            <a:r>
              <a:rPr sz="1600" b="0">
                <a:latin typeface="Consolas"/>
                <a:ea typeface="Consolas"/>
                <a:cs typeface="Consolas"/>
              </a:rPr>
              <a:t>tinhThanhTien()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guiEmailXacNhan()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xuatHoaDonPDF()</a:t>
            </a:r>
            <a:r>
              <a:rPr sz="1600" b="0"/>
              <a:t> vào chung</a:t>
            </a:r>
            <a:r>
              <a:rPr sz="1600" b="0"/>
              <a:t> </a:t>
            </a:r>
            <a:r>
              <a:rPr sz="1600" b="0"/>
              <a:t>một lớp </a:t>
            </a:r>
            <a:r>
              <a:rPr sz="1600" b="0">
                <a:latin typeface="Consolas"/>
                <a:ea typeface="Consolas"/>
                <a:cs typeface="Consolas"/>
              </a:rPr>
              <a:t>SanPham</a:t>
            </a:r>
            <a:r>
              <a:rPr sz="1600" b="0"/>
              <a:t> — lớp nào chỉ cần tính tiền cũng phải "gánh" luôn hai việc không</a:t>
            </a:r>
            <a:r>
              <a:rPr sz="1600" b="0"/>
              <a:t> </a:t>
            </a:r>
            <a:r>
              <a:rPr sz="1600" b="0"/>
              <a:t>liên quan.</a:t>
            </a:r>
          </a:p>
          <a:p>
            <a:pPr>
              <a:spcAft>
                <a:spcPts val="600"/>
              </a:spcAft>
            </a:pPr>
            <a:r>
              <a:rPr sz="1600" b="1"/>
              <a:t>D</a:t>
            </a:r>
            <a:r>
              <a:rPr sz="1600" b="0"/>
              <a:t> — chính là quy tắc </a:t>
            </a:r>
            <a:r>
              <a:rPr sz="1600" b="1"/>
              <a:t>"truyền `$conn` qua tham số, không dùng `global`"</a:t>
            </a:r>
            <a:r>
              <a:rPr sz="1600" b="0"/>
              <a:t> đã học ở</a:t>
            </a:r>
            <a:r>
              <a:rPr sz="1600" b="0"/>
              <a:t> </a:t>
            </a:r>
            <a:r>
              <a:rPr sz="1600" b="0"/>
              <a:t>mục 2.3: hàm phụ thuộc vào tham số truyền vào, không tự ý phụ thuộc cứng vào một biến/</a:t>
            </a:r>
            <a:r>
              <a:rPr sz="1600" b="0"/>
              <a:t> </a:t>
            </a:r>
            <a:r>
              <a:rPr sz="1600" b="0"/>
              <a:t>kết nối cụ thể nằm sẵn bên trong.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2.10. Xử lý lỗi: try / catch / throw (1/5)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/>
              <a:t>Có những lỗi </a:t>
            </a:r>
            <a:r>
              <a:rPr sz="1800" b="1"/>
              <a:t>không thể phòng trước bằng `if`</a:t>
            </a:r>
            <a:r>
              <a:rPr sz="1800" b="0"/>
              <a:t>: mất kết nối CSDL, file không đọc được, API bên ngoài không trả lời. PHP báo những lỗi này bằng cách </a:t>
            </a:r>
            <a:r>
              <a:rPr sz="1800" b="1"/>
              <a:t>ném ra một ngoại lệ (exception)</a:t>
            </a:r>
            <a:r>
              <a:rPr sz="1800" b="0"/>
              <a:t>.</a:t>
            </a:r>
          </a:p>
          <a:p>
            <a:pPr>
              <a:spcAft>
                <a:spcPts val="800"/>
              </a:spcAft>
            </a:pPr>
            <a:r>
              <a:rPr sz="1800" b="0"/>
              <a:t>Không bắt thì chương trình dừng và </a:t>
            </a:r>
            <a:r>
              <a:rPr sz="1800" b="1"/>
              <a:t>phơi luôn đường dẫn máy chủ ra cho người dùng thấy</a:t>
            </a:r>
            <a:r>
              <a:rPr sz="1800" b="0"/>
              <a:t> — vừa xấu vừa hở thông tin cho kẻ tấn công.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2.10. Xử lý lỗi: try / catch / throw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chiaSo($a, $b)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if ($b == 0)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    // Tu nem loi khi du lieu khong hop 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throw new Exception("Không thể chia cho 0");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$a / $b;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try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Dat doan code CO THE loi vao day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echo chiaSo(10, 2);      // 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echo chiaSo(10, 0);      // nem loi -&gt; nhay ngay xuong catch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echo "Dòng này không bao giờ chạy";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 catch (Exception $e)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Chay khi co loi. $e-&gt;getMessage() la cau mo ta loi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echo "Đã xảy ra lỗi: " . anToan($e-&gt;getMessage());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 finally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LUON chay, du co loi hay khong - dung de don dep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echo "&lt;br&gt;Kết thúc xử lý.";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2.10. Xử lý lỗi: try / catch / throw (3/5)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Từ khóa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Vai trò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try { }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Bọc đoạn code có thể sinh lỗi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throw new Exception("...")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Tự ném lỗi khi phát hiện dữ liệu sai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catch (Exception $e) { }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Bắt lỗi và xử lý;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$e-&gt;getMessage()</a:t>
                      </a:r>
                      <a:r>
                        <a:rPr sz="1100" b="0"/>
                        <a:t> là nội dung lỗi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finally { }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Luôn chạy dù có lỗi hay không (không bắt buộc)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2.10. Xử lý lỗi: try / catch / throw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Cách dùng đúng — thông báo tử tế cho người dùng, chi tiết thì ghi log: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64388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try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$sp = new SanPham("Bút bi", -5000, 10);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if ($sp-&gt;gia &lt; 0)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throw new Exception("Giá sản phẩm không được âm");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echo $sp-&gt;moTa();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 catch (Exception $e)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Nguoi dung chi thay cau ngan gon, khong thay duong dan he thong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echo "&lt;p style='color:red'&gt;Không lưu được sản phẩm. Vui lòng kiểm tra lại.&lt;/p&gt;";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Chi tiet ghi vao log cho lap trinh vien doc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error_log("Loi luu san pham: " . $e-&gt;getMessage());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2.10. Xử lý lỗi: try / catch / throw (5/5)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1">
                <a:solidFill>
                  <a:srgbClr val="666666"/>
                </a:solidFill>
              </a:rPr>
              <a:t>Đây là nền cho buổi 4.</a:t>
            </a:r>
            <a:r>
              <a:rPr sz="1900" i="1" b="0">
                <a:solidFill>
                  <a:srgbClr val="666666"/>
                </a:solidFill>
              </a:rPr>
              <a:t> Kết nối PDO tới MySQL luôn được bọc trong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try / catch</a:t>
            </a:r>
            <a:r>
              <a:rPr sz="1900" i="1" b="0">
                <a:solidFill>
                  <a:srgbClr val="666666"/>
                </a:solidFill>
              </a:rPr>
              <a:t>, vì nếu để lộ nguyên văn lỗi PDO thì người ngoài đọc được </a:t>
            </a:r>
            <a:r>
              <a:rPr sz="1900" i="1" b="1">
                <a:solidFill>
                  <a:srgbClr val="666666"/>
                </a:solidFill>
              </a:rPr>
              <a:t>tên CSDL, tên bảng, đường dẫn file trên máy chủ</a:t>
            </a:r>
            <a:r>
              <a:rPr sz="1900" i="1" b="0">
                <a:solidFill>
                  <a:srgbClr val="666666"/>
                </a:solidFill>
              </a:rPr>
              <a:t> — đúng những thứ kẻ tấn công cần.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3. Thực hành tại lớp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1"/>
              <a:t>Practice 1</a:t>
            </a:r>
            <a:r>
              <a:rPr sz="1600" b="0"/>
              <a:t> — File </a:t>
            </a:r>
            <a:r>
              <a:rPr sz="1600" b="0">
                <a:latin typeface="Consolas"/>
                <a:ea typeface="Consolas"/>
                <a:cs typeface="Consolas"/>
              </a:rPr>
              <a:t>buoi2_practice1.php</a:t>
            </a:r>
            <a:r>
              <a:rPr sz="1600" b="0"/>
              <a:t> Viết 3 hàm rồi gọi thử: </a:t>
            </a:r>
            <a:r>
              <a:rPr sz="1600" b="0">
                <a:latin typeface="Consolas"/>
                <a:ea typeface="Consolas"/>
                <a:cs typeface="Consolas"/>
              </a:rPr>
              <a:t>tinhDienTich($dai, $rong)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xepLoai($diem)</a:t>
            </a:r>
            <a:r>
              <a:rPr sz="1600" b="0"/>
              <a:t> trả về chuỗi Giỏi/Khá/Trung bình/Yếu, và </a:t>
            </a:r>
            <a:r>
              <a:rPr sz="1600" b="0">
                <a:latin typeface="Consolas"/>
                <a:ea typeface="Consolas"/>
                <a:cs typeface="Consolas"/>
              </a:rPr>
              <a:t>rutGon($chuoi, $soKyTu = 20)</a:t>
            </a:r>
            <a:r>
              <a:rPr sz="1600" b="0"/>
              <a:t> cắt chuỗi dài rồi thêm </a:t>
            </a:r>
            <a:r>
              <a:rPr sz="1600" b="0">
                <a:latin typeface="Consolas"/>
                <a:ea typeface="Consolas"/>
                <a:cs typeface="Consolas"/>
              </a:rPr>
              <a:t>...</a:t>
            </a:r>
            <a:r>
              <a:rPr sz="1600" b="0"/>
              <a:t>.</a:t>
            </a:r>
          </a:p>
          <a:p>
            <a:pPr>
              <a:spcAft>
                <a:spcPts val="800"/>
              </a:spcAft>
            </a:pPr>
            <a:r>
              <a:rPr sz="1600" b="1"/>
              <a:t>Practice 2</a:t>
            </a:r>
            <a:r>
              <a:rPr sz="1600" b="0"/>
              <a:t> — File </a:t>
            </a:r>
            <a:r>
              <a:rPr sz="1600" b="0">
                <a:latin typeface="Consolas"/>
                <a:ea typeface="Consolas"/>
                <a:cs typeface="Consolas"/>
              </a:rPr>
              <a:t>buoi2_practice2.php</a:t>
            </a:r>
            <a:r>
              <a:rPr sz="1600" b="0"/>
              <a:t> + </a:t>
            </a:r>
            <a:r>
              <a:rPr sz="1600" b="0">
                <a:latin typeface="Consolas"/>
                <a:ea typeface="Consolas"/>
                <a:cs typeface="Consolas"/>
              </a:rPr>
              <a:t>app/common/commonFuncs.php</a:t>
            </a:r>
            <a:r>
              <a:rPr sz="1600" b="0"/>
              <a:t> Dựng đúng cấu trúc thư mục ở mục 2.5. Thêm vào </a:t>
            </a:r>
            <a:r>
              <a:rPr sz="1600" b="0">
                <a:latin typeface="Consolas"/>
                <a:ea typeface="Consolas"/>
                <a:cs typeface="Consolas"/>
              </a:rPr>
              <a:t>commonFuncs.php</a:t>
            </a:r>
            <a:r>
              <a:rPr sz="1600" b="0"/>
              <a:t> hàm </a:t>
            </a:r>
            <a:r>
              <a:rPr sz="1600" b="0">
                <a:latin typeface="Consolas"/>
                <a:ea typeface="Consolas"/>
                <a:cs typeface="Consolas"/>
              </a:rPr>
              <a:t>inBangSanPham($dsSanPham)</a:t>
            </a:r>
            <a:r>
              <a:rPr sz="1600" b="0"/>
              <a:t> nhận mảng và in ra bảng HTML hoàn chỉnh. File </a:t>
            </a:r>
            <a:r>
              <a:rPr sz="1600" b="0">
                <a:latin typeface="Consolas"/>
                <a:ea typeface="Consolas"/>
                <a:cs typeface="Consolas"/>
              </a:rPr>
              <a:t>buoi2_practice2.php</a:t>
            </a:r>
            <a:r>
              <a:rPr sz="1600" b="0"/>
              <a:t> chỉ được phép có </a:t>
            </a:r>
            <a:r>
              <a:rPr sz="1600" b="0">
                <a:latin typeface="Consolas"/>
                <a:ea typeface="Consolas"/>
                <a:cs typeface="Consolas"/>
              </a:rPr>
              <a:t>require_once</a:t>
            </a:r>
            <a:r>
              <a:rPr sz="1600" b="0"/>
              <a:t> + mảng dữ liệu + một lời gọi hàm.</a:t>
            </a:r>
          </a:p>
          <a:p>
            <a:pPr>
              <a:spcAft>
                <a:spcPts val="800"/>
              </a:spcAft>
            </a:pPr>
            <a:r>
              <a:rPr sz="1600" b="1"/>
              <a:t>Practice 3</a:t>
            </a:r>
            <a:r>
              <a:rPr sz="1600" b="0"/>
              <a:t> — File </a:t>
            </a:r>
            <a:r>
              <a:rPr sz="1600" b="0">
                <a:latin typeface="Consolas"/>
                <a:ea typeface="Consolas"/>
                <a:cs typeface="Consolas"/>
              </a:rPr>
              <a:t>app/model/NguoiDung.php</a:t>
            </a:r>
            <a:r>
              <a:rPr sz="1600" b="0"/>
              <a:t> + </a:t>
            </a:r>
            <a:r>
              <a:rPr sz="1600" b="0">
                <a:latin typeface="Consolas"/>
                <a:ea typeface="Consolas"/>
                <a:cs typeface="Consolas"/>
              </a:rPr>
              <a:t>buoi2_practice3.php</a:t>
            </a:r>
            <a:r>
              <a:rPr sz="1600" b="0"/>
              <a:t> Viết lớp </a:t>
            </a:r>
            <a:r>
              <a:rPr sz="1600" b="0">
                <a:latin typeface="Consolas"/>
                <a:ea typeface="Consolas"/>
                <a:cs typeface="Consolas"/>
              </a:rPr>
              <a:t>NguoiDung</a:t>
            </a:r>
            <a:r>
              <a:rPr sz="1600" b="0"/>
              <a:t> có thuộc tính </a:t>
            </a:r>
            <a:r>
              <a:rPr sz="1600" b="0">
                <a:latin typeface="Consolas"/>
                <a:ea typeface="Consolas"/>
                <a:cs typeface="Consolas"/>
              </a:rPr>
              <a:t>hoTen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namSinh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email</a:t>
            </a:r>
            <a:r>
              <a:rPr sz="1600" b="0"/>
              <a:t>; hàm khởi tạo nhận đủ 3 giá trị; phương thức </a:t>
            </a:r>
            <a:r>
              <a:rPr sz="1600" b="0">
                <a:latin typeface="Consolas"/>
                <a:ea typeface="Consolas"/>
                <a:cs typeface="Consolas"/>
              </a:rPr>
              <a:t>tinhTuoi()</a:t>
            </a:r>
            <a:r>
              <a:rPr sz="1600" b="0"/>
              <a:t> và </a:t>
            </a:r>
            <a:r>
              <a:rPr sz="1600" b="0">
                <a:latin typeface="Consolas"/>
                <a:ea typeface="Consolas"/>
                <a:cs typeface="Consolas"/>
              </a:rPr>
              <a:t>moTa()</a:t>
            </a:r>
            <a:r>
              <a:rPr sz="1600" b="0"/>
              <a:t>. Tạo mảng 3 đối tượng và in ra bảng.</a:t>
            </a:r>
          </a:p>
          <a:p>
            <a:pPr>
              <a:spcAft>
                <a:spcPts val="800"/>
              </a:spcAft>
            </a:pPr>
            <a:r>
              <a:rPr sz="1600" b="1"/>
              <a:t>Practice 4</a:t>
            </a:r>
            <a:r>
              <a:rPr sz="1600" b="0"/>
              <a:t> — Sửa lại Practice 3 Trong hàm khởi tạo, nếu </a:t>
            </a:r>
            <a:r>
              <a:rPr sz="1600" b="0">
                <a:latin typeface="Consolas"/>
                <a:ea typeface="Consolas"/>
                <a:cs typeface="Consolas"/>
              </a:rPr>
              <a:t>namSinh</a:t>
            </a:r>
            <a:r>
              <a:rPr sz="1600" b="0"/>
              <a:t> lớn hơn năm hiện tại thì </a:t>
            </a:r>
            <a:r>
              <a:rPr sz="1600" b="0">
                <a:latin typeface="Consolas"/>
                <a:ea typeface="Consolas"/>
                <a:cs typeface="Consolas"/>
              </a:rPr>
              <a:t>throw new Exception(...)</a:t>
            </a:r>
            <a:r>
              <a:rPr sz="1600" b="0"/>
              <a:t>. Ở file gọi, bọc phần tạo đối tượng trong </a:t>
            </a:r>
            <a:r>
              <a:rPr sz="1600" b="0">
                <a:latin typeface="Consolas"/>
                <a:ea typeface="Consolas"/>
                <a:cs typeface="Consolas"/>
              </a:rPr>
              <a:t>try / catch</a:t>
            </a:r>
            <a:r>
              <a:rPr sz="1600" b="0"/>
              <a:t> và in thông báo thân thiện khi lỗi.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4. Bài tập về nhà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600" b="0"/>
              <a:t>Hoàn thiện 4 practice trên lớp, đặt trong </a:t>
            </a:r>
            <a:r>
              <a:rPr sz="1600" b="0">
                <a:latin typeface="Consolas"/>
                <a:ea typeface="Consolas"/>
                <a:cs typeface="Consolas"/>
              </a:rPr>
              <a:t>htdocs/course8/buoi2/</a:t>
            </a:r>
            <a:r>
              <a:rPr sz="1600" b="0"/>
              <a:t>.</a:t>
            </a:r>
          </a:p>
          <a:p>
            <a:pPr>
              <a:spcAft>
                <a:spcPts val="600"/>
              </a:spcAft>
            </a:pPr>
            <a:r>
              <a:rPr sz="1600" b="0"/>
              <a:t>Viết </a:t>
            </a:r>
            <a:r>
              <a:rPr sz="1600" b="0">
                <a:latin typeface="Consolas"/>
                <a:ea typeface="Consolas"/>
                <a:cs typeface="Consolas"/>
              </a:rPr>
              <a:t>buoi2_homework.php</a:t>
            </a:r>
            <a:r>
              <a:rPr sz="1600" b="0"/>
              <a:t>: lớp </a:t>
            </a:r>
            <a:r>
              <a:rPr sz="1600" b="0">
                <a:latin typeface="Consolas"/>
                <a:ea typeface="Consolas"/>
                <a:cs typeface="Consolas"/>
              </a:rPr>
              <a:t>GioHang</a:t>
            </a:r>
            <a:r>
              <a:rPr sz="1600" b="0"/>
              <a:t> có thuộc tính là mảng các đối tượng </a:t>
            </a:r>
            <a:r>
              <a:rPr sz="1600" b="0">
                <a:latin typeface="Consolas"/>
                <a:ea typeface="Consolas"/>
                <a:cs typeface="Consolas"/>
              </a:rPr>
              <a:t>SanPham</a:t>
            </a:r>
            <a:r>
              <a:rPr sz="1600" b="0"/>
              <a:t>,</a:t>
            </a:r>
            <a:r>
              <a:rPr sz="1600" b="0"/>
              <a:t> </a:t>
            </a:r>
            <a:r>
              <a:rPr sz="1600" b="0"/>
              <a:t>các phương thức </a:t>
            </a:r>
            <a:r>
              <a:rPr sz="1600" b="0">
                <a:latin typeface="Consolas"/>
                <a:ea typeface="Consolas"/>
                <a:cs typeface="Consolas"/>
              </a:rPr>
              <a:t>them($sanPham)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tongTien()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demSanPham()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inBang()</a:t>
            </a:r>
            <a:r>
              <a:rPr sz="1600" b="0"/>
              <a:t>.</a:t>
            </a:r>
          </a:p>
          <a:p>
            <a:pPr>
              <a:spcAft>
                <a:spcPts val="600"/>
              </a:spcAft>
            </a:pPr>
            <a:r>
              <a:rPr sz="1600" b="0"/>
              <a:t>Chuyển toàn bộ bài tập buổi 1 sang dùng hàm trong </a:t>
            </a:r>
            <a:r>
              <a:rPr sz="1600" b="0">
                <a:latin typeface="Consolas"/>
                <a:ea typeface="Consolas"/>
                <a:cs typeface="Consolas"/>
              </a:rPr>
              <a:t>commonFuncs.php</a:t>
            </a:r>
            <a:r>
              <a:rPr sz="1600" b="0"/>
              <a:t> — không còn dòng</a:t>
            </a:r>
            <a:r>
              <a:rPr sz="1600" b="0"/>
              <a:t> </a:t>
            </a:r>
            <a:r>
              <a:rPr sz="1600" b="0">
                <a:latin typeface="Consolas"/>
                <a:ea typeface="Consolas"/>
                <a:cs typeface="Consolas"/>
              </a:rPr>
              <a:t>number_format</a:t>
            </a:r>
            <a:r>
              <a:rPr sz="1600" b="0"/>
              <a:t> hay </a:t>
            </a:r>
            <a:r>
              <a:rPr sz="1600" b="0">
                <a:latin typeface="Consolas"/>
                <a:ea typeface="Consolas"/>
                <a:cs typeface="Consolas"/>
              </a:rPr>
              <a:t>htmlspecialchars</a:t>
            </a:r>
            <a:r>
              <a:rPr sz="1600" b="0"/>
              <a:t> nào nằm rải rác trong file chính.</a:t>
            </a:r>
          </a:p>
          <a:p>
            <a:pPr>
              <a:spcAft>
                <a:spcPts val="600"/>
              </a:spcAft>
            </a:pPr>
            <a:r>
              <a:rPr sz="1600" b="0"/>
              <a:t>Đọc trước về SQL cơ bản: https://www.w3schools.com/sql/</a:t>
            </a:r>
            <a:r>
              <a:rPr sz="1600" b="0"/>
              <a:t> </a:t>
            </a:r>
            <a:r>
              <a:rPr sz="1600" b="0"/>
              <a:t>(mục SELECT, WHERE, INSERT, UPDATE, DELETE).</a:t>
            </a:r>
          </a:p>
          <a:p>
            <a:pPr>
              <a:spcAft>
                <a:spcPts val="600"/>
              </a:spcAft>
            </a:pPr>
            <a:r>
              <a:rPr sz="1600" b="0"/>
              <a:t>Đảm bảo XAMPP chạy được cả Apache và MySQL — buổi 3 sẽ dùng phpMyAdmin ngay từ đầu giờ.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5. Checklist cuối buổi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600" b="0"/>
              <a:t>[ ] Viết được hàm có tham số mặc định và giải thích được </a:t>
            </a:r>
            <a:r>
              <a:rPr sz="1600" b="0">
                <a:latin typeface="Consolas"/>
                <a:ea typeface="Consolas"/>
                <a:cs typeface="Consolas"/>
              </a:rPr>
              <a:t>return</a:t>
            </a:r>
            <a:r>
              <a:rPr sz="1600" b="0"/>
              <a:t> khác </a:t>
            </a:r>
            <a:r>
              <a:rPr sz="1600" b="0">
                <a:latin typeface="Consolas"/>
                <a:ea typeface="Consolas"/>
                <a:cs typeface="Consolas"/>
              </a:rPr>
              <a:t>echo</a:t>
            </a:r>
            <a:r>
              <a:rPr sz="1600" b="0"/>
              <a:t> ở đâu.</a:t>
            </a:r>
          </a:p>
          <a:p>
            <a:pPr>
              <a:spcAft>
                <a:spcPts val="600"/>
              </a:spcAft>
            </a:pPr>
            <a:r>
              <a:rPr sz="1600" b="0"/>
              <a:t>[ ] Nói được vì sao không dùng biến </a:t>
            </a:r>
            <a:r>
              <a:rPr sz="1600" b="0">
                <a:latin typeface="Consolas"/>
                <a:ea typeface="Consolas"/>
                <a:cs typeface="Consolas"/>
              </a:rPr>
              <a:t>global</a:t>
            </a:r>
            <a:r>
              <a:rPr sz="1600" b="0"/>
              <a:t> mà truyền qua tham số.</a:t>
            </a:r>
          </a:p>
          <a:p>
            <a:pPr>
              <a:spcAft>
                <a:spcPts val="600"/>
              </a:spcAft>
            </a:pPr>
            <a:r>
              <a:rPr sz="1600" b="0"/>
              <a:t>[ ] Phân biệt được </a:t>
            </a:r>
            <a:r>
              <a:rPr sz="1600" b="0">
                <a:latin typeface="Consolas"/>
                <a:ea typeface="Consolas"/>
                <a:cs typeface="Consolas"/>
              </a:rPr>
              <a:t>include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require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require_once</a:t>
            </a:r>
            <a:r>
              <a:rPr sz="1600" b="0"/>
              <a:t> và biết khi nào dùng cái nào.</a:t>
            </a:r>
          </a:p>
          <a:p>
            <a:pPr>
              <a:spcAft>
                <a:spcPts val="600"/>
              </a:spcAft>
            </a:pPr>
            <a:r>
              <a:rPr sz="1600" b="0"/>
              <a:t>[ ] Có đúng cấu trúc </a:t>
            </a:r>
            <a:r>
              <a:rPr sz="1600" b="0">
                <a:latin typeface="Consolas"/>
                <a:ea typeface="Consolas"/>
                <a:cs typeface="Consolas"/>
              </a:rPr>
              <a:t>app/common/</a:t>
            </a:r>
            <a:r>
              <a:rPr sz="1600" b="0"/>
              <a:t> với </a:t>
            </a:r>
            <a:r>
              <a:rPr sz="1600" b="0">
                <a:latin typeface="Consolas"/>
                <a:ea typeface="Consolas"/>
                <a:cs typeface="Consolas"/>
              </a:rPr>
              <a:t>define.php</a:t>
            </a:r>
            <a:r>
              <a:rPr sz="1600" b="0"/>
              <a:t> và </a:t>
            </a:r>
            <a:r>
              <a:rPr sz="1600" b="0">
                <a:latin typeface="Consolas"/>
                <a:ea typeface="Consolas"/>
                <a:cs typeface="Consolas"/>
              </a:rPr>
              <a:t>commonFuncs.php</a:t>
            </a:r>
            <a:r>
              <a:rPr sz="1600" b="0"/>
              <a:t> chạy được.</a:t>
            </a:r>
          </a:p>
          <a:p>
            <a:pPr>
              <a:spcAft>
                <a:spcPts val="600"/>
              </a:spcAft>
            </a:pPr>
            <a:r>
              <a:rPr sz="1600" b="0"/>
              <a:t>[ ] Giải thích được lớp khác đối tượng thế nào, </a:t>
            </a:r>
            <a:r>
              <a:rPr sz="1600" b="0">
                <a:latin typeface="Consolas"/>
                <a:ea typeface="Consolas"/>
                <a:cs typeface="Consolas"/>
              </a:rPr>
              <a:t>$this</a:t>
            </a:r>
            <a:r>
              <a:rPr sz="1600" b="0"/>
              <a:t> trỏ tới cái gì.</a:t>
            </a:r>
          </a:p>
          <a:p>
            <a:pPr>
              <a:spcAft>
                <a:spcPts val="600"/>
              </a:spcAft>
            </a:pPr>
            <a:r>
              <a:rPr sz="1600" b="0"/>
              <a:t>[ ] Viết được một lớp có hàm khởi tạo và ít nhất 2 phương thức.</a:t>
            </a:r>
          </a:p>
          <a:p>
            <a:pPr>
              <a:spcAft>
                <a:spcPts val="600"/>
              </a:spcAft>
            </a:pPr>
            <a:r>
              <a:rPr sz="1600" b="0"/>
              <a:t>[ ] Giải thích được nguyên tắc S (Single Responsibility) và chỉ ra được khi nào một</a:t>
            </a:r>
            <a:r>
              <a:rPr sz="1600" b="0"/>
              <a:t> </a:t>
            </a:r>
            <a:r>
              <a:rPr sz="1600" b="0"/>
              <a:t>hàm/lớp đang làm quá nhiều việc cùng lúc.</a:t>
            </a:r>
          </a:p>
          <a:p>
            <a:pPr>
              <a:spcAft>
                <a:spcPts val="600"/>
              </a:spcAft>
            </a:pPr>
            <a:r>
              <a:rPr sz="1600" b="0"/>
              <a:t>[ ] Bọc được đoạn code rủi ro trong </a:t>
            </a:r>
            <a:r>
              <a:rPr sz="1600" b="0">
                <a:latin typeface="Consolas"/>
                <a:ea typeface="Consolas"/>
                <a:cs typeface="Consolas"/>
              </a:rPr>
              <a:t>try / catch</a:t>
            </a:r>
            <a:r>
              <a:rPr sz="1600" b="0"/>
              <a:t> và không để lộ lỗi hệ thống ra màn hình.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6. Tham khảo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/>
              <a:t>Hàm trong PHP: https://www.php.net/manual/en/language.functions.php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onsolas"/>
                <a:ea typeface="Consolas"/>
                <a:cs typeface="Consolas"/>
              </a:rPr>
              <a:t>include</a:t>
            </a:r>
            <a:r>
              <a:rPr sz="1800" b="0"/>
              <a:t> / </a:t>
            </a:r>
            <a:r>
              <a:rPr sz="1800" b="0">
                <a:latin typeface="Consolas"/>
                <a:ea typeface="Consolas"/>
                <a:cs typeface="Consolas"/>
              </a:rPr>
              <a:t>require</a:t>
            </a:r>
            <a:r>
              <a:rPr sz="1800" b="0"/>
              <a:t>: https://www.php.net/manual/en/function.include.php</a:t>
            </a:r>
          </a:p>
          <a:p>
            <a:pPr>
              <a:spcAft>
                <a:spcPts val="600"/>
              </a:spcAft>
            </a:pPr>
            <a:r>
              <a:rPr sz="1800" b="0"/>
              <a:t>Lớp và đối tượng: https://www.php.net/manual/en/language.oop5.basic.php</a:t>
            </a:r>
          </a:p>
          <a:p>
            <a:pPr>
              <a:spcAft>
                <a:spcPts val="600"/>
              </a:spcAft>
            </a:pPr>
            <a:r>
              <a:rPr sz="1800" b="0"/>
              <a:t>Nguyên tắc SOLID: https://en.wikipedia.org/wiki/SOLID</a:t>
            </a:r>
          </a:p>
          <a:p>
            <a:pPr>
              <a:spcAft>
                <a:spcPts val="600"/>
              </a:spcAft>
            </a:pPr>
            <a:r>
              <a:rPr sz="1800" b="0"/>
              <a:t>Ngoại lệ: https://www.php.net/manual/en/language.exceptions.php</a:t>
            </a:r>
          </a:p>
          <a:p>
            <a:pPr>
              <a:spcAft>
                <a:spcPts val="600"/>
              </a:spcAft>
            </a:pPr>
            <a:r>
              <a:rPr sz="1800" b="0"/>
              <a:t>Hàm hay dùng: </a:t>
            </a:r>
            <a:r>
              <a:rPr sz="1800" b="0">
                <a:latin typeface="Consolas"/>
                <a:ea typeface="Consolas"/>
                <a:cs typeface="Consolas"/>
              </a:rPr>
              <a:t>number_format()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htmlspecialchars()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strlen()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substr()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date()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6880</TotalTime>
  <Words>328</Words>
  <Application>Microsoft Office PowerPoint</Application>
  <PresentationFormat>画面に合わせる (4:3)</PresentationFormat>
  <Paragraphs>57</Paragraphs>
  <Slides>19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Adjacency</vt:lpstr>
      <vt:lpstr>Khóa đào tạo Lập trình Web sử dụng PHP</vt:lpstr>
      <vt:lpstr>PowerPoint プレゼンテーション</vt:lpstr>
      <vt:lpstr>1. Form</vt:lpstr>
      <vt:lpstr>Các loại HTML input cơ bản</vt:lpstr>
      <vt:lpstr>Demo</vt:lpstr>
      <vt:lpstr>2. Truyền biến</vt:lpstr>
      <vt:lpstr>demo11.html – Page A - GET</vt:lpstr>
      <vt:lpstr>demo 11d.php - GET</vt:lpstr>
      <vt:lpstr>demo11.html – Page A - POST</vt:lpstr>
      <vt:lpstr>demo11.php – Page B - POST</vt:lpstr>
      <vt:lpstr>Self-handling</vt:lpstr>
      <vt:lpstr>Output</vt:lpstr>
      <vt:lpstr>Output</vt:lpstr>
      <vt:lpstr>Demo 3 – Dung Hidden</vt:lpstr>
      <vt:lpstr>Demo 3 – Page A</vt:lpstr>
      <vt:lpstr>Demo 3 – Page B</vt:lpstr>
      <vt:lpstr>Demo 3 – Page C - POST</vt:lpstr>
      <vt:lpstr>Practice 1</vt:lpstr>
      <vt:lpstr>Practice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Khóa đào tạo lập trình web sử dụng php</dc:title>
  <dc:creator>ngoctb</dc:creator>
  <cp:lastModifiedBy>Chu Van Quy</cp:lastModifiedBy>
  <cp:revision>2090</cp:revision>
  <dcterms:created xsi:type="dcterms:W3CDTF">2014-12-22T07:12:12Z</dcterms:created>
  <dcterms:modified xsi:type="dcterms:W3CDTF">2025-09-30T00:54:03Z</dcterms:modified>
</cp:coreProperties>
</file>