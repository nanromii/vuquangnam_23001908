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21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6"/>
    <p:sldId id="271" r:id="rId5"/>
    <p:sldId id="272" r:id="rId4"/>
    <p:sldId id="273" r:id="rId3"/>
    <p:sldId id="274" r:id="rId2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4000" autoAdjust="0"/>
  </p:normalViewPr>
  <p:slideViewPr>
    <p:cSldViewPr>
      <p:cViewPr varScale="1">
        <p:scale>
          <a:sx n="64" d="100"/>
          <a:sy n="64" d="100"/>
        </p:scale>
        <p:origin x="134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9.xml"/><Relationship Id="rId3" Type="http://schemas.openxmlformats.org/officeDocument/2006/relationships/slide" Target="slides/slide18.xml"/><Relationship Id="rId4" Type="http://schemas.openxmlformats.org/officeDocument/2006/relationships/slide" Target="slides/slide17.xml"/><Relationship Id="rId5" Type="http://schemas.openxmlformats.org/officeDocument/2006/relationships/slide" Target="slides/slide16.xml"/><Relationship Id="rId6" Type="http://schemas.openxmlformats.org/officeDocument/2006/relationships/slide" Target="slides/slide15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D529C2-2740-49AF-AD85-11B5D3921039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3765A4-D309-444E-9276-0B2CD25A6C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988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1F5D2862-91D1-4AD8-B8BA-DEE8FF15728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8E254BE3-F7ED-4F3E-8A95-B55AC90E785B}" type="datetimeFigureOut">
              <a:rPr lang="en-US" smtClean="0"/>
              <a:t>9/30/2025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r>
              <a:rPr sz="3400"/>
              <a:t>Khóa đào tạo
Lập trình Web: PHP · Vue · MySQL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/>
              <a:t>Buổi 6 — Vue 3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Nội dung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600" b="0"/>
              <a:t>1. Mục tiêu</a:t>
            </a:r>
          </a:p>
          <a:p>
            <a:pPr>
              <a:spcAft>
                <a:spcPts val="600"/>
              </a:spcAft>
            </a:pPr>
            <a:r>
              <a:rPr sz="1600" b="0"/>
              <a:t>2. Chuẩn bị</a:t>
            </a:r>
          </a:p>
          <a:p>
            <a:pPr>
              <a:spcAft>
                <a:spcPts val="600"/>
              </a:spcAft>
            </a:pPr>
            <a:r>
              <a:rPr sz="1600" b="0"/>
              <a:t>Tiết 1 — Khởi tạo Vue &amp; directives</a:t>
            </a:r>
          </a:p>
          <a:p>
            <a:pPr>
              <a:spcAft>
                <a:spcPts val="600"/>
              </a:spcAft>
            </a:pPr>
            <a:r>
              <a:rPr sz="1600" b="0"/>
              <a:t>Tiết 2 — v-model, methods, computed, watch &amp; mounted</a:t>
            </a:r>
          </a:p>
          <a:p>
            <a:pPr>
              <a:spcAft>
                <a:spcPts val="600"/>
              </a:spcAft>
            </a:pPr>
            <a:r>
              <a:rPr sz="1600" b="0"/>
              <a:t>3. Thực hành tại lớp</a:t>
            </a:r>
          </a:p>
          <a:p>
            <a:pPr>
              <a:spcAft>
                <a:spcPts val="600"/>
              </a:spcAft>
            </a:pPr>
            <a:r>
              <a:rPr sz="1600" b="0"/>
              <a:t>4. Bài tập về nhà</a:t>
            </a:r>
          </a:p>
          <a:p>
            <a:pPr>
              <a:spcAft>
                <a:spcPts val="600"/>
              </a:spcAft>
            </a:pPr>
            <a:r>
              <a:rPr sz="1600" b="0"/>
              <a:t>5. Checklist cuối buổi</a:t>
            </a:r>
          </a:p>
          <a:p>
            <a:pPr>
              <a:spcAft>
                <a:spcPts val="600"/>
              </a:spcAft>
            </a:pPr>
            <a:r>
              <a:rPr sz="1600" b="0"/>
              <a:t>6. Tham khảo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Buổi 6 — Vue 3 cơ bản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700" i="1" b="1">
                <a:solidFill>
                  <a:srgbClr val="666666"/>
                </a:solidFill>
              </a:rPr>
              <a:t>Quy ước của buổi này:</a:t>
            </a:r>
            <a:r>
              <a:rPr sz="1700" i="1" b="0">
                <a:solidFill>
                  <a:srgbClr val="666666"/>
                </a:solidFill>
              </a:rPr>
              <a:t> mỗi ví dụ code Vue gói gọn trong </a:t>
            </a:r>
            <a:r>
              <a:rPr sz="1700" i="1" b="1">
                <a:solidFill>
                  <a:srgbClr val="666666"/>
                </a:solidFill>
              </a:rPr>
              <a:t>1 slide</a:t>
            </a:r>
            <a:r>
              <a:rPr sz="1700" i="1" b="0">
                <a:solidFill>
                  <a:srgbClr val="666666"/>
                </a:solidFill>
              </a:rPr>
              <a:t>, và slide ngay sau đó là </a:t>
            </a:r>
            <a:r>
              <a:rPr sz="1700" i="1" b="1">
                <a:solidFill>
                  <a:srgbClr val="666666"/>
                </a:solidFill>
              </a:rPr>
              <a:t>HTML thuần tương ứng</a:t>
            </a:r>
            <a:r>
              <a:rPr sz="1700" i="1" b="0">
                <a:solidFill>
                  <a:srgbClr val="666666"/>
                </a:solidFill>
              </a:rPr>
              <a:t> (kết quả trong DOM, hoặc HTML + JS thuần làm cùng việc) để học viên so sánh trực tiếp. Mọi ví dụ chỉ hiển thị phần </a:t>
            </a:r>
            <a:r>
              <a:rPr sz="1700" i="1" b="0">
                <a:solidFill>
                  <a:srgbClr val="666666"/>
                </a:solidFill>
                <a:latin typeface="Consolas"/>
                <a:ea typeface="Consolas"/>
                <a:cs typeface="Consolas"/>
              </a:rPr>
              <a:t>&lt;body&gt;</a:t>
            </a:r>
            <a:r>
              <a:rPr sz="1700" i="1" b="0">
                <a:solidFill>
                  <a:srgbClr val="666666"/>
                </a:solidFill>
              </a:rPr>
              <a:t>; phần </a:t>
            </a:r>
            <a:r>
              <a:rPr sz="1700" i="1" b="0">
                <a:solidFill>
                  <a:srgbClr val="666666"/>
                </a:solidFill>
                <a:latin typeface="Consolas"/>
                <a:ea typeface="Consolas"/>
                <a:cs typeface="Consolas"/>
              </a:rPr>
              <a:t>&lt;head&gt;</a:t>
            </a:r>
            <a:r>
              <a:rPr sz="1700" i="1" b="0">
                <a:solidFill>
                  <a:srgbClr val="666666"/>
                </a:solidFill>
              </a:rPr>
              <a:t> nạp Vue giống mục 1.2.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1. Mục tiêu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1600" b="0"/>
              <a:t>Kết thúc buổi học, học viên có thể:</a:t>
            </a:r>
          </a:p>
          <a:p>
            <a:pPr>
              <a:spcAft>
                <a:spcPts val="600"/>
              </a:spcAft>
            </a:pPr>
            <a:r>
              <a:rPr sz="1600" b="0"/>
              <a:t>Giải thích được vì sao cần framework frontend thay vì thao tác DOM thủ công.</a:t>
            </a:r>
          </a:p>
          <a:p>
            <a:pPr>
              <a:spcAft>
                <a:spcPts val="600"/>
              </a:spcAft>
            </a:pPr>
            <a:r>
              <a:rPr sz="1600" b="0"/>
              <a:t>Khởi tạo một ứng dụng Vue 3 chỉ bằng thẻ </a:t>
            </a:r>
            <a:r>
              <a:rPr sz="1600" b="0">
                <a:latin typeface="Consolas"/>
                <a:ea typeface="Consolas"/>
                <a:cs typeface="Consolas"/>
              </a:rPr>
              <a:t>&lt;script&gt;</a:t>
            </a:r>
            <a:r>
              <a:rPr sz="1600" b="0"/>
              <a:t> (không cần cài Node).</a:t>
            </a:r>
          </a:p>
          <a:p>
            <a:pPr>
              <a:spcAft>
                <a:spcPts val="600"/>
              </a:spcAft>
            </a:pPr>
            <a:r>
              <a:rPr sz="1600" b="0"/>
              <a:t>Hiển thị dữ liệu bằng </a:t>
            </a:r>
            <a:r>
              <a:rPr sz="1600" b="0">
                <a:latin typeface="Consolas"/>
                <a:ea typeface="Consolas"/>
                <a:cs typeface="Consolas"/>
              </a:rPr>
              <a:t>{{ }}</a:t>
            </a:r>
            <a:r>
              <a:rPr sz="1600" b="0"/>
              <a:t>, </a:t>
            </a:r>
            <a:r>
              <a:rPr sz="1600" b="0">
                <a:latin typeface="Consolas"/>
                <a:ea typeface="Consolas"/>
                <a:cs typeface="Consolas"/>
              </a:rPr>
              <a:t>v-text</a:t>
            </a:r>
            <a:r>
              <a:rPr sz="1600" b="0"/>
              <a:t>, </a:t>
            </a:r>
            <a:r>
              <a:rPr sz="1600" b="0">
                <a:latin typeface="Consolas"/>
                <a:ea typeface="Consolas"/>
                <a:cs typeface="Consolas"/>
              </a:rPr>
              <a:t>v-html</a:t>
            </a:r>
            <a:r>
              <a:rPr sz="1600" b="0"/>
              <a:t> và biết khi nào </a:t>
            </a:r>
            <a:r>
              <a:rPr sz="1600" b="1"/>
              <a:t>không</a:t>
            </a:r>
            <a:r>
              <a:rPr sz="1600" b="0"/>
              <a:t> được dùng </a:t>
            </a:r>
            <a:r>
              <a:rPr sz="1600" b="0">
                <a:latin typeface="Consolas"/>
                <a:ea typeface="Consolas"/>
                <a:cs typeface="Consolas"/>
              </a:rPr>
              <a:t>v-html</a:t>
            </a:r>
            <a:r>
              <a:rPr sz="1600" b="0"/>
              <a:t>.</a:t>
            </a:r>
          </a:p>
          <a:p>
            <a:pPr>
              <a:spcAft>
                <a:spcPts val="600"/>
              </a:spcAft>
            </a:pPr>
            <a:r>
              <a:rPr sz="1600" b="0"/>
              <a:t>Sử dụng thành thạo các directive: </a:t>
            </a:r>
            <a:r>
              <a:rPr sz="1600" b="0">
                <a:latin typeface="Consolas"/>
                <a:ea typeface="Consolas"/>
                <a:cs typeface="Consolas"/>
              </a:rPr>
              <a:t>v-bind</a:t>
            </a:r>
            <a:r>
              <a:rPr sz="1600" b="0"/>
              <a:t>, </a:t>
            </a:r>
            <a:r>
              <a:rPr sz="1600" b="0">
                <a:latin typeface="Consolas"/>
                <a:ea typeface="Consolas"/>
                <a:cs typeface="Consolas"/>
              </a:rPr>
              <a:t>v-if / v-else-if / v-else</a:t>
            </a:r>
            <a:r>
              <a:rPr sz="1600" b="0"/>
              <a:t>, </a:t>
            </a:r>
            <a:r>
              <a:rPr sz="1600" b="0">
                <a:latin typeface="Consolas"/>
                <a:ea typeface="Consolas"/>
                <a:cs typeface="Consolas"/>
              </a:rPr>
              <a:t>v-for</a:t>
            </a:r>
            <a:r>
              <a:rPr sz="1600" b="0"/>
              <a:t>, </a:t>
            </a:r>
            <a:r>
              <a:rPr sz="1600" b="0">
                <a:latin typeface="Consolas"/>
                <a:ea typeface="Consolas"/>
                <a:cs typeface="Consolas"/>
              </a:rPr>
              <a:t>v-on</a:t>
            </a:r>
            <a:r>
              <a:rPr sz="1600" b="0"/>
              <a:t>, </a:t>
            </a:r>
            <a:r>
              <a:rPr sz="1600" b="0">
                <a:latin typeface="Consolas"/>
                <a:ea typeface="Consolas"/>
                <a:cs typeface="Consolas"/>
              </a:rPr>
              <a:t>v-model</a:t>
            </a:r>
            <a:r>
              <a:rPr sz="1600" b="0"/>
              <a:t>, </a:t>
            </a:r>
            <a:r>
              <a:rPr sz="1600" b="0">
                <a:latin typeface="Consolas"/>
                <a:ea typeface="Consolas"/>
                <a:cs typeface="Consolas"/>
              </a:rPr>
              <a:t>v-show</a:t>
            </a:r>
            <a:r>
              <a:rPr sz="1600" b="0"/>
              <a:t> và các modifier thường dùng.</a:t>
            </a:r>
          </a:p>
          <a:p>
            <a:pPr>
              <a:spcAft>
                <a:spcPts val="600"/>
              </a:spcAft>
            </a:pPr>
            <a:r>
              <a:rPr sz="1600" b="0"/>
              <a:t>Phân biệt </a:t>
            </a:r>
            <a:r>
              <a:rPr sz="1600" b="0">
                <a:latin typeface="Consolas"/>
                <a:ea typeface="Consolas"/>
                <a:cs typeface="Consolas"/>
              </a:rPr>
              <a:t>methods</a:t>
            </a:r>
            <a:r>
              <a:rPr sz="1600" b="0"/>
              <a:t>, </a:t>
            </a:r>
            <a:r>
              <a:rPr sz="1600" b="0">
                <a:latin typeface="Consolas"/>
                <a:ea typeface="Consolas"/>
                <a:cs typeface="Consolas"/>
              </a:rPr>
              <a:t>computed</a:t>
            </a:r>
            <a:r>
              <a:rPr sz="1600" b="0"/>
              <a:t>, </a:t>
            </a:r>
            <a:r>
              <a:rPr sz="1600" b="0">
                <a:latin typeface="Consolas"/>
                <a:ea typeface="Consolas"/>
                <a:cs typeface="Consolas"/>
              </a:rPr>
              <a:t>watch</a:t>
            </a:r>
            <a:r>
              <a:rPr sz="1600" b="0"/>
              <a:t>, </a:t>
            </a:r>
            <a:r>
              <a:rPr sz="1600" b="0">
                <a:latin typeface="Consolas"/>
                <a:ea typeface="Consolas"/>
                <a:cs typeface="Consolas"/>
              </a:rPr>
              <a:t>mounted</a:t>
            </a:r>
            <a:r>
              <a:rPr sz="1600" b="0"/>
              <a:t> theo thời điểm chạy và chọn đúng loại cho từng tình huống.</a:t>
            </a:r>
          </a:p>
          <a:p>
            <a:pPr>
              <a:spcAft>
                <a:spcPts val="600"/>
              </a:spcAft>
            </a:pPr>
            <a:r>
              <a:rPr sz="1600" b="0"/>
              <a:t>Tự viết được một màn hình danh sách có tìm kiếm, thêm, xóa và tính tổng — hoàn toàn ở phía trình duyệt (Practice 4).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2. Chuẩn bị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2000" b="0"/>
              <a:t>Trình duyệt Chrome/Edge, cài extension </a:t>
            </a:r>
            <a:r>
              <a:rPr sz="2000" b="1"/>
              <a:t>Vue.js devtools</a:t>
            </a:r>
            <a:r>
              <a:rPr sz="2000" b="0"/>
              <a:t>.</a:t>
            </a:r>
          </a:p>
          <a:p>
            <a:pPr>
              <a:spcAft>
                <a:spcPts val="600"/>
              </a:spcAft>
            </a:pPr>
            <a:r>
              <a:rPr sz="2000" b="0"/>
              <a:t>Một file HTML trống trong </a:t>
            </a:r>
            <a:r>
              <a:rPr sz="2000" b="0">
                <a:latin typeface="Consolas"/>
                <a:ea typeface="Consolas"/>
                <a:cs typeface="Consolas"/>
              </a:rPr>
              <a:t>htdocs/course8/vue/</a:t>
            </a:r>
            <a:r>
              <a:rPr sz="2000" b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/>
              <a:t>Ví dụ chạy sẵn trong thư mục vue/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/>
              <a:t>Mở qua </a:t>
            </a:r>
            <a:r>
              <a:rPr sz="1500" b="0">
                <a:latin typeface="Consolas"/>
                <a:ea typeface="Consolas"/>
                <a:cs typeface="Consolas"/>
              </a:rPr>
              <a:t>http://localhost/course8/vue/</a:t>
            </a:r>
            <a:r>
              <a:rPr sz="1500" b="0"/>
              <a:t> (hoặc </a:t>
            </a:r>
            <a:r>
              <a:rPr sz="1500" b="0">
                <a:latin typeface="Consolas"/>
                <a:ea typeface="Consolas"/>
                <a:cs typeface="Consolas"/>
              </a:rPr>
              <a:t>index.html</a:t>
            </a:r>
            <a:r>
              <a:rPr sz="1500" b="0"/>
              <a:t>). Mỗi file là code Vue của ví dụ tương ứng, chạy offline.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075688"/>
          <a:ext cx="8229600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Mục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Nội dung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File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/>
                        <a:t>1.1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Vì sao dùng Vue?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buoi06_1-1_vi-sao-vue.html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/>
                        <a:t>1.2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Trang Vue đầu tiên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buoi06_1-2_trang-dau-tien.html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/>
                        <a:t>1.3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{{ }}</a:t>
                      </a:r>
                      <a:r>
                        <a:rPr sz="1000" b="0"/>
                        <a:t>, </a:t>
                      </a:r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v-text</a:t>
                      </a:r>
                      <a:r>
                        <a:rPr sz="1000" b="0"/>
                        <a:t>, </a:t>
                      </a:r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v-html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buoi06_1-3_hien-thi-du-lieu.html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/>
                        <a:t>1.4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v-bind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buoi06_1-4_v-bind.html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/>
                        <a:t>1.5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v-if</a:t>
                      </a:r>
                      <a:r>
                        <a:rPr sz="1000" b="0"/>
                        <a:t>, </a:t>
                      </a:r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v-show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buoi06_1-5_v-if-v-show.html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/>
                        <a:t>1.6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v-for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buoi06_1-6_v-for.html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/>
                        <a:t>1.7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v-on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buoi06_1-7_v-on.html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/>
                        <a:t>1.7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modifier của </a:t>
                      </a:r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v-on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buoi06_1-7b_v-on-modifier.html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/>
                        <a:t>2.1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v-model</a:t>
                      </a:r>
                      <a:r>
                        <a:rPr sz="1000" b="0"/>
                        <a:t>: văn bản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buoi06_2-1a_v-model-van-ban.html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/>
                        <a:t>2.1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v-model</a:t>
                      </a:r>
                      <a:r>
                        <a:rPr sz="1000" b="0"/>
                        <a:t>: select, checkbox, radio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buoi06_2-1b_v-model-chon.html</a:t>
                      </a:r>
                    </a:p>
                  </a:txBody>
                  <a:tcPr marL="54864" marR="54864" marT="27432" marB="27432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/>
              <a:t>Ví dụ chạy sẵn trong thư mục vue/ (2/2)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Mục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Nội dung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File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/>
                        <a:t>2.1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100" b="0"/>
                        <a:t>modifier của </a:t>
                      </a:r>
                      <a:r>
                        <a:rPr sz="1100" b="0">
                          <a:latin typeface="Consolas"/>
                          <a:ea typeface="Consolas"/>
                          <a:cs typeface="Consolas"/>
                        </a:rPr>
                        <a:t>v-model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Consolas"/>
                          <a:ea typeface="Consolas"/>
                          <a:cs typeface="Consolas"/>
                        </a:rPr>
                        <a:t>buoi06_2-1c_v-model-modifier.html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/>
                        <a:t>2.2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Consolas"/>
                          <a:ea typeface="Consolas"/>
                          <a:cs typeface="Consolas"/>
                        </a:rPr>
                        <a:t>methods</a:t>
                      </a:r>
                      <a:r>
                        <a:rPr sz="1100" b="0"/>
                        <a:t>, </a:t>
                      </a:r>
                      <a:r>
                        <a:rPr sz="1100" b="0">
                          <a:latin typeface="Consolas"/>
                          <a:ea typeface="Consolas"/>
                          <a:cs typeface="Consolas"/>
                        </a:rPr>
                        <a:t>computed</a:t>
                      </a:r>
                      <a:r>
                        <a:rPr sz="1100" b="0"/>
                        <a:t>, </a:t>
                      </a:r>
                      <a:r>
                        <a:rPr sz="1100" b="0">
                          <a:latin typeface="Consolas"/>
                          <a:ea typeface="Consolas"/>
                          <a:cs typeface="Consolas"/>
                        </a:rPr>
                        <a:t>watch</a:t>
                      </a:r>
                      <a:r>
                        <a:rPr sz="1100" b="0"/>
                        <a:t>, </a:t>
                      </a:r>
                      <a:r>
                        <a:rPr sz="1100" b="0">
                          <a:latin typeface="Consolas"/>
                          <a:ea typeface="Consolas"/>
                          <a:cs typeface="Consolas"/>
                        </a:rPr>
                        <a:t>mounted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Consolas"/>
                          <a:ea typeface="Consolas"/>
                          <a:cs typeface="Consolas"/>
                        </a:rPr>
                        <a:t>buoi06_2-2_methods-computed-watch-mounted.html</a:t>
                      </a:r>
                    </a:p>
                  </a:txBody>
                  <a:tcPr marL="54864" marR="54864" marT="27432" marB="27432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/>
              <a:t>Tiết 1 — Khởi tạo Vue &amp; directives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1.1. Vì sao dùng Vue?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/>
              <a:t>Vue: chỉ cần </a:t>
            </a:r>
            <a:r>
              <a:rPr sz="1500" b="1"/>
              <a:t>mô tả</a:t>
            </a:r>
            <a:r>
              <a:rPr sz="1500" b="0"/>
              <a:t> giao diện phụ thuộc dữ liệu thế nào — dữ liệu đổi thì giao diện tự đổi.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64208"/>
            <a:ext cx="8412480" cy="2418588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&lt;div id="app"&gt;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&lt;input v-model="ten" placeholder="Nhập tên..."&gt;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&lt;p&gt;Xin chào {{ ten }}&lt;/p&gt;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&lt;/div&gt;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&lt;script&gt;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Vue.createApp({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data() { return { ten: "" };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}).mount("#app");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&lt;/script&gt;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/>
              <a:t>1.1. HTML + JS thuần của ví dụ trên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/>
              <a:t>Cùng việc "gõ tên → hiện lời chào": phải tự tìm phần tử, tự lắng nghe sự kiện, tự sửa chữ.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64208"/>
            <a:ext cx="8412480" cy="2316480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&lt;input id="ten" placeholder="Nhập tên..."&gt;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&lt;p&gt;Xin chào &lt;span id="hien"&gt;&lt;/span&gt;&lt;/p&gt;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&lt;script&gt;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const o = document.getElementById("ten");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const hien = document.getElementById("hien");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o.addEventListener("input", () =&gt; {    // tu lang nghe su kien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hien.textContent = o.value;          // tu sua noi dung the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});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&lt;/script&gt;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1.1. Reactive là gì?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800" b="1"/>
              <a:t>Thủ công:</a:t>
            </a:r>
            <a:r>
              <a:rPr sz="1800" b="0"/>
              <a:t> dữ liệu đổi → *bạn* phải tìm phần tử → *bạn* sửa DOM.</a:t>
            </a:r>
          </a:p>
          <a:p>
            <a:pPr>
              <a:spcAft>
                <a:spcPts val="600"/>
              </a:spcAft>
            </a:pPr>
            <a:r>
              <a:rPr sz="1800" b="1"/>
              <a:t>Vue:</a:t>
            </a:r>
            <a:r>
              <a:rPr sz="1800" b="0"/>
              <a:t> dữ liệu đổi → Vue *tự* tính lại phần giao diện liên quan. Đây gọi là </a:t>
            </a:r>
            <a:r>
              <a:rPr sz="1800" b="1"/>
              <a:t>reactive</a:t>
            </a:r>
            <a:r>
              <a:rPr sz="1800" b="0"/>
              <a:t> (phản ứng).</a:t>
            </a:r>
          </a:p>
          <a:p>
            <a:pPr>
              <a:spcAft>
                <a:spcPts val="600"/>
              </a:spcAft>
            </a:pPr>
            <a:r>
              <a:rPr sz="1800" b="0"/>
              <a:t>Bạn chỉ quản lý </a:t>
            </a:r>
            <a:r>
              <a:rPr sz="1800" b="1"/>
              <a:t>dữ liệu</a:t>
            </a:r>
            <a:r>
              <a:rPr sz="1800" b="0"/>
              <a:t>; việc cập nhật HTML là của Vue.</a:t>
            </a:r>
          </a:p>
          <a:p>
            <a:pPr>
              <a:spcAft>
                <a:spcPts val="600"/>
              </a:spcAft>
            </a:pPr>
            <a:r>
              <a:rPr sz="1800" b="0"/>
              <a:t>PHP sinh HTML </a:t>
            </a:r>
            <a:r>
              <a:rPr sz="1800" b="1"/>
              <a:t>một lần</a:t>
            </a:r>
            <a:r>
              <a:rPr sz="1800" b="0"/>
              <a:t> trên server; Vue cập nhật HTML </a:t>
            </a:r>
            <a:r>
              <a:rPr sz="1800" b="1"/>
              <a:t>liên tục</a:t>
            </a:r>
            <a:r>
              <a:rPr sz="1800" b="0"/>
              <a:t> trên trình duyệt.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1.2. Trang Vue đầu tiên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/>
              <a:t>Ví dụ duy nhất có đủ cả trang: nạp Vue từ CDN, vùng </a:t>
            </a:r>
            <a:r>
              <a:rPr sz="1500" b="0">
                <a:latin typeface="Consolas"/>
                <a:ea typeface="Consolas"/>
                <a:cs typeface="Consolas"/>
              </a:rPr>
              <a:t>#app</a:t>
            </a:r>
            <a:r>
              <a:rPr sz="1500" b="0"/>
              <a:t>, </a:t>
            </a:r>
            <a:r>
              <a:rPr sz="1500" b="0">
                <a:latin typeface="Consolas"/>
                <a:ea typeface="Consolas"/>
                <a:cs typeface="Consolas"/>
              </a:rPr>
              <a:t>createApp(...).mount(...)</a:t>
            </a:r>
            <a:r>
              <a:rPr sz="1500" b="0"/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64208"/>
            <a:ext cx="8412480" cy="4358640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&lt;!DOCTYPE html&gt;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&lt;html lang="vi"&gt;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&lt;head&gt;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&lt;meta charset="utf-8"&gt;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&lt;script src="https://unpkg.com/vue@3/dist/vue.global.js"&gt;&lt;/script&gt;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&lt;/head&gt;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&lt;body&gt;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&lt;div id="app"&gt;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&lt;h2&gt;{{ tieuDe }}&lt;/h2&gt;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&lt;p&gt;Xin chào {{ tenNguoiDung }}, bạn có {{ soThongBao }} thông báo.&lt;/p&gt;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&lt;/div&gt;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&lt;script&gt;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Vue.createApp({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data() {                       // tra ve toan bo du lieu cua ung dung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return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tieuDe: "Trang quản lý sản phẩm",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tenNguoiDung: "Ngọc",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soThongBao: 3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};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}).mount("#app");                // gan ung dung vao the co id="app"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&lt;/script&gt;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&lt;/body&gt;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&lt;/html&gt;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/>
              <a:t>1.2. HTML thuần của trang đầu tiên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/>
              <a:t>Đây là những gì trình duyệt thực sự có trong DOM sau khi Vue chạy xong — không còn </a:t>
            </a:r>
            <a:r>
              <a:rPr sz="1500" b="0">
                <a:latin typeface="Consolas"/>
                <a:ea typeface="Consolas"/>
                <a:cs typeface="Consolas"/>
              </a:rPr>
              <a:t>{{ }}</a:t>
            </a:r>
            <a:r>
              <a:rPr sz="1500" b="0"/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64208"/>
            <a:ext cx="8412480" cy="3133344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&lt;!DOCTYPE html&gt;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&lt;html lang="vi"&gt;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&lt;head&gt;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&lt;meta charset="utf-8"&gt;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&lt;/head&gt;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&lt;body&gt;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&lt;div id="app"&gt;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&lt;h2&gt;Trang quản lý sản phẩm&lt;/h2&gt;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&lt;p&gt;Xin chào Ngọc, bạn có 3 thông báo.&lt;/p&gt;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&lt;/div&gt;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&lt;/body&gt;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&lt;/html&gt;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1.2. Ba phần cần nhớ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2000" b="0">
                <a:latin typeface="Consolas"/>
                <a:ea typeface="Consolas"/>
                <a:cs typeface="Consolas"/>
              </a:rPr>
              <a:t>&lt;div id="app"&gt;</a:t>
            </a:r>
            <a:r>
              <a:rPr sz="2000" b="0"/>
              <a:t> — vùng HTML mà Vue quản lý.</a:t>
            </a:r>
          </a:p>
          <a:p>
            <a:pPr>
              <a:spcAft>
                <a:spcPts val="600"/>
              </a:spcAft>
            </a:pPr>
            <a:r>
              <a:rPr sz="2000" b="0">
                <a:latin typeface="Consolas"/>
                <a:ea typeface="Consolas"/>
                <a:cs typeface="Consolas"/>
              </a:rPr>
              <a:t>{{ bien }}</a:t>
            </a:r>
            <a:r>
              <a:rPr sz="2000" b="0"/>
              <a:t> — </a:t>
            </a:r>
            <a:r>
              <a:rPr sz="2000" b="1"/>
              <a:t>interpolation</a:t>
            </a:r>
            <a:r>
              <a:rPr sz="2000" b="0"/>
              <a:t>, in giá trị biến ra màn hình.</a:t>
            </a:r>
          </a:p>
          <a:p>
            <a:pPr>
              <a:spcAft>
                <a:spcPts val="600"/>
              </a:spcAft>
            </a:pPr>
            <a:r>
              <a:rPr sz="2000" b="0">
                <a:latin typeface="Consolas"/>
                <a:ea typeface="Consolas"/>
                <a:cs typeface="Consolas"/>
              </a:rPr>
              <a:t>Vue.createApp({...}).mount("#app")</a:t>
            </a:r>
            <a:r>
              <a:rPr sz="2000" b="0"/>
              <a:t> — tạo ứng dụng và gắn vào vùng trên.</a:t>
            </a:r>
          </a:p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900" i="1" b="1">
                <a:solidFill>
                  <a:srgbClr val="666666"/>
                </a:solidFill>
              </a:rPr>
              <a:t>Thử ngay:</a:t>
            </a:r>
            <a:r>
              <a:rPr sz="1900" i="1" b="0">
                <a:solidFill>
                  <a:srgbClr val="666666"/>
                </a:solidFill>
              </a:rPr>
              <a:t> mở Vue devtools, sửa </a:t>
            </a:r>
            <a:r>
              <a:rPr sz="1900" i="1" b="0">
                <a:solidFill>
                  <a:srgbClr val="666666"/>
                </a:solidFill>
                <a:latin typeface="Consolas"/>
                <a:ea typeface="Consolas"/>
                <a:cs typeface="Consolas"/>
              </a:rPr>
              <a:t>soThongBao</a:t>
            </a:r>
            <a:r>
              <a:rPr sz="1900" i="1" b="0">
                <a:solidFill>
                  <a:srgbClr val="666666"/>
                </a:solidFill>
              </a:rPr>
              <a:t> rồi xem giao diện đổi tức thì.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/>
              <a:t>1.3. Hiển thị dữ liệu: {{ }}, v-text, v-html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/>
              <a:t>Trong </a:t>
            </a:r>
            <a:r>
              <a:rPr sz="1500" b="0">
                <a:latin typeface="Consolas"/>
                <a:ea typeface="Consolas"/>
                <a:cs typeface="Consolas"/>
              </a:rPr>
              <a:t>{{ }}</a:t>
            </a:r>
            <a:r>
              <a:rPr sz="1500" b="0"/>
              <a:t> viết được </a:t>
            </a:r>
            <a:r>
              <a:rPr sz="1500" b="1"/>
              <a:t>biểu thức JavaScript</a:t>
            </a:r>
            <a:r>
              <a:rPr sz="1500" b="0"/>
              <a:t> (một biểu thức, không phải câu lệnh </a:t>
            </a:r>
            <a:r>
              <a:rPr sz="1500" b="0">
                <a:latin typeface="Consolas"/>
                <a:ea typeface="Consolas"/>
                <a:cs typeface="Consolas"/>
              </a:rPr>
              <a:t>if</a:t>
            </a:r>
            <a:r>
              <a:rPr sz="1500" b="0"/>
              <a:t>/</a:t>
            </a:r>
            <a:r>
              <a:rPr sz="1500" b="0">
                <a:latin typeface="Consolas"/>
                <a:ea typeface="Consolas"/>
                <a:cs typeface="Consolas"/>
              </a:rPr>
              <a:t>for</a:t>
            </a:r>
            <a:r>
              <a:rPr sz="1500" b="0"/>
              <a:t>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64208"/>
            <a:ext cx="8412480" cy="3456686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&lt;div id="app"&gt;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&lt;p&gt;{{ gia * soLuong }} đ&lt;/p&gt;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&lt;p&gt;{{ ten.toUpperCase() }}&lt;/p&gt;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&lt;p&gt;{{ conHang ? "Còn hàng" : "Hết hàng" }}&lt;/p&gt;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&lt;p v-text="ten"&gt;&lt;/p&gt;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&lt;p v-html="moTa"&gt;&lt;/p&gt;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&lt;/div&gt;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&lt;script&gt;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Vue.createApp({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data()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return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ten: "Bút bi", gia: 5000, soLuong: 3, conHang: true,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moTa: "&lt;b&gt;Bút&lt;/b&gt; bi xanh"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};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}).mount("#app");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&lt;/script&gt;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1.3. HTML thuần của ví dụ trên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/>
              <a:t>XSS (buổi 5):</a:t>
            </a:r>
            <a:r>
              <a:rPr sz="1500" b="0"/>
              <a:t> </a:t>
            </a:r>
            <a:r>
              <a:rPr sz="1500" b="0">
                <a:latin typeface="Consolas"/>
                <a:ea typeface="Consolas"/>
                <a:cs typeface="Consolas"/>
              </a:rPr>
              <a:t>{{ }}</a:t>
            </a:r>
            <a:r>
              <a:rPr sz="1500" b="0"/>
              <a:t> luôn escape HTML, </a:t>
            </a:r>
            <a:r>
              <a:rPr sz="1500" b="0">
                <a:latin typeface="Consolas"/>
                <a:ea typeface="Consolas"/>
                <a:cs typeface="Consolas"/>
              </a:rPr>
              <a:t>v-html</a:t>
            </a:r>
            <a:r>
              <a:rPr sz="1500" b="0"/>
              <a:t> thì </a:t>
            </a:r>
            <a:r>
              <a:rPr sz="1500" b="1"/>
              <a:t>không</a:t>
            </a:r>
            <a:r>
              <a:rPr sz="1500" b="0"/>
              <a:t> — không dùng với dữ liệu người dùng nhập.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892808"/>
            <a:ext cx="8412480" cy="2180336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&lt;div id="app"&gt;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&lt;p&gt;15000 đ&lt;/p&gt;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&lt;p&gt;BÚT BI&lt;/p&gt;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&lt;p&gt;Còn hàng&lt;/p&gt;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&lt;p&gt;Bút bi&lt;/p&gt;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&lt;!-- v-html: chuoi HTML duoc chen nguyen van vao DOM --&gt;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&lt;p&gt;&lt;b&gt;Bút&lt;/b&gt; bi xanh&lt;/p&gt;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&lt;/div&gt;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/>
              <a:t>1.4. v-bind — gắn dữ liệu vào thuộc tính HTML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latin typeface="Consolas"/>
                <a:ea typeface="Consolas"/>
                <a:cs typeface="Consolas"/>
              </a:rPr>
              <a:t>v-bind:tên-thuộc-tính</a:t>
            </a:r>
            <a:r>
              <a:rPr sz="1500" b="0"/>
              <a:t> gắn dữ liệu vào mọi thuộc tính, kể cả </a:t>
            </a:r>
            <a:r>
              <a:rPr sz="1500" b="0">
                <a:latin typeface="Consolas"/>
                <a:ea typeface="Consolas"/>
                <a:cs typeface="Consolas"/>
              </a:rPr>
              <a:t>class</a:t>
            </a:r>
            <a:r>
              <a:rPr sz="1500" b="0"/>
              <a:t>, </a:t>
            </a:r>
            <a:r>
              <a:rPr sz="1500" b="0">
                <a:latin typeface="Consolas"/>
                <a:ea typeface="Consolas"/>
                <a:cs typeface="Consolas"/>
              </a:rPr>
              <a:t>style</a:t>
            </a:r>
            <a:r>
              <a:rPr sz="1500" b="0"/>
              <a:t>. Bản rút gọn: xem bảng kế tiếp.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892808"/>
            <a:ext cx="8412480" cy="3848099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&lt;div id="app"&gt;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&lt;img v-bind:src="anhSanPham" v-bind:alt="tenSanPham"&gt;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&lt;a v-bind:href="duongDan"&gt;Xem chi tiết&lt;/a&gt;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&lt;p v-bind:class="{ 'het-hang': soLuong === 0 }"&gt;Số lượng: {{ soLuong }}&lt;/p&gt;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&lt;span v-bind:style="{ color: soLuong === 0 ? 'red' : 'green' }"&gt;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{{ soLuong === 0 ? 'Hết hàng' : 'Còn hàng' }}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&lt;/span&gt;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&lt;button v-bind:disabled="soLuong === 0"&gt;Mua&lt;/button&gt;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&lt;/div&gt;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&lt;script&gt;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Vue.createApp({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data()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return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tenSanPham: "Bút bi Thiên Long",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anhSanPham: "images/but-bi.jpg",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duongDan: "product_detail.php?id=1",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soLuong: 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};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}).mount("#app");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&lt;/script&gt;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1.4. HTML thuần của v-bind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/>
              <a:t>Với </a:t>
            </a:r>
            <a:r>
              <a:rPr sz="1500" b="0">
                <a:latin typeface="Consolas"/>
                <a:ea typeface="Consolas"/>
                <a:cs typeface="Consolas"/>
              </a:rPr>
              <a:t>soLuong = 0</a:t>
            </a:r>
            <a:r>
              <a:rPr sz="1500" b="0"/>
              <a:t>: class </a:t>
            </a:r>
            <a:r>
              <a:rPr sz="1500" b="0">
                <a:latin typeface="Consolas"/>
                <a:ea typeface="Consolas"/>
                <a:cs typeface="Consolas"/>
              </a:rPr>
              <a:t>het-hang</a:t>
            </a:r>
            <a:r>
              <a:rPr sz="1500" b="0"/>
              <a:t> được thêm vào, style màu đỏ, nút bị </a:t>
            </a:r>
            <a:r>
              <a:rPr sz="1500" b="0">
                <a:latin typeface="Consolas"/>
                <a:ea typeface="Consolas"/>
                <a:cs typeface="Consolas"/>
              </a:rPr>
              <a:t>disabled</a:t>
            </a:r>
            <a:r>
              <a:rPr sz="1500" b="0"/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64208"/>
            <a:ext cx="8412480" cy="2418588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&lt;div id="app"&gt;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&lt;img src="images/but-bi.jpg" alt="Bút bi Thiên Long"&gt;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&lt;a href="product_detail.php?id=1"&gt;Xem chi tiết&lt;/a&gt;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&lt;p class="het-hang"&gt;Số lượng: 0&lt;/p&gt;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&lt;span style="color: red;"&gt;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Hết hàng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&lt;/span&gt;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&lt;button disabled&gt;Mua&lt;/button&gt;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&lt;/div&gt;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/>
              <a:t>1.4. Cú pháp rút gọn của v-bind và v-on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/>
              <a:t>Nội dung giữa hai thẻ dùng </a:t>
            </a:r>
            <a:r>
              <a:rPr sz="1500" b="0">
                <a:latin typeface="Consolas"/>
                <a:ea typeface="Consolas"/>
                <a:cs typeface="Consolas"/>
              </a:rPr>
              <a:t>{{ }}</a:t>
            </a:r>
            <a:r>
              <a:rPr sz="1500" b="0"/>
              <a:t>; giá trị thuộc tính dùng </a:t>
            </a:r>
            <a:r>
              <a:rPr sz="1500" b="0">
                <a:latin typeface="Consolas"/>
                <a:ea typeface="Consolas"/>
                <a:cs typeface="Consolas"/>
              </a:rPr>
              <a:t>v-bind</a:t>
            </a:r>
            <a:r>
              <a:rPr sz="1500" b="0"/>
              <a:t>. Ví dụ trong bài viết đầy đủ, thực tế hay viết gọn.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075688"/>
          <a:ext cx="8229600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Đầy đủ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Rút gọn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v-bind:src="anh"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:src="anh"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v-bind:href="duongDan"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:href="duongDan"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v-bind:alt="ten"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:alt="ten"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v-bind:class="{ a: dung }"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:class="{ a: dung }"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v-bind:style="{ color: mau }"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:style="{ color: mau }"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v-bind:disabled="het"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:disabled="het"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v-bind:value="dm.id"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:value="dm.id"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v-bind:key="sp.id"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:key="sp.id"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v-on:click="xoa(id)"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@click="xoa(id)"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v-on:submit.prevent="gui"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@submit.prevent="gui"</a:t>
                      </a:r>
                    </a:p>
                  </a:txBody>
                  <a:tcPr marL="54864" marR="54864" marT="27432" marB="27432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/>
              <a:t>1.5. v-if, v-else-if, v-else, v-show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412480" cy="3643884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&lt;div id="app"&gt;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&lt;p v-if="diem &gt;= 8"&gt;Xếp loại: Giỏi&lt;/p&gt;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&lt;p v-else-if="diem &gt;= 6.5"&gt;Xếp loại: Khá&lt;/p&gt;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&lt;p v-else-if="diem &gt;= 5"&gt;Xếp loại: Trung bình&lt;/p&gt;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&lt;p v-else&gt;Xếp loại: Chưa đạt&lt;/p&gt;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&lt;div v-show="dangTai"&gt;Đang tải dữ liệu...&lt;/div&gt;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&lt;template v-if="daDangNhap"&gt;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&lt;p&gt;Xin chào Ngọc&lt;/p&gt;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&lt;button v-on:click="daDangNhap = false"&gt;Đăng xuất&lt;/button&gt;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&lt;/template&gt;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&lt;/div&gt;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&lt;script&gt;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Vue.createApp({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data() { return { diem: 7, dangTai: false, daDangNhap: true };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}).mount("#app");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&lt;/script&gt;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/>
              <a:t>1.5. HTML thuần của v-if / v-show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/>
              <a:t>Với </a:t>
            </a:r>
            <a:r>
              <a:rPr sz="1500" b="0">
                <a:latin typeface="Consolas"/>
                <a:ea typeface="Consolas"/>
                <a:cs typeface="Consolas"/>
              </a:rPr>
              <a:t>diem = 7</a:t>
            </a:r>
            <a:r>
              <a:rPr sz="1500" b="0"/>
              <a:t>, </a:t>
            </a:r>
            <a:r>
              <a:rPr sz="1500" b="0">
                <a:latin typeface="Consolas"/>
                <a:ea typeface="Consolas"/>
                <a:cs typeface="Consolas"/>
              </a:rPr>
              <a:t>dangTai = false</a:t>
            </a:r>
            <a:r>
              <a:rPr sz="1500" b="0"/>
              <a:t>, </a:t>
            </a:r>
            <a:r>
              <a:rPr sz="1500" b="0">
                <a:latin typeface="Consolas"/>
                <a:ea typeface="Consolas"/>
                <a:cs typeface="Consolas"/>
              </a:rPr>
              <a:t>daDangNhap = true</a:t>
            </a:r>
            <a:r>
              <a:rPr sz="1500" b="0"/>
              <a:t>: nhánh không đúng </a:t>
            </a:r>
            <a:r>
              <a:rPr sz="1500" b="1"/>
              <a:t>biến mất khỏi DOM</a:t>
            </a:r>
            <a:r>
              <a:rPr sz="1500" b="0"/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64208"/>
            <a:ext cx="8412480" cy="2520696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&lt;div id="app"&gt;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&lt;p&gt;Xếp loại: Khá&lt;/p&gt;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&lt;!-- cac nhanh v-else-if / v-else con lai khong ton tai trong DOM --&gt;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&lt;!-- v-show: van co the, chi bi an bang CSS --&gt;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&lt;div style="display: none;"&gt;Đang tải dữ liệu...&lt;/div&gt;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&lt;!-- &lt;template&gt; khong sinh ra the nao, chi con noi dung ben trong --&gt;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&lt;p&gt;Xin chào Ngọc&lt;/p&gt;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&lt;button&gt;Đăng xuất&lt;/button&gt;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&lt;/div&gt;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1.5. So sánh v-if và v-show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v-if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v-show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/>
                        <a:t>Cơ chế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Thêm/xóa phần tử khỏi DOM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Luôn có trong DOM, bật/tắt </a:t>
                      </a:r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display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/>
                        <a:t>Chi phí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Tốn khi bật/tắt (tạo lại phần tử)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Rẻ khi bật/tắt, tốn lúc tải đầu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/>
                        <a:t>Nên dùng khi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Điều kiện ít thay đổi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Bật/tắt liên tục (tab, dropdown)</a:t>
                      </a:r>
                    </a:p>
                  </a:txBody>
                  <a:tcPr marL="54864" marR="54864" marT="27432" marB="27432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1.6. v-for — lặp danh sách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412480" cy="4358640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&lt;div id="app"&gt;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&lt;ul&gt;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&lt;li v-for="(sp, i) in dsSanPham" v-bind:key="sp.id"&gt;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{{ i + 1 }}. {{ sp.ten }} — {{ sp.gia }} đ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&lt;/li&gt;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&lt;/ul&gt;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&lt;p v-for="(giaTri, tenThuocTinh) in thongTin" v-bind:key="tenThuocTinh"&gt;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{{ tenThuocTinh }}: {{ giaTri }}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&lt;/div&gt;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&lt;script&gt;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Vue.createApp({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data()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return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dsSanPham: [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{ id: 1, ten: "Bút bi",   gia: 5000 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{ id: 2, ten: "Vở ô ly",  gia: 12000 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{ id: 3, ten: "Thước kẻ", gia: 3000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],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thongTin: { hoTen: "Ngọc", lop: "PHP K8"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};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}).mount("#app");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&lt;/script&gt;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1.6. HTML thuần của v-for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/>
              <a:t>Một thẻ </a:t>
            </a:r>
            <a:r>
              <a:rPr sz="1500" b="0">
                <a:latin typeface="Consolas"/>
                <a:ea typeface="Consolas"/>
                <a:cs typeface="Consolas"/>
              </a:rPr>
              <a:t>&lt;li&gt;</a:t>
            </a:r>
            <a:r>
              <a:rPr sz="1500" b="0"/>
              <a:t> viết trong template → ba thẻ </a:t>
            </a:r>
            <a:r>
              <a:rPr sz="1500" b="0">
                <a:latin typeface="Consolas"/>
                <a:ea typeface="Consolas"/>
                <a:cs typeface="Consolas"/>
              </a:rPr>
              <a:t>&lt;li&gt;</a:t>
            </a:r>
            <a:r>
              <a:rPr sz="1500" b="0"/>
              <a:t> trong DOM. </a:t>
            </a:r>
            <a:r>
              <a:rPr sz="1500" b="0">
                <a:latin typeface="Consolas"/>
                <a:ea typeface="Consolas"/>
                <a:cs typeface="Consolas"/>
              </a:rPr>
              <a:t>:key</a:t>
            </a:r>
            <a:r>
              <a:rPr sz="1500" b="0"/>
              <a:t> không xuất hiện trong HTML.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64208"/>
            <a:ext cx="8412480" cy="2418588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&lt;div id="app"&gt;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&lt;ul&gt;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&lt;li&gt;1. Bút bi — 5000 đ&lt;/li&gt;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&lt;li&gt;2. Vở ô ly — 12000 đ&lt;/li&gt;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&lt;li&gt;3. Thước kẻ — 3000 đ&lt;/li&gt;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&lt;/ul&gt;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&lt;p&gt;hoTen: Ngọc&lt;/p&gt;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&lt;p&gt;lop: PHP K8&lt;/p&gt;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&lt;/div&gt;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1.6. Quy tắc dùng v-for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600" b="1"/>
              <a:t>`v-bind:key` (viết gọn `:key`) luôn phải có</a:t>
            </a:r>
            <a:r>
              <a:rPr sz="1600" b="0"/>
              <a:t>, và là giá trị duy nhất (thường là </a:t>
            </a:r>
            <a:r>
              <a:rPr sz="1600" b="0">
                <a:latin typeface="Consolas"/>
                <a:ea typeface="Consolas"/>
                <a:cs typeface="Consolas"/>
              </a:rPr>
              <a:t>id</a:t>
            </a:r>
            <a:r>
              <a:rPr sz="1600" b="0"/>
              <a:t>) — giúp Vue theo dõi từng phần tử.</a:t>
            </a:r>
          </a:p>
          <a:p>
            <a:pPr>
              <a:spcAft>
                <a:spcPts val="600"/>
              </a:spcAft>
            </a:pPr>
            <a:r>
              <a:rPr sz="1600" b="0"/>
              <a:t>Lặp mảng: </a:t>
            </a:r>
            <a:r>
              <a:rPr sz="1600" b="0">
                <a:latin typeface="Consolas"/>
                <a:ea typeface="Consolas"/>
                <a:cs typeface="Consolas"/>
              </a:rPr>
              <a:t>(phanTu, chiSo) in mang</a:t>
            </a:r>
            <a:r>
              <a:rPr sz="1600" b="0"/>
              <a:t>. Lặp đối tượng: </a:t>
            </a:r>
            <a:r>
              <a:rPr sz="1600" b="0">
                <a:latin typeface="Consolas"/>
                <a:ea typeface="Consolas"/>
                <a:cs typeface="Consolas"/>
              </a:rPr>
              <a:t>(giaTri, tenThuocTinh) in doiTuong</a:t>
            </a:r>
            <a:r>
              <a:rPr sz="1600" b="0"/>
              <a:t>.</a:t>
            </a:r>
          </a:p>
          <a:p>
            <a:pPr>
              <a:spcAft>
                <a:spcPts val="600"/>
              </a:spcAft>
            </a:pPr>
            <a:r>
              <a:rPr sz="1600" b="0"/>
              <a:t>Các biến trong ngoặc (</a:t>
            </a:r>
            <a:r>
              <a:rPr sz="1600" b="0">
                <a:latin typeface="Consolas"/>
                <a:ea typeface="Consolas"/>
                <a:cs typeface="Consolas"/>
              </a:rPr>
              <a:t>sp</a:t>
            </a:r>
            <a:r>
              <a:rPr sz="1600" b="0"/>
              <a:t>, </a:t>
            </a:r>
            <a:r>
              <a:rPr sz="1600" b="0">
                <a:latin typeface="Consolas"/>
                <a:ea typeface="Consolas"/>
                <a:cs typeface="Consolas"/>
              </a:rPr>
              <a:t>i</a:t>
            </a:r>
            <a:r>
              <a:rPr sz="1600" b="0"/>
              <a:t>, </a:t>
            </a:r>
            <a:r>
              <a:rPr sz="1600" b="0">
                <a:latin typeface="Consolas"/>
                <a:ea typeface="Consolas"/>
                <a:cs typeface="Consolas"/>
              </a:rPr>
              <a:t>giaTri</a:t>
            </a:r>
            <a:r>
              <a:rPr sz="1600" b="0"/>
              <a:t>, </a:t>
            </a:r>
            <a:r>
              <a:rPr sz="1600" b="0">
                <a:latin typeface="Consolas"/>
                <a:ea typeface="Consolas"/>
                <a:cs typeface="Consolas"/>
              </a:rPr>
              <a:t>tenThuocTinh</a:t>
            </a:r>
            <a:r>
              <a:rPr sz="1600" b="0"/>
              <a:t>) do </a:t>
            </a:r>
            <a:r>
              <a:rPr sz="1600" b="0">
                <a:latin typeface="Consolas"/>
                <a:ea typeface="Consolas"/>
                <a:cs typeface="Consolas"/>
              </a:rPr>
              <a:t>v-for</a:t>
            </a:r>
            <a:r>
              <a:rPr sz="1600" b="0"/>
              <a:t> </a:t>
            </a:r>
            <a:r>
              <a:rPr sz="1600" b="1"/>
              <a:t>tự tạo</a:t>
            </a:r>
            <a:r>
              <a:rPr sz="1600" b="0"/>
              <a:t>, không cần khai báo trong </a:t>
            </a:r>
            <a:r>
              <a:rPr sz="1600" b="0">
                <a:latin typeface="Consolas"/>
                <a:ea typeface="Consolas"/>
                <a:cs typeface="Consolas"/>
              </a:rPr>
              <a:t>data()</a:t>
            </a:r>
            <a:r>
              <a:rPr sz="1600" b="0"/>
              <a:t>.</a:t>
            </a:r>
          </a:p>
          <a:p>
            <a:pPr>
              <a:spcAft>
                <a:spcPts val="600"/>
              </a:spcAft>
            </a:pPr>
            <a:r>
              <a:rPr sz="1600" b="0"/>
              <a:t>Lặp theo số lần: </a:t>
            </a:r>
            <a:r>
              <a:rPr sz="1600" b="0">
                <a:latin typeface="Consolas"/>
                <a:ea typeface="Consolas"/>
                <a:cs typeface="Consolas"/>
              </a:rPr>
              <a:t>v-for="n in 5"</a:t>
            </a:r>
            <a:r>
              <a:rPr sz="1600" b="0"/>
              <a:t> (n chạy từ 1 đến 5).</a:t>
            </a:r>
          </a:p>
          <a:p>
            <a:pPr>
              <a:spcAft>
                <a:spcPts val="600"/>
              </a:spcAft>
            </a:pPr>
            <a:r>
              <a:rPr sz="1600" b="0"/>
              <a:t>Làm bảng: đặt </a:t>
            </a:r>
            <a:r>
              <a:rPr sz="1600" b="0">
                <a:latin typeface="Consolas"/>
                <a:ea typeface="Consolas"/>
                <a:cs typeface="Consolas"/>
              </a:rPr>
              <a:t>v-for</a:t>
            </a:r>
            <a:r>
              <a:rPr sz="1600" b="0"/>
              <a:t> lên thẻ </a:t>
            </a:r>
            <a:r>
              <a:rPr sz="1600" b="0">
                <a:latin typeface="Consolas"/>
                <a:ea typeface="Consolas"/>
                <a:cs typeface="Consolas"/>
              </a:rPr>
              <a:t>&lt;tr&gt;</a:t>
            </a:r>
            <a:r>
              <a:rPr sz="1600" b="0"/>
              <a:t>, không đặt lên </a:t>
            </a:r>
            <a:r>
              <a:rPr sz="1600" b="0">
                <a:latin typeface="Consolas"/>
                <a:ea typeface="Consolas"/>
                <a:cs typeface="Consolas"/>
              </a:rPr>
              <a:t>&lt;table&gt;</a:t>
            </a:r>
            <a:r>
              <a:rPr sz="1600" b="0"/>
              <a:t>.</a:t>
            </a:r>
          </a:p>
          <a:p>
            <a:pPr>
              <a:spcAft>
                <a:spcPts val="600"/>
              </a:spcAft>
            </a:pPr>
            <a:r>
              <a:rPr sz="1600" b="0"/>
              <a:t>Không viết </a:t>
            </a:r>
            <a:r>
              <a:rPr sz="1600" b="0">
                <a:latin typeface="Consolas"/>
                <a:ea typeface="Consolas"/>
                <a:cs typeface="Consolas"/>
              </a:rPr>
              <a:t>v-if</a:t>
            </a:r>
            <a:r>
              <a:rPr sz="1600" b="0"/>
              <a:t> và </a:t>
            </a:r>
            <a:r>
              <a:rPr sz="1600" b="0">
                <a:latin typeface="Consolas"/>
                <a:ea typeface="Consolas"/>
                <a:cs typeface="Consolas"/>
              </a:rPr>
              <a:t>v-for</a:t>
            </a:r>
            <a:r>
              <a:rPr sz="1600" b="0"/>
              <a:t> trên </a:t>
            </a:r>
            <a:r>
              <a:rPr sz="1600" b="1"/>
              <a:t>cùng một thẻ</a:t>
            </a:r>
            <a:r>
              <a:rPr sz="1600" b="0"/>
              <a:t>; bọc bằng </a:t>
            </a:r>
            <a:r>
              <a:rPr sz="1600" b="0">
                <a:latin typeface="Consolas"/>
                <a:ea typeface="Consolas"/>
                <a:cs typeface="Consolas"/>
              </a:rPr>
              <a:t>&lt;template v-for&gt;</a:t>
            </a:r>
            <a:r>
              <a:rPr sz="1600" b="0"/>
              <a:t> hoặc lọc bằng </a:t>
            </a:r>
            <a:r>
              <a:rPr sz="1600" b="0">
                <a:latin typeface="Consolas"/>
                <a:ea typeface="Consolas"/>
                <a:cs typeface="Consolas"/>
              </a:rPr>
              <a:t>computed</a:t>
            </a:r>
            <a:r>
              <a:rPr sz="1600" b="0"/>
              <a:t>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1.7. v-on — bắt sự kiện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latin typeface="Consolas"/>
                <a:ea typeface="Consolas"/>
                <a:cs typeface="Consolas"/>
              </a:rPr>
              <a:t>v-on:sự-kiện</a:t>
            </a:r>
            <a:r>
              <a:rPr sz="1500" b="0"/>
              <a:t> gắn hàm xử lý vào sự kiện. Trong </a:t>
            </a:r>
            <a:r>
              <a:rPr sz="1500" b="0">
                <a:latin typeface="Consolas"/>
                <a:ea typeface="Consolas"/>
                <a:cs typeface="Consolas"/>
              </a:rPr>
              <a:t>methods</a:t>
            </a:r>
            <a:r>
              <a:rPr sz="1500" b="0"/>
              <a:t>, truy cập dữ liệu bằng </a:t>
            </a:r>
            <a:r>
              <a:rPr sz="1500" b="0">
                <a:latin typeface="Consolas"/>
                <a:ea typeface="Consolas"/>
                <a:cs typeface="Consolas"/>
              </a:rPr>
              <a:t>this</a:t>
            </a:r>
            <a:r>
              <a:rPr sz="1500" b="0"/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64208"/>
            <a:ext cx="8412480" cy="3643884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&lt;div id="app"&gt;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&lt;button v-on:click="dem++"&gt;Tăng&lt;/button&gt;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&lt;button v-on:click="dem--"&gt;Giảm&lt;/button&gt;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&lt;button v-on:click="datLai"&gt;Đặt lại&lt;/button&gt;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&lt;p&gt;Giá trị: {{ dem }}&lt;/p&gt;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&lt;input v-on:keyup.enter="chao" placeholder="Nhấn Enter"&gt;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&lt;form v-on:submit.prevent="guiForm"&gt;&lt;button&gt;Gửi&lt;/button&gt;&lt;/form&gt;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&lt;/div&gt;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&lt;script&gt;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Vue.createApp({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data() { return { dem: 0 }; 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methods: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datLai()  { this.dem = 0; },        // truy cap data qua this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chao()    { alert("Xin chào!"); 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guiForm() { console.log("Gửi form, không tải lại trang");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}).mount("#app");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&lt;/script&gt;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1.7. HTML + JS thuần của v-on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/>
              <a:t>Phải tự tìm phần tử, tự gắn sự kiện, tự cập nhật </a:t>
            </a:r>
            <a:r>
              <a:rPr sz="1500" b="0">
                <a:latin typeface="Consolas"/>
                <a:ea typeface="Consolas"/>
                <a:cs typeface="Consolas"/>
              </a:rPr>
              <a:t>textContent</a:t>
            </a:r>
            <a:r>
              <a:rPr sz="1500" b="0"/>
              <a:t> mỗi khi </a:t>
            </a:r>
            <a:r>
              <a:rPr sz="1500" b="0">
                <a:latin typeface="Consolas"/>
                <a:ea typeface="Consolas"/>
                <a:cs typeface="Consolas"/>
              </a:rPr>
              <a:t>dem</a:t>
            </a:r>
            <a:r>
              <a:rPr sz="1500" b="0"/>
              <a:t> đổi.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64208"/>
            <a:ext cx="8412480" cy="3831082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&lt;button id="tang"&gt;Tăng&lt;/button&gt; &lt;button id="giam"&gt;Giảm&lt;/button&gt;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&lt;button id="datlai"&gt;Đặt lại&lt;/button&gt;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&lt;p&gt;Giá trị: &lt;span id="dem"&gt;0&lt;/span&gt;&lt;/p&gt;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&lt;input id="o" placeholder="Nhấn Enter"&gt;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&lt;form id="f"&gt;&lt;button&gt;Gửi&lt;/button&gt;&lt;/form&gt;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&lt;script&gt;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const $ = id =&gt; document.getElementById(id);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let dem = 0;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const hien = () =&gt; { $("dem").textContent = dem; };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$("tang").onclick   = () =&gt; { dem++; hien(); };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$("giam").onclick   = () =&gt; { dem--; hien(); };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$("datlai").onclick = () =&gt; { dem = 0; hien(); };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$("o").onkeyup = e =&gt; { if (e.key === "Enter") alert("Xin chào!"); };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$("f").onsubmit = e =&gt;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e.preventDefault();                       // chan tai lai trang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console.log("Gửi form, không tải lại trang");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};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&lt;/script&gt;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1.7. Modifier của v-on: .prevent, .stop, .enter, .once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/>
              <a:t>Mỗi nút/ô nhập dùng một modifier; "Nhật ký" ghi lại điều gì thực sự đã chạy. Thử bỏ modifier để thấy khác biệt.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892808"/>
            <a:ext cx="8412480" cy="3643884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&lt;div id="app"&gt;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&lt;form v-on:submit.prevent="guiForm"&gt;&lt;button&gt;Gửi (.prevent)&lt;/button&gt;&lt;/form&gt;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&lt;div v-on:click="ghi('div cha')"&gt;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&lt;button v-on:click.stop="ghi('nút con')"&gt;Nút con (.stop)&lt;/button&gt;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&lt;/div&gt;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&lt;input v-on:keyup.enter="ghi('Enter')" placeholder="Nhấn Enter"&gt;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&lt;button v-on:click.once="ghi('once')"&gt;Bấm (.once)&lt;/button&gt;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&lt;p&gt;Nhật ký: {{ nhatKy.join(", ") }}&lt;/p&gt;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&lt;/div&gt;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&lt;script&gt;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Vue.createApp({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data() { return { nhatKy: [] }; 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methods: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ghi(s)    { this.nhatKy.push(s); 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guiForm() { this.ghi("gửi form");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}).mount("#app");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&lt;/script&gt;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/>
              <a:t>1.7. HTML + JS thuần của modifier v-on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/>
              <a:t>Mỗi modifier tương ứng một thao tác thủ công: </a:t>
            </a:r>
            <a:r>
              <a:rPr sz="1500" b="0">
                <a:latin typeface="Consolas"/>
                <a:ea typeface="Consolas"/>
                <a:cs typeface="Consolas"/>
              </a:rPr>
              <a:t>preventDefault()</a:t>
            </a:r>
            <a:r>
              <a:rPr sz="1500" b="0"/>
              <a:t>, </a:t>
            </a:r>
            <a:r>
              <a:rPr sz="1500" b="0">
                <a:latin typeface="Consolas"/>
                <a:ea typeface="Consolas"/>
                <a:cs typeface="Consolas"/>
              </a:rPr>
              <a:t>stopPropagation()</a:t>
            </a:r>
            <a:r>
              <a:rPr sz="1500" b="0"/>
              <a:t>, kiểm </a:t>
            </a:r>
            <a:r>
              <a:rPr sz="1500" b="0">
                <a:latin typeface="Consolas"/>
                <a:ea typeface="Consolas"/>
                <a:cs typeface="Consolas"/>
              </a:rPr>
              <a:t>e.key</a:t>
            </a:r>
            <a:r>
              <a:rPr sz="1500" b="0"/>
              <a:t>, tùy chọn </a:t>
            </a:r>
            <a:r>
              <a:rPr sz="1500" b="0">
                <a:latin typeface="Consolas"/>
                <a:ea typeface="Consolas"/>
                <a:cs typeface="Consolas"/>
              </a:rPr>
              <a:t>{ once: true }</a:t>
            </a:r>
            <a:r>
              <a:rPr sz="1500" b="0"/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892808"/>
            <a:ext cx="8412480" cy="3643884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&lt;form id="f"&gt;&lt;button&gt;Gửi (.prevent)&lt;/button&gt;&lt;/form&gt;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&lt;div id="cha"&gt;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&lt;button id="con"&gt;Nút con (.stop)&lt;/button&gt;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&lt;/div&gt;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&lt;input id="o" placeholder="Nhấn Enter"&gt;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&lt;button id="mot"&gt;Bấm (.once)&lt;/button&gt;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&lt;p&gt;Nhật ký: &lt;span id="nk"&gt;&lt;/span&gt;&lt;/p&gt;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&lt;script&gt;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const $ = id =&gt; document.getElementById(id);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const nhatKy = [];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const ghi = s =&gt; { nhatKy.push(s); $("nk").textContent = nhatKy.join(", "); };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$("f").onsubmit  = e =&gt; { e.preventDefault(); ghi("gửi form"); };   // .prevent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$("cha").onclick = () =&gt; ghi("div cha");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$("con").onclick = e =&gt; { e.stopPropagation(); ghi("nút con"); };   // .stop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$("o").onkeyup   = e =&gt; { if (e.key === "Enter") ghi("Enter"); };   // .enter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$("mot").addEventListener("click", () =&gt; ghi("once"), { once: true }); // .once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&lt;/script&gt;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/>
              <a:t>1.7. Tham số và modifier của v-on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/>
              <a:t>Truyền tham số khi gọi hàm: </a:t>
            </a:r>
            <a:r>
              <a:rPr sz="1500" b="0">
                <a:latin typeface="Consolas"/>
                <a:ea typeface="Consolas"/>
                <a:cs typeface="Consolas"/>
              </a:rPr>
              <a:t>v-on:click="xoa(sp.id)"</a:t>
            </a:r>
            <a:r>
              <a:rPr sz="1500" b="0"/>
              <a:t> — trong </a:t>
            </a:r>
            <a:r>
              <a:rPr sz="1500" b="0">
                <a:latin typeface="Consolas"/>
                <a:ea typeface="Consolas"/>
                <a:cs typeface="Consolas"/>
              </a:rPr>
              <a:t>v-for</a:t>
            </a:r>
            <a:r>
              <a:rPr sz="1500" b="0"/>
              <a:t> dùng luôn biến lặp.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47088"/>
          <a:ext cx="8229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Modifier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Ý nghĩa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Đầy đủ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Rút gọn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.prevent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Chặn hành vi mặc định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v-on:submit.prevent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@submit.prevent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.stop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Chặn nổi bọt lên cha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v-on:click.stop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@click.stop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.enter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Chỉ khi nhấn Enter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v-on:keyup.enter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@keyup.enter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.once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Chỉ chạy một lần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v-on:click.once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@click.once</a:t>
                      </a:r>
                    </a:p>
                  </a:txBody>
                  <a:tcPr marL="54864" marR="54864" marT="27432" marB="27432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Tiết 2 — v-model, methods, computed, watch &amp; mounted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/>
              <a:t>2.1. v-model — two-way binding: ô nhập văn bản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/>
              <a:t>Hai chiều nghĩa là:</a:t>
            </a:r>
            <a:r>
              <a:rPr sz="1500" b="0"/>
              <a:t> người dùng gõ → biến đổi theo; code sửa biến → ô nhập đổi theo.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64208"/>
            <a:ext cx="8412480" cy="3337560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&lt;div id="app"&gt;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&lt;p&gt;Họ tên: &lt;input type="text" v-model.trim="hoTen"&gt;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→ &lt;strong&gt;{{ hoTen }}&lt;/strong&gt;&lt;/p&gt;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&lt;p&gt;Tuổi: &lt;input type="number" v-model.number="tuoi"&gt;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→ {{ tuoi + 1 }} (năm sau)&lt;/p&gt;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&lt;p&gt;&lt;textarea v-model="gioiThieu" rows="3"&gt;&lt;/textarea&gt;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&lt;br&gt;Đã nhập {{ gioiThieu.length }} ký tự&lt;/p&gt;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&lt;/div&gt;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&lt;script&gt;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Vue.createApp({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data()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return { hoTen: "", tuoi: 20, gioiThieu: "" };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}).mount("#app");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&lt;/script&gt;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/>
              <a:t>2.1. HTML + JS thuần của ô nhập văn bản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/>
              <a:t>PHP chỉ đọc được giá trị </a:t>
            </a:r>
            <a:r>
              <a:rPr sz="1500" b="1"/>
              <a:t>sau khi submit</a:t>
            </a:r>
            <a:r>
              <a:rPr sz="1500" b="0"/>
              <a:t>; JS thuần thấy được ngay khi gõ nhưng phải tự viết từng handler.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892808"/>
            <a:ext cx="8412480" cy="2146299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&lt;p&gt;Họ tên: &lt;input id="hoTen"&gt; → &lt;strong id="o1"&gt;&lt;/strong&gt;&lt;/p&gt;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&lt;p&gt;Tuổi: &lt;input id="tuoi" type="number" value="20"&gt; → &lt;span id="o2"&gt;21&lt;/span&gt;&lt;/p&gt;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&lt;p&gt;&lt;textarea id="gt" rows="3"&gt;&lt;/textarea&gt;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&lt;br&gt;Đã nhập &lt;span id="o3"&gt;0&lt;/span&gt; ký tự&lt;/p&gt;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&lt;script&gt;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const $ = id =&gt; document.getElementById(id);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$("hoTen").oninput = () =&gt; $("o1").textContent = $("hoTen").value.trim();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$("tuoi").oninput  = () =&gt; $("o2").textContent = Number($("tuoi").value) + 1;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$("gt").oninput    = () =&gt; $("o3").textContent = $("gt").value.length;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&lt;/script&gt;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/>
              <a:t>2.1. v-model với select, checkbox, radio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412480" cy="4018280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&lt;div id="app"&gt;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&lt;select v-model="danhMucChon"&gt;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&lt;option value=""&gt;-- Tất cả --&lt;/option&gt;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&lt;option v-for="dm in dsDanhMuc" v-bind:key="dm.id" v-bind:value="dm.id"&gt;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{{ dm.ten }}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&lt;/option&gt;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&lt;/select&gt;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&lt;label&gt;&lt;input type="checkbox" v-model="dongY"&gt; Đồng ý&lt;/label&gt;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&lt;label&gt;&lt;input type="radio" value="nam" v-model="gioiTinh"&gt; Nam&lt;/label&gt;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&lt;label&gt;&lt;input type="radio" value="nu" v-model="gioiTinh"&gt; Nữ&lt;/label&gt;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&lt;p&gt;{{ danhMucChon }} | {{ dongY }} | {{ gioiTinh }}&lt;/p&gt;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&lt;/div&gt;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&lt;script&gt;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Vue.createApp({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data()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return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danhMucChon: "", dongY: false, gioiTinh: "nam",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dsDanhMuc: [{ id: 1, ten: "Sách" }, { id: 2, ten: "Bút" }]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};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}).mount("#app");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&lt;/script&gt;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2.1. HTML + JS thuần của select, checkbox, radio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/>
              <a:t>Phải tự đọc lại cả ba giá trị mỗi khi có thay đổi: </a:t>
            </a:r>
            <a:r>
              <a:rPr sz="1500" b="0">
                <a:latin typeface="Consolas"/>
                <a:ea typeface="Consolas"/>
                <a:cs typeface="Consolas"/>
              </a:rPr>
              <a:t>value</a:t>
            </a:r>
            <a:r>
              <a:rPr sz="1500" b="0"/>
              <a:t>, </a:t>
            </a:r>
            <a:r>
              <a:rPr sz="1500" b="0">
                <a:latin typeface="Consolas"/>
                <a:ea typeface="Consolas"/>
                <a:cs typeface="Consolas"/>
              </a:rPr>
              <a:t>checked</a:t>
            </a:r>
            <a:r>
              <a:rPr sz="1500" b="0"/>
              <a:t>, và radio nào đang được chọn.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892808"/>
            <a:ext cx="8412480" cy="3269488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&lt;select id="dm"&gt;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&lt;option value=""&gt;-- Tất cả --&lt;/option&gt;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&lt;option value="1"&gt;Sách&lt;/option&gt;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&lt;option value="2"&gt;Bút&lt;/option&gt;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&lt;/select&gt;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&lt;label&gt;&lt;input type="checkbox" id="dy"&gt; Đồng ý&lt;/label&gt;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&lt;label&gt;&lt;input type="radio" name="gt" value="nam" checked&gt; Nam&lt;/label&gt;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&lt;label&gt;&lt;input type="radio" name="gt" value="nu"&gt; Nữ&lt;/label&gt;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&lt;p id="kq"&gt;&lt;/p&gt;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&lt;script&gt;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const $ = id =&gt; document.getElementById(id);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document.addEventListener("change", () =&gt;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const gt = document.querySelector("[name=gt]:checked").value;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$("kq").textContent = $("dm").value + " | " + $("dy").checked + " | " + 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});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&lt;/script&gt;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2.1. Modifier của v-model: .number, .trim, .lazy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/>
              <a:t>Gõ vào từng ô và xem kiểu dữ liệu, độ dài, thời điểm cập nhật của biến.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64208"/>
            <a:ext cx="8412480" cy="3456686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&lt;div id="app"&gt;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&lt;p&gt;.number: &lt;input v-model.number="tuoi"&gt;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→ {{ tuoi }} ({{ typeof tuoi }})&lt;/p&gt;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&lt;p&gt;Mặc định: &lt;input v-model="tuoiChu"&gt;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→ {{ tuoiChu }} ({{ typeof tuoiChu }})&lt;/p&gt;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&lt;p&gt;.trim: &lt;input v-model.trim="ten"&gt;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→ "{{ ten }}" ({{ ten.length }} ký tự)&lt;/p&gt;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&lt;p&gt;.lazy: &lt;input v-model.lazy="loiNhan"&gt;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→ {{ loiNhan }}&lt;/p&gt;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&lt;/div&gt;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&lt;script&gt;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Vue.createApp({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data()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return { tuoi: 20, tuoiChu: "20", ten: "", loiNhan: "" };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}).mount("#app");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&lt;/script&gt;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/>
              <a:t>2.1. HTML + JS thuần của modifier v-model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/>
              <a:t>Phải tự ép kiểu (</a:t>
            </a:r>
            <a:r>
              <a:rPr sz="1500" b="0">
                <a:latin typeface="Consolas"/>
                <a:ea typeface="Consolas"/>
                <a:cs typeface="Consolas"/>
              </a:rPr>
              <a:t>parseFloat</a:t>
            </a:r>
            <a:r>
              <a:rPr sz="1500" b="0"/>
              <a:t>), tự </a:t>
            </a:r>
            <a:r>
              <a:rPr sz="1500" b="0">
                <a:latin typeface="Consolas"/>
                <a:ea typeface="Consolas"/>
                <a:cs typeface="Consolas"/>
              </a:rPr>
              <a:t>trim()</a:t>
            </a:r>
            <a:r>
              <a:rPr sz="1500" b="0"/>
              <a:t>, và chọn đúng sự kiện (</a:t>
            </a:r>
            <a:r>
              <a:rPr sz="1500" b="0">
                <a:latin typeface="Consolas"/>
                <a:ea typeface="Consolas"/>
                <a:cs typeface="Consolas"/>
              </a:rPr>
              <a:t>input</a:t>
            </a:r>
            <a:r>
              <a:rPr sz="1500" b="0"/>
              <a:t> hay </a:t>
            </a:r>
            <a:r>
              <a:rPr sz="1500" b="0">
                <a:latin typeface="Consolas"/>
                <a:ea typeface="Consolas"/>
                <a:cs typeface="Consolas"/>
              </a:rPr>
              <a:t>change</a:t>
            </a:r>
            <a:r>
              <a:rPr sz="1500" b="0"/>
              <a:t>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64208"/>
            <a:ext cx="8412480" cy="3082290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&lt;p&gt;.number: &lt;input id="a" value="20"&gt; → &lt;span id="a2"&gt;20 (number)&lt;/span&gt;&lt;/p&gt;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&lt;p&gt;Mặc định: &lt;input id="b" value="20"&gt; → &lt;span id="b2"&gt;20 (string)&lt;/span&gt;&lt;/p&gt;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&lt;p&gt;.trim: &lt;input id="c"&gt; → "&lt;span id="c2"&gt;&lt;/span&gt;"&lt;/p&gt;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&lt;p&gt;.lazy: &lt;input id="d"&gt; → &lt;span id="d2"&gt;&lt;/span&gt;&lt;/p&gt;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&lt;script&gt;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const $ = id =&gt; document.getElementById(id);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const kieu = v =&gt; v + " (" + typeof v + ")";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$("a").oninput = () =&gt;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$("a2").textContent = kieu(parseFloat($("a").value));   // .number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};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$("b").oninput = () =&gt; { $("b2").textContent = kieu($("b").value); };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$("c").oninput = () =&gt; { $("c2").textContent = $("c").value.trim(); };  // .trim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$("d").onchange = () =&gt; { $("d2").textContent = $("d").value; };        // .lazy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&lt;/script&gt;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/>
              <a:t>2.1. Tóm tắt modifier của v-model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Modifier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Tác dụng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Dùng khi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.number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Ép giá trị sang kiểu số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Ô giá, số lượng, tuổi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.trim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Bỏ khoảng trắng thừa hai đầu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Tên, email, từ khóa tìm kiếm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.lazy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Chỉ cập nhật khi rời khỏi ô (sự kiện </a:t>
                      </a:r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change</a:t>
                      </a:r>
                      <a:r>
                        <a:rPr sz="1300" b="0"/>
                        <a:t>)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Tránh tính lại mỗi lần gõ</a:t>
                      </a:r>
                    </a:p>
                  </a:txBody>
                  <a:tcPr marL="54864" marR="54864" marT="27432" marB="27432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2.2. methods, computed, watch, mounted — bốn nơi đặt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9385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/>
              <a:t>Cả bốn nằm trong object truyền vào </a:t>
            </a:r>
            <a:r>
              <a:rPr sz="1500" b="0">
                <a:latin typeface="Consolas"/>
                <a:ea typeface="Consolas"/>
                <a:cs typeface="Consolas"/>
              </a:rPr>
              <a:t>createApp</a:t>
            </a:r>
            <a:r>
              <a:rPr sz="1500" b="0"/>
              <a:t>, đều dùng </a:t>
            </a:r>
            <a:r>
              <a:rPr sz="1500" b="0">
                <a:latin typeface="Consolas"/>
                <a:ea typeface="Consolas"/>
                <a:cs typeface="Consolas"/>
              </a:rPr>
              <a:t>this</a:t>
            </a:r>
            <a:r>
              <a:rPr sz="1500" b="0"/>
              <a:t> để truy cập dữ liệu, nhưng chạy vào </a:t>
            </a:r>
            <a:r>
              <a:rPr sz="1500" b="1"/>
              <a:t>thời điểm khác nhau</a:t>
            </a:r>
            <a:r>
              <a:rPr sz="1500" b="0"/>
              <a:t>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642616"/>
          <a:ext cx="8229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Tên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Vai trò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Chạy khi nào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Dùng trong template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methods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Hành động, xử lý sự kiện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Mỗi lần được gọi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v-on:click="tang"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computed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Giá trị tính từ dữ liệu khác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Khi dữ liệu nó dùng đổi (có cache)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{{ thanhTien }}</a:t>
                      </a:r>
                      <a:r>
                        <a:rPr sz="1300" b="0"/>
                        <a:t> như biến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watch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Việc phụ khi một biến đổi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Mỗi lần biến được theo dõi đổi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Không gọi, Vue tự chạy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mounted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Khởi động ứng dụng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Đúng 1 lần, khi trang sẵn sàng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Không gọi, Vue tự chạy</a:t>
                      </a:r>
                    </a:p>
                  </a:txBody>
                  <a:tcPr marL="54864" marR="54864" marT="27432" marB="27432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2.2. Cách nhớ bốn khái niệm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800" b="0">
                <a:latin typeface="Consolas"/>
                <a:ea typeface="Consolas"/>
                <a:cs typeface="Consolas"/>
              </a:rPr>
              <a:t>methods</a:t>
            </a:r>
            <a:r>
              <a:rPr sz="1800" b="0"/>
              <a:t> = </a:t>
            </a:r>
            <a:r>
              <a:rPr sz="1800" b="1"/>
              <a:t>nút bấm</a:t>
            </a:r>
            <a:r>
              <a:rPr sz="1800" b="0"/>
              <a:t>: người dùng làm gì thì hàm đó chạy.</a:t>
            </a:r>
          </a:p>
          <a:p>
            <a:pPr>
              <a:spcAft>
                <a:spcPts val="600"/>
              </a:spcAft>
            </a:pPr>
            <a:r>
              <a:rPr sz="1800" b="0">
                <a:latin typeface="Consolas"/>
                <a:ea typeface="Consolas"/>
                <a:cs typeface="Consolas"/>
              </a:rPr>
              <a:t>computed</a:t>
            </a:r>
            <a:r>
              <a:rPr sz="1800" b="0"/>
              <a:t> = </a:t>
            </a:r>
            <a:r>
              <a:rPr sz="1800" b="1"/>
              <a:t>công thức Excel</a:t>
            </a:r>
            <a:r>
              <a:rPr sz="1800" b="0"/>
              <a:t>: ô kết quả tự tính lại khi ô nguồn đổi, chỉ trả về giá trị.</a:t>
            </a:r>
          </a:p>
          <a:p>
            <a:pPr>
              <a:spcAft>
                <a:spcPts val="600"/>
              </a:spcAft>
            </a:pPr>
            <a:r>
              <a:rPr sz="1800" b="0">
                <a:latin typeface="Consolas"/>
                <a:ea typeface="Consolas"/>
                <a:cs typeface="Consolas"/>
              </a:rPr>
              <a:t>watch</a:t>
            </a:r>
            <a:r>
              <a:rPr sz="1800" b="0"/>
              <a:t> = </a:t>
            </a:r>
            <a:r>
              <a:rPr sz="1800" b="1"/>
              <a:t>chuông báo</a:t>
            </a:r>
            <a:r>
              <a:rPr sz="1800" b="0"/>
              <a:t>: một biến đổi thì làm một việc phụ (cảnh báo, ghi log, gọi API).</a:t>
            </a:r>
          </a:p>
          <a:p>
            <a:pPr>
              <a:spcAft>
                <a:spcPts val="600"/>
              </a:spcAft>
            </a:pPr>
            <a:r>
              <a:rPr sz="1800" b="0">
                <a:latin typeface="Consolas"/>
                <a:ea typeface="Consolas"/>
                <a:cs typeface="Consolas"/>
              </a:rPr>
              <a:t>mounted</a:t>
            </a:r>
            <a:r>
              <a:rPr sz="1800" b="0"/>
              <a:t> = </a:t>
            </a:r>
            <a:r>
              <a:rPr sz="1800" b="1"/>
              <a:t>khởi động</a:t>
            </a:r>
            <a:r>
              <a:rPr sz="1800" b="0"/>
              <a:t>: chạy đúng một lần khi trang vừa sẵn sàng (buổi 8: gọi API ở đây).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/>
              <a:t>2.2. Ví dụ tổng hợp: mua hàng mini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/>
              <a:t>Một ví dụ dùng đủ bốn: </a:t>
            </a:r>
            <a:r>
              <a:rPr sz="1500" b="0">
                <a:latin typeface="Consolas"/>
                <a:ea typeface="Consolas"/>
                <a:cs typeface="Consolas"/>
              </a:rPr>
              <a:t>mounted</a:t>
            </a:r>
            <a:r>
              <a:rPr sz="1500" b="0"/>
              <a:t> khởi động, </a:t>
            </a:r>
            <a:r>
              <a:rPr sz="1500" b="0">
                <a:latin typeface="Consolas"/>
                <a:ea typeface="Consolas"/>
                <a:cs typeface="Consolas"/>
              </a:rPr>
              <a:t>methods</a:t>
            </a:r>
            <a:r>
              <a:rPr sz="1500" b="0"/>
              <a:t> tăng/giảm, </a:t>
            </a:r>
            <a:r>
              <a:rPr sz="1500" b="0">
                <a:latin typeface="Consolas"/>
                <a:ea typeface="Consolas"/>
                <a:cs typeface="Consolas"/>
              </a:rPr>
              <a:t>computed</a:t>
            </a:r>
            <a:r>
              <a:rPr sz="1500" b="0"/>
              <a:t> tính tiền, </a:t>
            </a:r>
            <a:r>
              <a:rPr sz="1500" b="0">
                <a:latin typeface="Consolas"/>
                <a:ea typeface="Consolas"/>
                <a:cs typeface="Consolas"/>
              </a:rPr>
              <a:t>watch</a:t>
            </a:r>
            <a:r>
              <a:rPr sz="1500" b="0"/>
              <a:t> cảnh báo.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892808"/>
            <a:ext cx="8412480" cy="4358640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&lt;div id="app"&gt;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&lt;p&gt;{{ trangThai }}&lt;/p&gt;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&lt;button v-on:click="giam"&gt;-&lt;/button&gt; {{ soLuong }}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&lt;button v-on:click="tang"&gt;+&lt;/button&gt;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&lt;p&gt;Thành tiền: {{ thanhTien }} đ &lt;b&gt;{{ canhBao }}&lt;/b&gt;&lt;/p&gt;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&lt;/div&gt;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&lt;script&gt;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Vue.createApp({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data()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return { trangThai: "Đang tải...", soLuong: 1, donGia: 5000, canhBao: "" };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mounted() { this.trangThai = "Sẵn sàng"; },     // chay 1 lan luc khoi dong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methods: {                                      // hanh dong khi nguoi dung bam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tang() { this.soLuong++; 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giam() { if (this.soLuong &gt; 1) this.soLuong--;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computed: {                                     // gia tri tinh tu du lieu khac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thanhTien() { return this.soLuong * this.donGia;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watch: {                                        // viec phu khi soLuong doi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soLuong(moi) { this.canhBao = moi &gt;= 10 ? "Giá sỉ!" : "";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}).mount("#app");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&lt;/script&gt;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/>
              <a:t>2.2. HTML + JS thuần của ví dụ tổng hợp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/>
              <a:t>Phải tự gọi </a:t>
            </a:r>
            <a:r>
              <a:rPr sz="1500" b="0">
                <a:latin typeface="Consolas"/>
                <a:ea typeface="Consolas"/>
                <a:cs typeface="Consolas"/>
              </a:rPr>
              <a:t>capNhat()</a:t>
            </a:r>
            <a:r>
              <a:rPr sz="1500" b="0"/>
              <a:t> sau </a:t>
            </a:r>
            <a:r>
              <a:rPr sz="1500" b="1"/>
              <a:t>mọi</a:t>
            </a:r>
            <a:r>
              <a:rPr sz="1500" b="0"/>
              <a:t> thay đổi; quên một chỗ là giao diện sai. Vue làm việc này tự động.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892808"/>
            <a:ext cx="8412480" cy="4018279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&lt;p id="tt"&gt;Đang tải...&lt;/p&gt;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&lt;button id="giam"&gt;-&lt;/button&gt; &lt;span id="sl"&gt;1&lt;/span&gt;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&lt;button id="tang"&gt;+&lt;/button&gt;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&lt;p&gt;Thành tiền: &lt;span id="tien"&gt;5000&lt;/span&gt; đ &lt;b id="cb"&gt;&lt;/b&gt;&lt;/p&gt;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&lt;script&gt;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const $ = id =&gt; document.getElementById(id);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const donGia = 5000;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let soLuong = 1;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function capNhat() {                        // tu cap nhat moi cho phu thuoc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$("sl").textContent = soLuong;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$("tien").textContent = soLuong * donGia;               // computed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$("cb").textContent = soLuong &gt;= 10 ? "Giá sỉ!" : "";   // watch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$("tang").onclick = () =&gt; { soLuong++; capNhat(); };      // methods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$("giam").onclick = () =&gt; { if (soLuong &gt; 1) soLuong--; capNhat(); };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document.addEventListener("DOMContentLoaded", () =&gt; {     // mounted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$("tt").textContent = "Sẵn sàng";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});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&lt;/script&gt;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/>
              <a:t>2.2. Tổng kết: tình huống thực tế → dùng gì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Tình huống thường gặp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Dùng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Vì sao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/>
                        <a:t>Bấm nút Thêm / Xóa / Gửi form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methods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Là hành động do người dùng kích hoạt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/>
                        <a:t>Lọc, tìm kiếm danh sách theo từ khóa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computed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Kết quả suy ra từ từ khóa + danh sách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/>
                        <a:t>Tính tổng tiền, đếm số dòng, định dạng giá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computed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Giá trị dẫn xuất, có cache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/>
                        <a:t>Hiện cảnh báo khi giá trị vượt ngưỡng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watch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Việc phụ khi một biến đổi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/>
                        <a:t>Lưu </a:t>
                      </a:r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localStorage</a:t>
                      </a:r>
                      <a:r>
                        <a:rPr sz="1300" b="0"/>
                        <a:t>, gọi API mỗi khi biến đổi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watch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Có tác dụng phụ, không phải giá trị hiển thị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/>
                        <a:t>Nạp danh sách khi mở trang (buổi 8: API)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mounted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Chạy đúng một lần lúc khởi động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/>
                        <a:t>Đặt con trỏ vào ô nhập khi mở trang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mounted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Lúc đó DOM đã sẵn sàng</a:t>
                      </a:r>
                    </a:p>
                  </a:txBody>
                  <a:tcPr marL="54864" marR="54864" marT="27432" marB="27432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2.2. Quy tắc chọn nhanh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800" b="0"/>
              <a:t>Thấy "khi người dùng </a:t>
            </a:r>
            <a:r>
              <a:rPr sz="1800" b="1"/>
              <a:t>bấm</a:t>
            </a:r>
            <a:r>
              <a:rPr sz="1800" b="0"/>
              <a:t> / </a:t>
            </a:r>
            <a:r>
              <a:rPr sz="1800" b="1"/>
              <a:t>gửi</a:t>
            </a:r>
            <a:r>
              <a:rPr sz="1800" b="0"/>
              <a:t>…" → </a:t>
            </a:r>
            <a:r>
              <a:rPr sz="1800" b="0">
                <a:latin typeface="Consolas"/>
                <a:ea typeface="Consolas"/>
                <a:cs typeface="Consolas"/>
              </a:rPr>
              <a:t>methods</a:t>
            </a:r>
            <a:r>
              <a:rPr sz="1800" b="0"/>
              <a:t>.</a:t>
            </a:r>
          </a:p>
          <a:p>
            <a:pPr>
              <a:spcAft>
                <a:spcPts val="600"/>
              </a:spcAft>
            </a:pPr>
            <a:r>
              <a:rPr sz="1800" b="0"/>
              <a:t>Thấy "</a:t>
            </a:r>
            <a:r>
              <a:rPr sz="1800" b="1"/>
              <a:t>tính ra</a:t>
            </a:r>
            <a:r>
              <a:rPr sz="1800" b="0"/>
              <a:t> A từ B" để hiển thị → </a:t>
            </a:r>
            <a:r>
              <a:rPr sz="1800" b="0">
                <a:latin typeface="Consolas"/>
                <a:ea typeface="Consolas"/>
                <a:cs typeface="Consolas"/>
              </a:rPr>
              <a:t>computed</a:t>
            </a:r>
            <a:r>
              <a:rPr sz="1800" b="0"/>
              <a:t>.</a:t>
            </a:r>
          </a:p>
          <a:p>
            <a:pPr>
              <a:spcAft>
                <a:spcPts val="600"/>
              </a:spcAft>
            </a:pPr>
            <a:r>
              <a:rPr sz="1800" b="0"/>
              <a:t>Thấy "</a:t>
            </a:r>
            <a:r>
              <a:rPr sz="1800" b="1"/>
              <a:t>mỗi khi</a:t>
            </a:r>
            <a:r>
              <a:rPr sz="1800" b="0"/>
              <a:t> A đổi thì làm B" → </a:t>
            </a:r>
            <a:r>
              <a:rPr sz="1800" b="0">
                <a:latin typeface="Consolas"/>
                <a:ea typeface="Consolas"/>
                <a:cs typeface="Consolas"/>
              </a:rPr>
              <a:t>watch</a:t>
            </a:r>
            <a:r>
              <a:rPr sz="1800" b="0"/>
              <a:t>.</a:t>
            </a:r>
          </a:p>
          <a:p>
            <a:pPr>
              <a:spcAft>
                <a:spcPts val="600"/>
              </a:spcAft>
            </a:pPr>
            <a:r>
              <a:rPr sz="1800" b="0"/>
              <a:t>Thấy "</a:t>
            </a:r>
            <a:r>
              <a:rPr sz="1800" b="1"/>
              <a:t>lúc mở trang</a:t>
            </a:r>
            <a:r>
              <a:rPr sz="1800" b="0"/>
              <a:t> thì…" → </a:t>
            </a:r>
            <a:r>
              <a:rPr sz="1800" b="0">
                <a:latin typeface="Consolas"/>
                <a:ea typeface="Consolas"/>
                <a:cs typeface="Consolas"/>
              </a:rPr>
              <a:t>mounted</a:t>
            </a:r>
            <a:r>
              <a:rPr sz="1800" b="0"/>
              <a:t>.</a:t>
            </a:r>
          </a:p>
          <a:p>
            <a:pPr>
              <a:spcAft>
                <a:spcPts val="600"/>
              </a:spcAft>
            </a:pPr>
            <a:r>
              <a:rPr sz="1800" b="0"/>
              <a:t>Phân vân giữa </a:t>
            </a:r>
            <a:r>
              <a:rPr sz="1800" b="0">
                <a:latin typeface="Consolas"/>
                <a:ea typeface="Consolas"/>
                <a:cs typeface="Consolas"/>
              </a:rPr>
              <a:t>computed</a:t>
            </a:r>
            <a:r>
              <a:rPr sz="1800" b="0"/>
              <a:t> và </a:t>
            </a:r>
            <a:r>
              <a:rPr sz="1800" b="0">
                <a:latin typeface="Consolas"/>
                <a:ea typeface="Consolas"/>
                <a:cs typeface="Consolas"/>
              </a:rPr>
              <a:t>watch</a:t>
            </a:r>
            <a:r>
              <a:rPr sz="1800" b="0"/>
              <a:t>: nếu kết quả để </a:t>
            </a:r>
            <a:r>
              <a:rPr sz="1800" b="1"/>
              <a:t>hiển thị</a:t>
            </a:r>
            <a:r>
              <a:rPr sz="1800" b="0"/>
              <a:t> thì chọn </a:t>
            </a:r>
            <a:r>
              <a:rPr sz="1800" b="0">
                <a:latin typeface="Consolas"/>
                <a:ea typeface="Consolas"/>
                <a:cs typeface="Consolas"/>
              </a:rPr>
              <a:t>computed</a:t>
            </a:r>
            <a:r>
              <a:rPr sz="1800" b="0"/>
              <a:t>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2.2. Lỗi hay gặp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800" b="0"/>
              <a:t>Dùng </a:t>
            </a:r>
            <a:r>
              <a:rPr sz="1800" b="0">
                <a:latin typeface="Consolas"/>
                <a:ea typeface="Consolas"/>
                <a:cs typeface="Consolas"/>
              </a:rPr>
              <a:t>methods</a:t>
            </a:r>
            <a:r>
              <a:rPr sz="1800" b="0"/>
              <a:t> để tính tổng hiển thị: chạy lại mỗi lần render, không cache → nên dùng </a:t>
            </a:r>
            <a:r>
              <a:rPr sz="1800" b="0">
                <a:latin typeface="Consolas"/>
                <a:ea typeface="Consolas"/>
                <a:cs typeface="Consolas"/>
              </a:rPr>
              <a:t>computed</a:t>
            </a:r>
            <a:r>
              <a:rPr sz="1800" b="0"/>
              <a:t>.</a:t>
            </a:r>
          </a:p>
          <a:p>
            <a:pPr>
              <a:spcAft>
                <a:spcPts val="600"/>
              </a:spcAft>
            </a:pPr>
            <a:r>
              <a:rPr sz="1800" b="0"/>
              <a:t>Dùng </a:t>
            </a:r>
            <a:r>
              <a:rPr sz="1800" b="0">
                <a:latin typeface="Consolas"/>
                <a:ea typeface="Consolas"/>
                <a:cs typeface="Consolas"/>
              </a:rPr>
              <a:t>watch</a:t>
            </a:r>
            <a:r>
              <a:rPr sz="1800" b="0"/>
              <a:t> để tính giá trị hiển thị: dài dòng, dễ sót → nên dùng </a:t>
            </a:r>
            <a:r>
              <a:rPr sz="1800" b="0">
                <a:latin typeface="Consolas"/>
                <a:ea typeface="Consolas"/>
                <a:cs typeface="Consolas"/>
              </a:rPr>
              <a:t>computed</a:t>
            </a:r>
            <a:r>
              <a:rPr sz="1800" b="0"/>
              <a:t>.</a:t>
            </a:r>
          </a:p>
          <a:p>
            <a:pPr>
              <a:spcAft>
                <a:spcPts val="600"/>
              </a:spcAft>
            </a:pPr>
            <a:r>
              <a:rPr sz="1800" b="0"/>
              <a:t>Sửa dữ liệu bên trong </a:t>
            </a:r>
            <a:r>
              <a:rPr sz="1800" b="0">
                <a:latin typeface="Consolas"/>
                <a:ea typeface="Consolas"/>
                <a:cs typeface="Consolas"/>
              </a:rPr>
              <a:t>computed</a:t>
            </a:r>
            <a:r>
              <a:rPr sz="1800" b="0"/>
              <a:t>: </a:t>
            </a:r>
            <a:r>
              <a:rPr sz="1800" b="0">
                <a:latin typeface="Consolas"/>
                <a:ea typeface="Consolas"/>
                <a:cs typeface="Consolas"/>
              </a:rPr>
              <a:t>computed</a:t>
            </a:r>
            <a:r>
              <a:rPr sz="1800" b="0"/>
              <a:t> chỉ nên </a:t>
            </a:r>
            <a:r>
              <a:rPr sz="1800" b="1"/>
              <a:t>trả về</a:t>
            </a:r>
            <a:r>
              <a:rPr sz="1800" b="0"/>
              <a:t> giá trị, không có tác dụng phụ.</a:t>
            </a:r>
          </a:p>
          <a:p>
            <a:pPr>
              <a:spcAft>
                <a:spcPts val="600"/>
              </a:spcAft>
            </a:pPr>
            <a:r>
              <a:rPr sz="1800" b="0"/>
              <a:t>Gọi </a:t>
            </a:r>
            <a:r>
              <a:rPr sz="1800" b="0">
                <a:latin typeface="Consolas"/>
                <a:ea typeface="Consolas"/>
                <a:cs typeface="Consolas"/>
              </a:rPr>
              <a:t>computed</a:t>
            </a:r>
            <a:r>
              <a:rPr sz="1800" b="0"/>
              <a:t> có ngoặc (</a:t>
            </a:r>
            <a:r>
              <a:rPr sz="1800" b="0">
                <a:latin typeface="Consolas"/>
                <a:ea typeface="Consolas"/>
                <a:cs typeface="Consolas"/>
              </a:rPr>
              <a:t>{{ thanhTien() }}</a:t>
            </a:r>
            <a:r>
              <a:rPr sz="1800" b="0"/>
              <a:t>): lỗi, vì </a:t>
            </a:r>
            <a:r>
              <a:rPr sz="1800" b="0">
                <a:latin typeface="Consolas"/>
                <a:ea typeface="Consolas"/>
                <a:cs typeface="Consolas"/>
              </a:rPr>
              <a:t>computed</a:t>
            </a:r>
            <a:r>
              <a:rPr sz="1800" b="0"/>
              <a:t> dùng như biến.</a:t>
            </a:r>
          </a:p>
          <a:p>
            <a:pPr>
              <a:spcAft>
                <a:spcPts val="600"/>
              </a:spcAft>
            </a:pPr>
            <a:r>
              <a:rPr sz="1800" b="0"/>
              <a:t>Quên </a:t>
            </a:r>
            <a:r>
              <a:rPr sz="1800" b="0">
                <a:latin typeface="Consolas"/>
                <a:ea typeface="Consolas"/>
                <a:cs typeface="Consolas"/>
              </a:rPr>
              <a:t>this.</a:t>
            </a:r>
            <a:r>
              <a:rPr sz="1800" b="0"/>
              <a:t> khi truy cập dữ liệu trong </a:t>
            </a:r>
            <a:r>
              <a:rPr sz="1800" b="0">
                <a:latin typeface="Consolas"/>
                <a:ea typeface="Consolas"/>
                <a:cs typeface="Consolas"/>
              </a:rPr>
              <a:t>methods</a:t>
            </a:r>
            <a:r>
              <a:rPr sz="1800" b="0"/>
              <a:t>, </a:t>
            </a:r>
            <a:r>
              <a:rPr sz="1800" b="0">
                <a:latin typeface="Consolas"/>
                <a:ea typeface="Consolas"/>
                <a:cs typeface="Consolas"/>
              </a:rPr>
              <a:t>computed</a:t>
            </a:r>
            <a:r>
              <a:rPr sz="1800" b="0"/>
              <a:t>, </a:t>
            </a:r>
            <a:r>
              <a:rPr sz="1800" b="0">
                <a:latin typeface="Consolas"/>
                <a:ea typeface="Consolas"/>
                <a:cs typeface="Consolas"/>
              </a:rPr>
              <a:t>watch</a:t>
            </a:r>
            <a:r>
              <a:rPr sz="1800" b="0"/>
              <a:t>, </a:t>
            </a:r>
            <a:r>
              <a:rPr sz="1800" b="0">
                <a:latin typeface="Consolas"/>
                <a:ea typeface="Consolas"/>
                <a:cs typeface="Consolas"/>
              </a:rPr>
              <a:t>mounted</a:t>
            </a:r>
            <a:r>
              <a:rPr sz="1800" b="0"/>
              <a:t>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/>
              <a:t>2.2. Lưu ý: ứng dụng chưa có 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2000" b="0"/>
              <a:t>Toàn bộ dữ liệu của buổi này nằm trong </a:t>
            </a:r>
            <a:r>
              <a:rPr sz="2000" b="1"/>
              <a:t>bộ nhớ trình duyệt</a:t>
            </a:r>
            <a:r>
              <a:rPr sz="2000" b="0"/>
              <a:t>; tải lại trang là mất hết.</a:t>
            </a:r>
          </a:p>
          <a:p>
            <a:pPr>
              <a:spcAft>
                <a:spcPts val="600"/>
              </a:spcAft>
            </a:pPr>
            <a:r>
              <a:rPr sz="2000" b="0"/>
              <a:t>Buổi 7 sẽ giữ tạm bằng </a:t>
            </a:r>
            <a:r>
              <a:rPr sz="2000" b="0">
                <a:latin typeface="Consolas"/>
                <a:ea typeface="Consolas"/>
                <a:cs typeface="Consolas"/>
              </a:rPr>
              <a:t>localStorage</a:t>
            </a:r>
            <a:r>
              <a:rPr sz="2000" b="0"/>
              <a:t>; buổi 8 thay mảng cứng bằng dữ liệu thật từ </a:t>
            </a:r>
            <a:r>
              <a:rPr sz="2000" b="1"/>
              <a:t>API PHP</a:t>
            </a:r>
            <a:r>
              <a:rPr sz="2000" b="0"/>
              <a:t>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3. Thực hành tại lớp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1600" b="1"/>
              <a:t>Practice 1 — buoi6_practice1.html</a:t>
            </a:r>
            <a:r>
              <a:rPr sz="1600" b="0"/>
              <a:t> Máy tính BMI: nhập chiều cao (m) và cân nặng (kg) bằng </a:t>
            </a:r>
            <a:r>
              <a:rPr sz="1600" b="0">
                <a:latin typeface="Consolas"/>
                <a:ea typeface="Consolas"/>
                <a:cs typeface="Consolas"/>
              </a:rPr>
              <a:t>v-model</a:t>
            </a:r>
            <a:r>
              <a:rPr sz="1600" b="0"/>
              <a:t>. Dùng </a:t>
            </a:r>
            <a:r>
              <a:rPr sz="1600" b="0">
                <a:latin typeface="Consolas"/>
                <a:ea typeface="Consolas"/>
                <a:cs typeface="Consolas"/>
              </a:rPr>
              <a:t>computed</a:t>
            </a:r>
            <a:r>
              <a:rPr sz="1600" b="0"/>
              <a:t> tính BMI và xếp loại (Gầy &lt; 18.5, Bình thường 18.5–24.9, Thừa cân ≥ 25). Kết quả đổi màu theo xếp loại bằng </a:t>
            </a:r>
            <a:r>
              <a:rPr sz="1600" b="0">
                <a:latin typeface="Consolas"/>
                <a:ea typeface="Consolas"/>
                <a:cs typeface="Consolas"/>
              </a:rPr>
              <a:t>:style</a:t>
            </a:r>
            <a:r>
              <a:rPr sz="1600" b="0"/>
              <a:t>.</a:t>
            </a:r>
          </a:p>
          <a:p>
            <a:pPr>
              <a:spcAft>
                <a:spcPts val="800"/>
              </a:spcAft>
            </a:pPr>
            <a:r>
              <a:rPr sz="1600" b="1"/>
              <a:t>Practice 2 — buoi6_practice2.html</a:t>
            </a:r>
            <a:r>
              <a:rPr sz="1600" b="0"/>
              <a:t> Danh sách công việc (To-do): ô nhập + nút Thêm, danh sách có checkbox "đã xong", nút Xóa từng dòng, 3 nút lọc "Tất cả / Đang làm / Đã xong", dòng đã xong hiển thị gạch ngang. Hiện số việc còn lại.</a:t>
            </a:r>
          </a:p>
          <a:p>
            <a:pPr>
              <a:spcAft>
                <a:spcPts val="800"/>
              </a:spcAft>
            </a:pPr>
            <a:r>
              <a:rPr sz="1600" b="1"/>
              <a:t>Practice 3 — buoi6_practice3.html</a:t>
            </a:r>
            <a:r>
              <a:rPr sz="1600" b="0"/>
              <a:t> Giỏ hàng: bảng gồm tên, đơn giá, ô nhập số lượng (</a:t>
            </a:r>
            <a:r>
              <a:rPr sz="1600" b="0">
                <a:latin typeface="Consolas"/>
                <a:ea typeface="Consolas"/>
                <a:cs typeface="Consolas"/>
              </a:rPr>
              <a:t>v-model.number</a:t>
            </a:r>
            <a:r>
              <a:rPr sz="1600" b="0"/>
              <a:t>), thành tiền từng dòng, nút xóa, và tổng cộng ở cuối. Tổng tiền tự cập nhật khi đổi số lượng. Nếu giỏ trống thì hiện "Giỏ hàng trống".</a:t>
            </a:r>
          </a:p>
          <a:p>
            <a:pPr>
              <a:spcAft>
                <a:spcPts val="800"/>
              </a:spcAft>
            </a:pPr>
            <a:r>
              <a:rPr sz="1600" b="1"/>
              <a:t>Practice 4 — buoi6_practice4.html</a:t>
            </a:r>
            <a:r>
              <a:rPr sz="1600" b="0"/>
              <a:t> Quản lý sản phẩm, ghép mọi thứ đã học. Danh sách sản phẩm (tên, giá, danh mục) có: (a) ô tìm kiếm + </a:t>
            </a:r>
            <a:r>
              <a:rPr sz="1600" b="0">
                <a:latin typeface="Consolas"/>
                <a:ea typeface="Consolas"/>
                <a:cs typeface="Consolas"/>
              </a:rPr>
              <a:t>&lt;select&gt;</a:t>
            </a:r>
            <a:r>
              <a:rPr sz="1600" b="0"/>
              <a:t> lọc theo danh mục, dùng </a:t>
            </a:r>
            <a:r>
              <a:rPr sz="1600" b="0">
                <a:latin typeface="Consolas"/>
                <a:ea typeface="Consolas"/>
                <a:cs typeface="Consolas"/>
              </a:rPr>
              <a:t>computed</a:t>
            </a:r>
            <a:r>
              <a:rPr sz="1600" b="0"/>
              <a:t>; (b) form Thêm kiểm tra tên không rỗng và giá &gt; 0, lỗi hiện bằng </a:t>
            </a:r>
            <a:r>
              <a:rPr sz="1600" b="0">
                <a:latin typeface="Consolas"/>
                <a:ea typeface="Consolas"/>
                <a:cs typeface="Consolas"/>
              </a:rPr>
              <a:t>v-if</a:t>
            </a:r>
            <a:r>
              <a:rPr sz="1600" b="0"/>
              <a:t>; (c) nút Xóa từng dòng, có </a:t>
            </a:r>
            <a:r>
              <a:rPr sz="1600" b="0">
                <a:latin typeface="Consolas"/>
                <a:ea typeface="Consolas"/>
                <a:cs typeface="Consolas"/>
              </a:rPr>
              <a:t>confirm()</a:t>
            </a:r>
            <a:r>
              <a:rPr sz="1600" b="0"/>
              <a:t>; (d) dòng "Hiển thị X / Y sản phẩm — Tổng giá trị Z", dùng </a:t>
            </a:r>
            <a:r>
              <a:rPr sz="1600" b="0">
                <a:latin typeface="Consolas"/>
                <a:ea typeface="Consolas"/>
                <a:cs typeface="Consolas"/>
              </a:rPr>
              <a:t>computed</a:t>
            </a:r>
            <a:r>
              <a:rPr sz="1600" b="0"/>
              <a:t>; (e) </a:t>
            </a:r>
            <a:r>
              <a:rPr sz="1600" b="0">
                <a:latin typeface="Consolas"/>
                <a:ea typeface="Consolas"/>
                <a:cs typeface="Consolas"/>
              </a:rPr>
              <a:t>mounted</a:t>
            </a:r>
            <a:r>
              <a:rPr sz="1600" b="0"/>
              <a:t> đặt trạng thái "Sẵn sàng", </a:t>
            </a:r>
            <a:r>
              <a:rPr sz="1600" b="0">
                <a:latin typeface="Consolas"/>
                <a:ea typeface="Consolas"/>
                <a:cs typeface="Consolas"/>
              </a:rPr>
              <a:t>watch</a:t>
            </a:r>
            <a:r>
              <a:rPr sz="1600" b="0"/>
              <a:t> cảnh báo khi từ khóa ngắn hơn 2 ký tự.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4. Bài tập về nhà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600" b="0"/>
              <a:t>Hoàn thiện 4 practice trên.</a:t>
            </a:r>
          </a:p>
          <a:p>
            <a:pPr>
              <a:spcAft>
                <a:spcPts val="600"/>
              </a:spcAft>
            </a:pPr>
            <a:r>
              <a:rPr sz="1600" b="0"/>
              <a:t>Viết lại giao diện danh sách sản phẩm của dự án bằng Vue (dữ liệu tạm để cứng trong </a:t>
            </a:r>
            <a:r>
              <a:rPr sz="1600" b="0">
                <a:latin typeface="Consolas"/>
                <a:ea typeface="Consolas"/>
                <a:cs typeface="Consolas"/>
              </a:rPr>
              <a:t>data()</a:t>
            </a:r>
            <a:r>
              <a:rPr sz="1600" b="0"/>
              <a:t>),</a:t>
            </a:r>
            <a:r>
              <a:rPr sz="1600" b="0"/>
              <a:t> </a:t>
            </a:r>
            <a:r>
              <a:rPr sz="1600" b="0"/>
              <a:t>có tìm kiếm theo tên, lọc theo danh mục, sắp xếp theo giá tăng/giảm và nhãn "Còn hàng / Hết hàng"</a:t>
            </a:r>
            <a:r>
              <a:rPr sz="1600" b="0"/>
              <a:t> </a:t>
            </a:r>
            <a:r>
              <a:rPr sz="1600" b="0"/>
              <a:t>bằng </a:t>
            </a:r>
            <a:r>
              <a:rPr sz="1600" b="0">
                <a:latin typeface="Consolas"/>
                <a:ea typeface="Consolas"/>
                <a:cs typeface="Consolas"/>
              </a:rPr>
              <a:t>v-bind:class</a:t>
            </a:r>
            <a:r>
              <a:rPr sz="1600" b="0"/>
              <a:t>.</a:t>
            </a:r>
          </a:p>
          <a:p>
            <a:pPr>
              <a:spcAft>
                <a:spcPts val="600"/>
              </a:spcAft>
            </a:pPr>
            <a:r>
              <a:rPr sz="1600" b="0"/>
              <a:t>Với mỗi bài trong Practice 1–3, ghi ra mỗi thành phần dùng </a:t>
            </a:r>
            <a:r>
              <a:rPr sz="1600" b="0">
                <a:latin typeface="Consolas"/>
                <a:ea typeface="Consolas"/>
                <a:cs typeface="Consolas"/>
              </a:rPr>
              <a:t>methods</a:t>
            </a:r>
            <a:r>
              <a:rPr sz="1600" b="0"/>
              <a:t>, </a:t>
            </a:r>
            <a:r>
              <a:rPr sz="1600" b="0">
                <a:latin typeface="Consolas"/>
                <a:ea typeface="Consolas"/>
                <a:cs typeface="Consolas"/>
              </a:rPr>
              <a:t>computed</a:t>
            </a:r>
            <a:r>
              <a:rPr sz="1600" b="0"/>
              <a:t>, </a:t>
            </a:r>
            <a:r>
              <a:rPr sz="1600" b="0">
                <a:latin typeface="Consolas"/>
                <a:ea typeface="Consolas"/>
                <a:cs typeface="Consolas"/>
              </a:rPr>
              <a:t>watch</a:t>
            </a:r>
            <a:r>
              <a:rPr sz="1600" b="0"/>
              <a:t> hay</a:t>
            </a:r>
            <a:r>
              <a:rPr sz="1600" b="0"/>
              <a:t> </a:t>
            </a:r>
            <a:r>
              <a:rPr sz="1600" b="0">
                <a:latin typeface="Consolas"/>
                <a:ea typeface="Consolas"/>
                <a:cs typeface="Consolas"/>
              </a:rPr>
              <a:t>mounted</a:t>
            </a:r>
            <a:r>
              <a:rPr sz="1600" b="0"/>
              <a:t>, và giải thích vì sao chọn đúng loại đó.</a:t>
            </a:r>
          </a:p>
          <a:p>
            <a:pPr>
              <a:spcAft>
                <a:spcPts val="600"/>
              </a:spcAft>
            </a:pPr>
            <a:r>
              <a:rPr sz="1600" b="0"/>
              <a:t>Viết lại một practice bằng HTML + JS thuần (không Vue) rồi so sánh số dòng code.</a:t>
            </a:r>
          </a:p>
          <a:p>
            <a:pPr>
              <a:spcAft>
                <a:spcPts val="600"/>
              </a:spcAft>
            </a:pPr>
            <a:r>
              <a:rPr sz="1600" b="0"/>
              <a:t>Đọc trước về </a:t>
            </a:r>
            <a:r>
              <a:rPr sz="1600" b="1"/>
              <a:t>component trong Vue</a:t>
            </a:r>
            <a:r>
              <a:rPr sz="1600" b="0"/>
              <a:t> — buổi 7 sẽ tách toàn bộ màn hình này thành</a:t>
            </a:r>
            <a:r>
              <a:rPr sz="1600" b="0"/>
              <a:t> </a:t>
            </a:r>
            <a:r>
              <a:rPr sz="1600" b="0"/>
              <a:t>các component nhỏ: https://vuejs.org/guide/essentials/component-basics.html</a:t>
            </a:r>
          </a:p>
          <a:p>
            <a:pPr>
              <a:spcAft>
                <a:spcPts val="600"/>
              </a:spcAft>
            </a:pPr>
            <a:r>
              <a:rPr sz="1600" b="0"/>
              <a:t>Ghi ra giấy: màn hình bạn vừa làm có thể chia thành mấy mảnh dùng lại được?</a:t>
            </a:r>
            <a:r>
              <a:rPr sz="1600" b="0"/>
              <a:t> </a:t>
            </a:r>
            <a:r>
              <a:rPr sz="1600" b="0"/>
              <a:t>Buổi 7 sẽ đối chiếu với cách chia của lớp.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5. Checklist cuối buổi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400" b="0"/>
              <a:t>[ ] Tạo được app Vue chỉ với thẻ </a:t>
            </a:r>
            <a:r>
              <a:rPr sz="1400" b="0">
                <a:latin typeface="Consolas"/>
                <a:ea typeface="Consolas"/>
                <a:cs typeface="Consolas"/>
              </a:rPr>
              <a:t>&lt;script&gt;</a:t>
            </a:r>
            <a:r>
              <a:rPr sz="1400" b="0"/>
              <a:t> CDN.</a:t>
            </a:r>
          </a:p>
          <a:p>
            <a:pPr>
              <a:spcAft>
                <a:spcPts val="600"/>
              </a:spcAft>
            </a:pPr>
            <a:r>
              <a:rPr sz="1400" b="0"/>
              <a:t>[ ] Dùng đúng </a:t>
            </a:r>
            <a:r>
              <a:rPr sz="1400" b="0">
                <a:latin typeface="Consolas"/>
                <a:ea typeface="Consolas"/>
                <a:cs typeface="Consolas"/>
              </a:rPr>
              <a:t>{{ }}</a:t>
            </a:r>
            <a:r>
              <a:rPr sz="1400" b="0"/>
              <a:t> cho nội dung và </a:t>
            </a:r>
            <a:r>
              <a:rPr sz="1400" b="0">
                <a:latin typeface="Consolas"/>
                <a:ea typeface="Consolas"/>
                <a:cs typeface="Consolas"/>
              </a:rPr>
              <a:t>v-bind</a:t>
            </a:r>
            <a:r>
              <a:rPr sz="1400" b="0"/>
              <a:t> (hay </a:t>
            </a:r>
            <a:r>
              <a:rPr sz="1400" b="0">
                <a:latin typeface="Consolas"/>
                <a:ea typeface="Consolas"/>
                <a:cs typeface="Consolas"/>
              </a:rPr>
              <a:t>:</a:t>
            </a:r>
            <a:r>
              <a:rPr sz="1400" b="0"/>
              <a:t>) cho thuộc tính; biết vì sao không dùng </a:t>
            </a:r>
            <a:r>
              <a:rPr sz="1400" b="0">
                <a:latin typeface="Consolas"/>
                <a:ea typeface="Consolas"/>
                <a:cs typeface="Consolas"/>
              </a:rPr>
              <a:t>v-html</a:t>
            </a:r>
            <a:r>
              <a:rPr sz="1400" b="0"/>
              <a:t> với dữ liệu người dùng.</a:t>
            </a:r>
          </a:p>
          <a:p>
            <a:pPr>
              <a:spcAft>
                <a:spcPts val="600"/>
              </a:spcAft>
            </a:pPr>
            <a:r>
              <a:rPr sz="1400" b="0"/>
              <a:t>[ ] Viết được </a:t>
            </a:r>
            <a:r>
              <a:rPr sz="1400" b="0">
                <a:latin typeface="Consolas"/>
                <a:ea typeface="Consolas"/>
                <a:cs typeface="Consolas"/>
              </a:rPr>
              <a:t>v-for</a:t>
            </a:r>
            <a:r>
              <a:rPr sz="1400" b="0"/>
              <a:t> có </a:t>
            </a:r>
            <a:r>
              <a:rPr sz="1400" b="0">
                <a:latin typeface="Consolas"/>
                <a:ea typeface="Consolas"/>
                <a:cs typeface="Consolas"/>
              </a:rPr>
              <a:t>:key</a:t>
            </a:r>
            <a:r>
              <a:rPr sz="1400" b="0"/>
              <a:t> và </a:t>
            </a:r>
            <a:r>
              <a:rPr sz="1400" b="0">
                <a:latin typeface="Consolas"/>
                <a:ea typeface="Consolas"/>
                <a:cs typeface="Consolas"/>
              </a:rPr>
              <a:t>v-if/v-else</a:t>
            </a:r>
            <a:r>
              <a:rPr sz="1400" b="0"/>
              <a:t>; biết khác nhau giữa </a:t>
            </a:r>
            <a:r>
              <a:rPr sz="1400" b="0">
                <a:latin typeface="Consolas"/>
                <a:ea typeface="Consolas"/>
                <a:cs typeface="Consolas"/>
              </a:rPr>
              <a:t>v-if</a:t>
            </a:r>
            <a:r>
              <a:rPr sz="1400" b="0"/>
              <a:t> và </a:t>
            </a:r>
            <a:r>
              <a:rPr sz="1400" b="0">
                <a:latin typeface="Consolas"/>
                <a:ea typeface="Consolas"/>
                <a:cs typeface="Consolas"/>
              </a:rPr>
              <a:t>v-show</a:t>
            </a:r>
            <a:r>
              <a:rPr sz="1400" b="0"/>
              <a:t>.</a:t>
            </a:r>
          </a:p>
          <a:p>
            <a:pPr>
              <a:spcAft>
                <a:spcPts val="600"/>
              </a:spcAft>
            </a:pPr>
            <a:r>
              <a:rPr sz="1400" b="0"/>
              <a:t>[ ] Dùng được </a:t>
            </a:r>
            <a:r>
              <a:rPr sz="1400" b="0">
                <a:latin typeface="Consolas"/>
                <a:ea typeface="Consolas"/>
                <a:cs typeface="Consolas"/>
              </a:rPr>
              <a:t>v-on</a:t>
            </a:r>
            <a:r>
              <a:rPr sz="1400" b="0"/>
              <a:t> với modifier </a:t>
            </a:r>
            <a:r>
              <a:rPr sz="1400" b="0">
                <a:latin typeface="Consolas"/>
                <a:ea typeface="Consolas"/>
                <a:cs typeface="Consolas"/>
              </a:rPr>
              <a:t>.prevent</a:t>
            </a:r>
            <a:r>
              <a:rPr sz="1400" b="0"/>
              <a:t>, </a:t>
            </a:r>
            <a:r>
              <a:rPr sz="1400" b="0">
                <a:latin typeface="Consolas"/>
                <a:ea typeface="Consolas"/>
                <a:cs typeface="Consolas"/>
              </a:rPr>
              <a:t>.stop</a:t>
            </a:r>
            <a:r>
              <a:rPr sz="1400" b="0"/>
              <a:t>, </a:t>
            </a:r>
            <a:r>
              <a:rPr sz="1400" b="0">
                <a:latin typeface="Consolas"/>
                <a:ea typeface="Consolas"/>
                <a:cs typeface="Consolas"/>
              </a:rPr>
              <a:t>.enter</a:t>
            </a:r>
            <a:r>
              <a:rPr sz="1400" b="0"/>
              <a:t>, </a:t>
            </a:r>
            <a:r>
              <a:rPr sz="1400" b="0">
                <a:latin typeface="Consolas"/>
                <a:ea typeface="Consolas"/>
                <a:cs typeface="Consolas"/>
              </a:rPr>
              <a:t>.once</a:t>
            </a:r>
            <a:r>
              <a:rPr sz="1400" b="0"/>
              <a:t>.</a:t>
            </a:r>
          </a:p>
          <a:p>
            <a:pPr>
              <a:spcAft>
                <a:spcPts val="600"/>
              </a:spcAft>
            </a:pPr>
            <a:r>
              <a:rPr sz="1400" b="0"/>
              <a:t>[ ] Hiểu two-way binding của </a:t>
            </a:r>
            <a:r>
              <a:rPr sz="1400" b="0">
                <a:latin typeface="Consolas"/>
                <a:ea typeface="Consolas"/>
                <a:cs typeface="Consolas"/>
              </a:rPr>
              <a:t>v-model</a:t>
            </a:r>
            <a:r>
              <a:rPr sz="1400" b="0"/>
              <a:t> và các modifier </a:t>
            </a:r>
            <a:r>
              <a:rPr sz="1400" b="0">
                <a:latin typeface="Consolas"/>
                <a:ea typeface="Consolas"/>
                <a:cs typeface="Consolas"/>
              </a:rPr>
              <a:t>.number</a:t>
            </a:r>
            <a:r>
              <a:rPr sz="1400" b="0"/>
              <a:t>, </a:t>
            </a:r>
            <a:r>
              <a:rPr sz="1400" b="0">
                <a:latin typeface="Consolas"/>
                <a:ea typeface="Consolas"/>
                <a:cs typeface="Consolas"/>
              </a:rPr>
              <a:t>.trim</a:t>
            </a:r>
            <a:r>
              <a:rPr sz="1400" b="0"/>
              <a:t>, </a:t>
            </a:r>
            <a:r>
              <a:rPr sz="1400" b="0">
                <a:latin typeface="Consolas"/>
                <a:ea typeface="Consolas"/>
                <a:cs typeface="Consolas"/>
              </a:rPr>
              <a:t>.lazy</a:t>
            </a:r>
            <a:r>
              <a:rPr sz="1400" b="0"/>
              <a:t>.</a:t>
            </a:r>
          </a:p>
          <a:p>
            <a:pPr>
              <a:spcAft>
                <a:spcPts val="600"/>
              </a:spcAft>
            </a:pPr>
            <a:r>
              <a:rPr sz="1400" b="0"/>
              <a:t>[ ] Phân biệt </a:t>
            </a:r>
            <a:r>
              <a:rPr sz="1400" b="0">
                <a:latin typeface="Consolas"/>
                <a:ea typeface="Consolas"/>
                <a:cs typeface="Consolas"/>
              </a:rPr>
              <a:t>methods</a:t>
            </a:r>
            <a:r>
              <a:rPr sz="1400" b="0"/>
              <a:t>, </a:t>
            </a:r>
            <a:r>
              <a:rPr sz="1400" b="0">
                <a:latin typeface="Consolas"/>
                <a:ea typeface="Consolas"/>
                <a:cs typeface="Consolas"/>
              </a:rPr>
              <a:t>computed</a:t>
            </a:r>
            <a:r>
              <a:rPr sz="1400" b="0"/>
              <a:t>, </a:t>
            </a:r>
            <a:r>
              <a:rPr sz="1400" b="0">
                <a:latin typeface="Consolas"/>
                <a:ea typeface="Consolas"/>
                <a:cs typeface="Consolas"/>
              </a:rPr>
              <a:t>watch</a:t>
            </a:r>
            <a:r>
              <a:rPr sz="1400" b="0"/>
              <a:t>, </a:t>
            </a:r>
            <a:r>
              <a:rPr sz="1400" b="0">
                <a:latin typeface="Consolas"/>
                <a:ea typeface="Consolas"/>
                <a:cs typeface="Consolas"/>
              </a:rPr>
              <a:t>mounted</a:t>
            </a:r>
            <a:r>
              <a:rPr sz="1400" b="0"/>
              <a:t> theo </a:t>
            </a:r>
            <a:r>
              <a:rPr sz="1400" b="1"/>
              <a:t>thời điểm chạy</a:t>
            </a:r>
            <a:r>
              <a:rPr sz="1400" b="0"/>
              <a:t>.</a:t>
            </a:r>
          </a:p>
          <a:p>
            <a:pPr>
              <a:spcAft>
                <a:spcPts val="600"/>
              </a:spcAft>
            </a:pPr>
            <a:r>
              <a:rPr sz="1400" b="0"/>
              <a:t>[ ] Với một tình huống cho trước, chọn đúng một trong bốn loại và giải thích được lý do.</a:t>
            </a:r>
          </a:p>
          <a:p>
            <a:pPr>
              <a:spcAft>
                <a:spcPts val="600"/>
              </a:spcAft>
            </a:pPr>
            <a:r>
              <a:rPr sz="1400" b="0"/>
              <a:t>[ ] Biết </a:t>
            </a:r>
            <a:r>
              <a:rPr sz="1400" b="0">
                <a:latin typeface="Consolas"/>
                <a:ea typeface="Consolas"/>
                <a:cs typeface="Consolas"/>
              </a:rPr>
              <a:t>mounted</a:t>
            </a:r>
            <a:r>
              <a:rPr sz="1400" b="0"/>
              <a:t> chạy lúc nào và vì sao buổi 8 gọi API ở đó.</a:t>
            </a:r>
          </a:p>
          <a:p>
            <a:pPr>
              <a:spcAft>
                <a:spcPts val="600"/>
              </a:spcAft>
            </a:pPr>
            <a:r>
              <a:rPr sz="1400" b="0"/>
              <a:t>[ ] Hiểu vì sao dữ liệu mất khi tải lại trang → nhu cầu có API và CSDL.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6. Tham khảo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2000" b="0"/>
              <a:t>Vue cho người mới: https://www.w3schools.com/vue/</a:t>
            </a:r>
          </a:p>
          <a:p>
            <a:pPr>
              <a:spcAft>
                <a:spcPts val="600"/>
              </a:spcAft>
            </a:pPr>
            <a:r>
              <a:rPr sz="2000" b="0"/>
              <a:t>Tài liệu chính thức Vue 3: https://vuejs.org/guide/introduction.html</a:t>
            </a:r>
          </a:p>
          <a:p>
            <a:pPr>
              <a:spcAft>
                <a:spcPts val="600"/>
              </a:spcAft>
            </a:pPr>
            <a:r>
              <a:rPr sz="2000" b="0"/>
              <a:t>Danh sách directive: https://vuejs.org/api/built-in-directives.html</a:t>
            </a: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6880</TotalTime>
  <Words>328</Words>
  <Application>Microsoft Office PowerPoint</Application>
  <PresentationFormat>画面に合わせる (4:3)</PresentationFormat>
  <Paragraphs>57</Paragraphs>
  <Slides>19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</vt:lpstr>
      <vt:lpstr>Courier New</vt:lpstr>
      <vt:lpstr>Adjacency</vt:lpstr>
      <vt:lpstr>Khóa đào tạo Lập trình Web sử dụng PHP</vt:lpstr>
      <vt:lpstr>PowerPoint プレゼンテーション</vt:lpstr>
      <vt:lpstr>1. Form</vt:lpstr>
      <vt:lpstr>Các loại HTML input cơ bản</vt:lpstr>
      <vt:lpstr>Demo</vt:lpstr>
      <vt:lpstr>2. Truyền biến</vt:lpstr>
      <vt:lpstr>demo11.html – Page A - GET</vt:lpstr>
      <vt:lpstr>demo 11d.php - GET</vt:lpstr>
      <vt:lpstr>demo11.html – Page A - POST</vt:lpstr>
      <vt:lpstr>demo11.php – Page B - POST</vt:lpstr>
      <vt:lpstr>Self-handling</vt:lpstr>
      <vt:lpstr>Output</vt:lpstr>
      <vt:lpstr>Output</vt:lpstr>
      <vt:lpstr>Demo 3 – Dung Hidden</vt:lpstr>
      <vt:lpstr>Demo 3 – Page A</vt:lpstr>
      <vt:lpstr>Demo 3 – Page B</vt:lpstr>
      <vt:lpstr>Demo 3 – Page C - POST</vt:lpstr>
      <vt:lpstr>Practice 1</vt:lpstr>
      <vt:lpstr>Practice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Khóa đào tạo lập trình web sử dụng php</dc:title>
  <dc:creator>ngoctb</dc:creator>
  <cp:lastModifiedBy>Chu Van Quy</cp:lastModifiedBy>
  <cp:revision>2090</cp:revision>
  <dcterms:created xsi:type="dcterms:W3CDTF">2014-12-22T07:12:12Z</dcterms:created>
  <dcterms:modified xsi:type="dcterms:W3CDTF">2025-09-30T00:54:03Z</dcterms:modified>
</cp:coreProperties>
</file>